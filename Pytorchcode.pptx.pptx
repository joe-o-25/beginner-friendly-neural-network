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x="18288000" cy="10287000"/>
  <p:notesSz cx="6858000" cy="9144000"/>
  <p:embeddedFontLst>
    <p:embeddedFont>
      <p:font typeface="Pixellet TH" charset="1" panose="02000503000000000000"/>
      <p:regular r:id="rId35"/>
    </p:embeddedFont>
    <p:embeddedFont>
      <p:font typeface="Bitter" charset="1" panose="02000000000000000000"/>
      <p:regular r:id="rId36"/>
    </p:embeddedFont>
    <p:embeddedFont>
      <p:font typeface="Bitter Bold" charset="1" panose="02000000000000000000"/>
      <p:regular r:id="rId37"/>
    </p:embeddedFont>
    <p:embeddedFont>
      <p:font typeface="Canva Sans Bold" charset="1" panose="020B0803030501040103"/>
      <p:regular r:id="rId38"/>
    </p:embeddedFont>
    <p:embeddedFont>
      <p:font typeface="Canva Sans" charset="1" panose="020B0503030501040103"/>
      <p:regular r:id="rId5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notesMasters/notesMaster1.xml" Type="http://schemas.openxmlformats.org/officeDocument/2006/relationships/notesMaster"/><Relationship Id="rId4" Target="theme/theme1.xml" Type="http://schemas.openxmlformats.org/officeDocument/2006/relationships/theme"/><Relationship Id="rId40" Target="theme/theme2.xml" Type="http://schemas.openxmlformats.org/officeDocument/2006/relationships/theme"/><Relationship Id="rId41" Target="notesSlides/notesSlide1.xml" Type="http://schemas.openxmlformats.org/officeDocument/2006/relationships/notesSlide"/><Relationship Id="rId42" Target="notesSlides/notesSlide2.xml" Type="http://schemas.openxmlformats.org/officeDocument/2006/relationships/notesSlide"/><Relationship Id="rId43" Target="notesSlides/notesSlide3.xml" Type="http://schemas.openxmlformats.org/officeDocument/2006/relationships/notesSlide"/><Relationship Id="rId44" Target="notesSlides/notesSlide4.xml" Type="http://schemas.openxmlformats.org/officeDocument/2006/relationships/notesSlide"/><Relationship Id="rId45" Target="notesSlides/notesSlide5.xml" Type="http://schemas.openxmlformats.org/officeDocument/2006/relationships/notesSlide"/><Relationship Id="rId46" Target="notesSlides/notesSlide6.xml" Type="http://schemas.openxmlformats.org/officeDocument/2006/relationships/notesSlide"/><Relationship Id="rId47" Target="notesSlides/notesSlide7.xml" Type="http://schemas.openxmlformats.org/officeDocument/2006/relationships/notesSlide"/><Relationship Id="rId48" Target="notesSlides/notesSlide8.xml" Type="http://schemas.openxmlformats.org/officeDocument/2006/relationships/notesSlide"/><Relationship Id="rId49" Target="notesSlides/notesSlide9.xml" Type="http://schemas.openxmlformats.org/officeDocument/2006/relationships/notesSlide"/><Relationship Id="rId5" Target="tableStyles.xml" Type="http://schemas.openxmlformats.org/officeDocument/2006/relationships/tableStyles"/><Relationship Id="rId50" Target="fonts/font50.fntdata" Type="http://schemas.openxmlformats.org/officeDocument/2006/relationships/font"/><Relationship Id="rId51" Target="notesSlides/notesSlide10.xml" Type="http://schemas.openxmlformats.org/officeDocument/2006/relationships/notesSlide"/><Relationship Id="rId52" Target="notesSlides/notesSlide11.xml" Type="http://schemas.openxmlformats.org/officeDocument/2006/relationships/notesSlide"/><Relationship Id="rId53" Target="notesSlides/notesSlide12.xml" Type="http://schemas.openxmlformats.org/officeDocument/2006/relationships/notesSlide"/><Relationship Id="rId54" Target="notesSlides/notesSlide13.xml" Type="http://schemas.openxmlformats.org/officeDocument/2006/relationships/notesSlide"/><Relationship Id="rId55" Target="notesSlides/notesSlide14.xml" Type="http://schemas.openxmlformats.org/officeDocument/2006/relationships/notesSlide"/><Relationship Id="rId56" Target="notesSlides/notesSlide15.xml" Type="http://schemas.openxmlformats.org/officeDocument/2006/relationships/notesSlide"/><Relationship Id="rId57" Target="notesSlides/notesSlide16.xml" Type="http://schemas.openxmlformats.org/officeDocument/2006/relationships/notesSlide"/><Relationship Id="rId58" Target="notesSlides/notesSlide17.xml" Type="http://schemas.openxmlformats.org/officeDocument/2006/relationships/notesSlide"/><Relationship Id="rId59" Target="notesSlides/notesSlide18.xml" Type="http://schemas.openxmlformats.org/officeDocument/2006/relationships/notesSlide"/><Relationship Id="rId6" Target="slides/slide1.xml" Type="http://schemas.openxmlformats.org/officeDocument/2006/relationships/slide"/><Relationship Id="rId60" Target="notesSlides/notesSlide19.xml" Type="http://schemas.openxmlformats.org/officeDocument/2006/relationships/note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notes: number and categorical columns are separate because the catagorical columns need to be embedded, or changed into numbers so it can be used in the model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notes: number and categorical columns are separate because the catagorical columns need to be embedded, or changed into numbers so it can be used in the model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notes: So our program takes in all this information, multiplies the weights and adds the bias, and gets some sort of output.  Because it does this randomly for the first itteration this output is horrible. This is where epochs come in.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Essentially the relu allows the program to understand complex relation ships, telling the program that positive values matter, and negative values don't, turning them to zeros, essentially turning them "off"</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Linear puts the data together</a:t>
            </a:r>
          </a:p>
          <a:p>
            <a:r>
              <a:rPr lang="en-US"/>
              <a:t/>
            </a:r>
          </a:p>
          <a:p>
            <a:r>
              <a:rPr lang="en-US"/>
              <a:t>batch norm normalizes it to zero</a:t>
            </a:r>
          </a:p>
          <a:p>
            <a:r>
              <a:rPr lang="en-US"/>
              <a:t/>
            </a:r>
          </a:p>
          <a:p>
            <a:r>
              <a:rPr lang="en-US"/>
              <a:t>Essentially the relu allows the program to understand complex relation ships, telling the program that positive values matter, and negative values don't, turning them to zeros, essentially turning them "off"</a:t>
            </a:r>
          </a:p>
          <a:p>
            <a:r>
              <a:rPr lang="en-US"/>
              <a:t/>
            </a:r>
          </a:p>
          <a:p>
            <a:r>
              <a:rPr lang="en-US"/>
              <a:t>Dropout prevents overfitting</a:t>
            </a:r>
          </a:p>
          <a:p>
            <a:r>
              <a:rPr lang="en-US"/>
              <a:t/>
            </a:r>
          </a:p>
          <a:p>
            <a:r>
              <a:rPr lang="en-US"/>
              <a:t>Each one of these code block equates to one of the layers in the neural network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Linear puts the data together</a:t>
            </a:r>
          </a:p>
          <a:p>
            <a:r>
              <a:rPr lang="en-US"/>
              <a:t/>
            </a:r>
          </a:p>
          <a:p>
            <a:r>
              <a:rPr lang="en-US"/>
              <a:t>batch norm normalizes it to zero</a:t>
            </a:r>
          </a:p>
          <a:p>
            <a:r>
              <a:rPr lang="en-US"/>
              <a:t/>
            </a:r>
          </a:p>
          <a:p>
            <a:r>
              <a:rPr lang="en-US"/>
              <a:t>Essentially the relu allows the program to understand complex relation ships, telling the program that positive values matter, and negative values don't, turning them to zeros, essentially turning them "off"</a:t>
            </a:r>
          </a:p>
          <a:p>
            <a:r>
              <a:rPr lang="en-US"/>
              <a:t/>
            </a:r>
          </a:p>
          <a:p>
            <a:r>
              <a:rPr lang="en-US"/>
              <a:t>Dropout prevents overfitting</a:t>
            </a:r>
          </a:p>
          <a:p>
            <a:r>
              <a:rPr lang="en-US"/>
              <a:t/>
            </a:r>
          </a:p>
          <a:p>
            <a:r>
              <a:rPr lang="en-US"/>
              <a:t>Each one of these code block equates to one of the layers in the neural network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Linear puts the data together</a:t>
            </a:r>
          </a:p>
          <a:p>
            <a:r>
              <a:rPr lang="en-US"/>
              <a:t/>
            </a:r>
          </a:p>
          <a:p>
            <a:r>
              <a:rPr lang="en-US"/>
              <a:t>batch norm normalizes it to zero</a:t>
            </a:r>
          </a:p>
          <a:p>
            <a:r>
              <a:rPr lang="en-US"/>
              <a:t/>
            </a:r>
          </a:p>
          <a:p>
            <a:r>
              <a:rPr lang="en-US"/>
              <a:t>Essentially the relu allows the program to understand complex relation ships, telling the program that positive values matter, and negative values don't, turning them to zeros, essentially turning them "off"</a:t>
            </a:r>
          </a:p>
          <a:p>
            <a:r>
              <a:rPr lang="en-US"/>
              <a:t/>
            </a:r>
          </a:p>
          <a:p>
            <a:r>
              <a:rPr lang="en-US"/>
              <a:t>Dropout prevents overfitting</a:t>
            </a:r>
          </a:p>
          <a:p>
            <a:r>
              <a:rPr lang="en-US"/>
              <a:t/>
            </a:r>
          </a:p>
          <a:p>
            <a:r>
              <a:rPr lang="en-US"/>
              <a:t>Each one of these code block equates to one of the layers in the neural network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notes: So our program takes in all this information, multiplies the weights and adds the bias, and gets some sort of output.  Because it does this randomly for the first itteration this output is horrible. This is where epochs come in.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notes: number and categorical columns are separate because the catagorical columns need to be embedded, or changed into numbers so it can be used in the model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notes: number and categorical columns are separate because the catagorical columns need to be embedded, or changed into numbers so it can be used in the model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notes: number and categorical columns are separate because the catagorical columns need to be embedded, or changed into numbers so it can be used in the model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notes: number and categorical columns are separate because the catagorical columns need to be embedded, or changed into numbers so it can be used in the model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notes: number and categorical columns are separate because the catagorical columns need to be embedded, or changed into numbers so it can be used in the model</a:t>
            </a:r>
          </a:p>
          <a:p>
            <a:r>
              <a:rPr lang="en-US"/>
              <a:t/>
            </a:r>
          </a:p>
          <a:p>
            <a:r>
              <a:rPr lang="en-US"/>
              <a:t>optimizer essentially tells the program how much it needs to move and in what direction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notes: </a:t>
            </a:r>
          </a:p>
          <a:p>
            <a:r>
              <a:rPr lang="en-US"/>
              <a:t/>
            </a:r>
          </a:p>
          <a:p>
            <a:r>
              <a:rPr lang="en-US"/>
              <a:t>This line performs backpropagation, calculating the gradients of the loss with respect to the model's parameters. These gradients indicate how each parameter should be adjusted to reduce the loss.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notes: </a:t>
            </a:r>
          </a:p>
          <a:p>
            <a:r>
              <a:rPr lang="en-US"/>
              <a:t/>
            </a:r>
          </a:p>
          <a:p>
            <a:r>
              <a:rPr lang="en-US"/>
              <a:t>This line performs backpropagation, calculating the gradients of the loss with respect to the model's parameters. These gradients indicate how each parameter should be adjusted to reduce the loss.</a:t>
            </a:r>
          </a:p>
          <a:p>
            <a:r>
              <a:rPr lang="en-US"/>
              <a:t/>
            </a:r>
          </a:p>
          <a:p>
            <a:r>
              <a:rPr lang="en-US"/>
              <a:t>Hey this is what you need to change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notes: number and categorical columns are separate because the catagorical columns need to be embedded, or changed into numbers so it can be used in the model</a:t>
            </a:r>
          </a:p>
          <a:p>
            <a:r>
              <a:rPr lang="en-US"/>
              <a:t/>
            </a:r>
          </a:p>
          <a:p>
            <a:r>
              <a:rPr lang="en-US"/>
              <a:t>optimizer essentially tells the program how much it needs to move and in what direction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notes: number and categorical columns are separate because the catagorical columns need to be embedded, or changed into numbers so it can be used in the model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notes: get rid og handicaps, or the dropoff and bn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notes: “During training we deliberately add chaos—Batch Norm keeps re-balancing the signal and Dropout hides random neurons. When we test the model, we remove that chaos. The ‘real’ RMSE you care about is measured with everything stable and everyone singing, just like the model will behave in production.”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8.png" Type="http://schemas.openxmlformats.org/officeDocument/2006/relationships/image"/><Relationship Id="rId7" Target="../media/image1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11" Target="../media/image29.svg" Type="http://schemas.openxmlformats.org/officeDocument/2006/relationships/image"/><Relationship Id="rId2" Target="../media/image20.png" Type="http://schemas.openxmlformats.org/officeDocument/2006/relationships/image"/><Relationship Id="rId3" Target="../media/image21.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 Id="rId8" Target="../media/image26.png" Type="http://schemas.openxmlformats.org/officeDocument/2006/relationships/image"/><Relationship Id="rId9" Target="../media/image2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37.sv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32.png" Type="http://schemas.openxmlformats.org/officeDocument/2006/relationships/image"/><Relationship Id="rId4" Target="../media/image3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32.png" Type="http://schemas.openxmlformats.org/officeDocument/2006/relationships/image"/><Relationship Id="rId4" Target="../media/image3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4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4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4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41.png" Type="http://schemas.openxmlformats.org/officeDocument/2006/relationships/image"/><Relationship Id="rId4" Target="../media/image4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4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4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40.png" Type="http://schemas.openxmlformats.org/officeDocument/2006/relationships/image"/><Relationship Id="rId4" Target="../media/image4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40.png" Type="http://schemas.openxmlformats.org/officeDocument/2006/relationships/image"/><Relationship Id="rId4" Target="../media/image4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40.png" Type="http://schemas.openxmlformats.org/officeDocument/2006/relationships/image"/><Relationship Id="rId4" Target="../media/image4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40.png" Type="http://schemas.openxmlformats.org/officeDocument/2006/relationships/image"/><Relationship Id="rId4" Target="../media/image44.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40.png" Type="http://schemas.openxmlformats.org/officeDocument/2006/relationships/image"/><Relationship Id="rId4" Target="../media/image44.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40.png" Type="http://schemas.openxmlformats.org/officeDocument/2006/relationships/image"/><Relationship Id="rId4" Target="../media/image44.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40.png" Type="http://schemas.openxmlformats.org/officeDocument/2006/relationships/image"/><Relationship Id="rId4" Target="../media/image44.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45.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46.png" Type="http://schemas.openxmlformats.org/officeDocument/2006/relationships/image"/><Relationship Id="rId4" Target="../media/image47.png" Type="http://schemas.openxmlformats.org/officeDocument/2006/relationships/image"/><Relationship Id="rId5" Target="../media/image48.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46.png" Type="http://schemas.openxmlformats.org/officeDocument/2006/relationships/image"/><Relationship Id="rId4" Target="../media/image47.png" Type="http://schemas.openxmlformats.org/officeDocument/2006/relationships/image"/><Relationship Id="rId5" Target="../media/image48.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47.png" Type="http://schemas.openxmlformats.org/officeDocument/2006/relationships/image"/><Relationship Id="rId4" Target="../media/image48.svg" Type="http://schemas.openxmlformats.org/officeDocument/2006/relationships/image"/><Relationship Id="rId5" Target="../media/image49.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50.png" Type="http://schemas.openxmlformats.org/officeDocument/2006/relationships/image"/><Relationship Id="rId5" Target="../media/image51.svg" Type="http://schemas.openxmlformats.org/officeDocument/2006/relationships/image"/><Relationship Id="rId6" Target="../media/image52.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png" Type="http://schemas.openxmlformats.org/officeDocument/2006/relationships/image"/><Relationship Id="rId3" Target="../media/image55.svg" Type="http://schemas.openxmlformats.org/officeDocument/2006/relationships/image"/><Relationship Id="rId4" Target="../media/image56.png" Type="http://schemas.openxmlformats.org/officeDocument/2006/relationships/image"/><Relationship Id="rId5" Target="../media/image57.svg" Type="http://schemas.openxmlformats.org/officeDocument/2006/relationships/image"/><Relationship Id="rId6" Target="../media/image58.png" Type="http://schemas.openxmlformats.org/officeDocument/2006/relationships/image"/><Relationship Id="rId7" Target="../media/image59.svg" Type="http://schemas.openxmlformats.org/officeDocument/2006/relationships/image"/><Relationship Id="rId8" Target="../media/image60.png" Type="http://schemas.openxmlformats.org/officeDocument/2006/relationships/image"/><Relationship Id="rId9" Target="../media/image6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4397937" y="8346240"/>
            <a:ext cx="2861363" cy="912060"/>
          </a:xfrm>
          <a:custGeom>
            <a:avLst/>
            <a:gdLst/>
            <a:ahLst/>
            <a:cxnLst/>
            <a:rect r="r" b="b" t="t" l="l"/>
            <a:pathLst>
              <a:path h="912060" w="2861363">
                <a:moveTo>
                  <a:pt x="0" y="0"/>
                </a:moveTo>
                <a:lnTo>
                  <a:pt x="2861363" y="0"/>
                </a:lnTo>
                <a:lnTo>
                  <a:pt x="2861363" y="912060"/>
                </a:lnTo>
                <a:lnTo>
                  <a:pt x="0" y="912060"/>
                </a:lnTo>
                <a:lnTo>
                  <a:pt x="0" y="0"/>
                </a:lnTo>
                <a:close/>
              </a:path>
            </a:pathLst>
          </a:custGeom>
          <a:blipFill>
            <a:blip r:embed="rId2">
              <a:extLst>
                <a:ext uri="{96DAC541-7B7A-43D3-8B79-37D633B846F1}">
                  <asvg:svgBlip xmlns:asvg="http://schemas.microsoft.com/office/drawing/2016/SVG/main" r:embed="rId3"/>
                </a:ext>
              </a:extLst>
            </a:blip>
            <a:stretch>
              <a:fillRect l="0" t="-29" r="0" b="-29"/>
            </a:stretch>
          </a:blipFill>
        </p:spPr>
      </p:sp>
      <p:sp>
        <p:nvSpPr>
          <p:cNvPr name="Freeform 3" id="3"/>
          <p:cNvSpPr/>
          <p:nvPr/>
        </p:nvSpPr>
        <p:spPr>
          <a:xfrm flipH="false" flipV="false" rot="0">
            <a:off x="4556324" y="888431"/>
            <a:ext cx="9175351" cy="8510138"/>
          </a:xfrm>
          <a:custGeom>
            <a:avLst/>
            <a:gdLst/>
            <a:ahLst/>
            <a:cxnLst/>
            <a:rect r="r" b="b" t="t" l="l"/>
            <a:pathLst>
              <a:path h="8510138" w="9175351">
                <a:moveTo>
                  <a:pt x="0" y="0"/>
                </a:moveTo>
                <a:lnTo>
                  <a:pt x="9175351" y="0"/>
                </a:lnTo>
                <a:lnTo>
                  <a:pt x="9175351" y="8510138"/>
                </a:lnTo>
                <a:lnTo>
                  <a:pt x="0" y="8510138"/>
                </a:lnTo>
                <a:lnTo>
                  <a:pt x="0" y="0"/>
                </a:lnTo>
                <a:close/>
              </a:path>
            </a:pathLst>
          </a:custGeom>
          <a:blipFill>
            <a:blip r:embed="rId4">
              <a:extLst>
                <a:ext uri="{96DAC541-7B7A-43D3-8B79-37D633B846F1}">
                  <asvg:svgBlip xmlns:asvg="http://schemas.microsoft.com/office/drawing/2016/SVG/main" r:embed="rId5"/>
                </a:ext>
              </a:extLst>
            </a:blip>
            <a:stretch>
              <a:fillRect l="-6" t="0" r="-6" b="0"/>
            </a:stretch>
          </a:blipFill>
        </p:spPr>
      </p:sp>
      <p:sp>
        <p:nvSpPr>
          <p:cNvPr name="Freeform 4" id="4"/>
          <p:cNvSpPr/>
          <p:nvPr/>
        </p:nvSpPr>
        <p:spPr>
          <a:xfrm flipH="false" flipV="false" rot="5400000">
            <a:off x="0" y="7048066"/>
            <a:ext cx="3238934" cy="3238934"/>
          </a:xfrm>
          <a:custGeom>
            <a:avLst/>
            <a:gdLst/>
            <a:ahLst/>
            <a:cxnLst/>
            <a:rect r="r" b="b" t="t" l="l"/>
            <a:pathLst>
              <a:path h="3238934" w="3238934">
                <a:moveTo>
                  <a:pt x="0" y="0"/>
                </a:moveTo>
                <a:lnTo>
                  <a:pt x="3238934" y="0"/>
                </a:lnTo>
                <a:lnTo>
                  <a:pt x="3238934" y="3238934"/>
                </a:lnTo>
                <a:lnTo>
                  <a:pt x="0" y="32389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0245777">
            <a:off x="-573500" y="-1168969"/>
            <a:ext cx="3204400" cy="4114800"/>
          </a:xfrm>
          <a:custGeom>
            <a:avLst/>
            <a:gdLst/>
            <a:ahLst/>
            <a:cxnLst/>
            <a:rect r="r" b="b" t="t" l="l"/>
            <a:pathLst>
              <a:path h="4114800" w="3204400">
                <a:moveTo>
                  <a:pt x="0" y="0"/>
                </a:moveTo>
                <a:lnTo>
                  <a:pt x="3204400" y="0"/>
                </a:lnTo>
                <a:lnTo>
                  <a:pt x="32044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29" r="0" b="-29"/>
            </a:stretch>
          </a:blipFill>
        </p:spPr>
      </p:sp>
      <p:sp>
        <p:nvSpPr>
          <p:cNvPr name="Freeform 6" id="6"/>
          <p:cNvSpPr/>
          <p:nvPr/>
        </p:nvSpPr>
        <p:spPr>
          <a:xfrm flipH="false" flipV="false" rot="-5400000">
            <a:off x="13783350" y="1604320"/>
            <a:ext cx="5770085" cy="2957169"/>
          </a:xfrm>
          <a:custGeom>
            <a:avLst/>
            <a:gdLst/>
            <a:ahLst/>
            <a:cxnLst/>
            <a:rect r="r" b="b" t="t" l="l"/>
            <a:pathLst>
              <a:path h="2957169" w="5770085">
                <a:moveTo>
                  <a:pt x="0" y="0"/>
                </a:moveTo>
                <a:lnTo>
                  <a:pt x="5770085" y="0"/>
                </a:lnTo>
                <a:lnTo>
                  <a:pt x="5770085" y="2957169"/>
                </a:lnTo>
                <a:lnTo>
                  <a:pt x="0" y="2957169"/>
                </a:lnTo>
                <a:lnTo>
                  <a:pt x="0" y="0"/>
                </a:lnTo>
                <a:close/>
              </a:path>
            </a:pathLst>
          </a:custGeom>
          <a:blipFill>
            <a:blip r:embed="rId10">
              <a:extLst>
                <a:ext uri="{96DAC541-7B7A-43D3-8B79-37D633B846F1}">
                  <asvg:svgBlip xmlns:asvg="http://schemas.microsoft.com/office/drawing/2016/SVG/main" r:embed="rId11"/>
                </a:ext>
              </a:extLst>
            </a:blip>
            <a:stretch>
              <a:fillRect l="0" t="-68" r="0" b="-68"/>
            </a:stretch>
          </a:blipFill>
        </p:spPr>
      </p:sp>
      <p:grpSp>
        <p:nvGrpSpPr>
          <p:cNvPr name="Group 7" id="7"/>
          <p:cNvGrpSpPr/>
          <p:nvPr/>
        </p:nvGrpSpPr>
        <p:grpSpPr>
          <a:xfrm rot="0">
            <a:off x="6316147" y="1743393"/>
            <a:ext cx="5655705" cy="3602291"/>
            <a:chOff x="0" y="0"/>
            <a:chExt cx="7540940" cy="4803054"/>
          </a:xfrm>
        </p:grpSpPr>
        <p:sp>
          <p:nvSpPr>
            <p:cNvPr name="Freeform 8" id="8"/>
            <p:cNvSpPr/>
            <p:nvPr/>
          </p:nvSpPr>
          <p:spPr>
            <a:xfrm flipH="false" flipV="false" rot="0">
              <a:off x="0" y="0"/>
              <a:ext cx="7540940" cy="4803055"/>
            </a:xfrm>
            <a:custGeom>
              <a:avLst/>
              <a:gdLst/>
              <a:ahLst/>
              <a:cxnLst/>
              <a:rect r="r" b="b" t="t" l="l"/>
              <a:pathLst>
                <a:path h="4803055" w="7540940">
                  <a:moveTo>
                    <a:pt x="0" y="0"/>
                  </a:moveTo>
                  <a:lnTo>
                    <a:pt x="7540940" y="0"/>
                  </a:lnTo>
                  <a:lnTo>
                    <a:pt x="7540940" y="4803055"/>
                  </a:lnTo>
                  <a:lnTo>
                    <a:pt x="0" y="4803055"/>
                  </a:lnTo>
                  <a:close/>
                </a:path>
              </a:pathLst>
            </a:custGeom>
            <a:solidFill>
              <a:srgbClr val="000000">
                <a:alpha val="0"/>
              </a:srgbClr>
            </a:solidFill>
          </p:spPr>
        </p:sp>
        <p:sp>
          <p:nvSpPr>
            <p:cNvPr name="TextBox 9" id="9"/>
            <p:cNvSpPr txBox="true"/>
            <p:nvPr/>
          </p:nvSpPr>
          <p:spPr>
            <a:xfrm>
              <a:off x="0" y="-304800"/>
              <a:ext cx="7540940" cy="5107854"/>
            </a:xfrm>
            <a:prstGeom prst="rect">
              <a:avLst/>
            </a:prstGeom>
          </p:spPr>
          <p:txBody>
            <a:bodyPr anchor="t" rtlCol="false" tIns="0" lIns="0" bIns="0" rIns="0"/>
            <a:lstStyle/>
            <a:p>
              <a:pPr algn="ctr">
                <a:lnSpc>
                  <a:spcPts val="11110"/>
                </a:lnSpc>
              </a:pPr>
              <a:r>
                <a:rPr lang="en-US" sz="7935">
                  <a:solidFill>
                    <a:srgbClr val="000000"/>
                  </a:solidFill>
                  <a:latin typeface="Pixellet TH"/>
                  <a:ea typeface="Pixellet TH"/>
                  <a:cs typeface="Pixellet TH"/>
                  <a:sym typeface="Pixellet TH"/>
                </a:rPr>
                <a:t>Pytorchcode</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EFBDB"/>
        </a:solidFill>
      </p:bgPr>
    </p:bg>
    <p:spTree>
      <p:nvGrpSpPr>
        <p:cNvPr id="1" name=""/>
        <p:cNvGrpSpPr/>
        <p:nvPr/>
      </p:nvGrpSpPr>
      <p:grpSpPr>
        <a:xfrm>
          <a:off x="0" y="0"/>
          <a:ext cx="0" cy="0"/>
          <a:chOff x="0" y="0"/>
          <a:chExt cx="0" cy="0"/>
        </a:xfrm>
      </p:grpSpPr>
      <p:sp>
        <p:nvSpPr>
          <p:cNvPr name="Freeform 2" id="2"/>
          <p:cNvSpPr/>
          <p:nvPr/>
        </p:nvSpPr>
        <p:spPr>
          <a:xfrm flipH="false" flipV="false" rot="0">
            <a:off x="-514350" y="643605"/>
            <a:ext cx="18802350" cy="3213587"/>
          </a:xfrm>
          <a:custGeom>
            <a:avLst/>
            <a:gdLst/>
            <a:ahLst/>
            <a:cxnLst/>
            <a:rect r="r" b="b" t="t" l="l"/>
            <a:pathLst>
              <a:path h="3213587" w="18802350">
                <a:moveTo>
                  <a:pt x="0" y="0"/>
                </a:moveTo>
                <a:lnTo>
                  <a:pt x="18802350" y="0"/>
                </a:lnTo>
                <a:lnTo>
                  <a:pt x="18802350" y="3213587"/>
                </a:lnTo>
                <a:lnTo>
                  <a:pt x="0" y="32135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80136" y="2108585"/>
            <a:ext cx="6984563" cy="6984563"/>
          </a:xfrm>
          <a:custGeom>
            <a:avLst/>
            <a:gdLst/>
            <a:ahLst/>
            <a:cxnLst/>
            <a:rect r="r" b="b" t="t" l="l"/>
            <a:pathLst>
              <a:path h="6984563" w="6984563">
                <a:moveTo>
                  <a:pt x="0" y="0"/>
                </a:moveTo>
                <a:lnTo>
                  <a:pt x="6984563" y="0"/>
                </a:lnTo>
                <a:lnTo>
                  <a:pt x="6984563" y="6984564"/>
                </a:lnTo>
                <a:lnTo>
                  <a:pt x="0" y="69845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9238673" y="1085850"/>
            <a:ext cx="8115300" cy="3029042"/>
            <a:chOff x="0" y="0"/>
            <a:chExt cx="10820400" cy="4038722"/>
          </a:xfrm>
        </p:grpSpPr>
        <p:sp>
          <p:nvSpPr>
            <p:cNvPr name="Freeform 5" id="5"/>
            <p:cNvSpPr/>
            <p:nvPr/>
          </p:nvSpPr>
          <p:spPr>
            <a:xfrm flipH="false" flipV="false" rot="0">
              <a:off x="0" y="0"/>
              <a:ext cx="10820400" cy="4038722"/>
            </a:xfrm>
            <a:custGeom>
              <a:avLst/>
              <a:gdLst/>
              <a:ahLst/>
              <a:cxnLst/>
              <a:rect r="r" b="b" t="t" l="l"/>
              <a:pathLst>
                <a:path h="4038722" w="10820400">
                  <a:moveTo>
                    <a:pt x="0" y="0"/>
                  </a:moveTo>
                  <a:lnTo>
                    <a:pt x="10820400" y="0"/>
                  </a:lnTo>
                  <a:lnTo>
                    <a:pt x="10820400" y="4038722"/>
                  </a:lnTo>
                  <a:lnTo>
                    <a:pt x="0" y="4038722"/>
                  </a:lnTo>
                  <a:close/>
                </a:path>
              </a:pathLst>
            </a:custGeom>
            <a:solidFill>
              <a:srgbClr val="000000">
                <a:alpha val="0"/>
              </a:srgbClr>
            </a:solidFill>
          </p:spPr>
        </p:sp>
        <p:sp>
          <p:nvSpPr>
            <p:cNvPr name="TextBox 6" id="6"/>
            <p:cNvSpPr txBox="true"/>
            <p:nvPr/>
          </p:nvSpPr>
          <p:spPr>
            <a:xfrm>
              <a:off x="0" y="57150"/>
              <a:ext cx="10820400" cy="3981572"/>
            </a:xfrm>
            <a:prstGeom prst="rect">
              <a:avLst/>
            </a:prstGeom>
          </p:spPr>
          <p:txBody>
            <a:bodyPr anchor="t" rtlCol="false" tIns="0" lIns="0" bIns="0" rIns="0"/>
            <a:lstStyle/>
            <a:p>
              <a:pPr algn="ctr">
                <a:lnSpc>
                  <a:spcPts val="7160"/>
                </a:lnSpc>
              </a:pPr>
              <a:r>
                <a:rPr lang="en-US" sz="7698">
                  <a:solidFill>
                    <a:srgbClr val="000000"/>
                  </a:solidFill>
                  <a:latin typeface="Pixellet TH"/>
                  <a:ea typeface="Pixellet TH"/>
                  <a:cs typeface="Pixellet TH"/>
                  <a:sym typeface="Pixellet TH"/>
                </a:rPr>
                <a:t>data overview</a:t>
              </a:r>
            </a:p>
          </p:txBody>
        </p:sp>
      </p:grpSp>
      <p:grpSp>
        <p:nvGrpSpPr>
          <p:cNvPr name="Group 7" id="7"/>
          <p:cNvGrpSpPr/>
          <p:nvPr/>
        </p:nvGrpSpPr>
        <p:grpSpPr>
          <a:xfrm rot="0">
            <a:off x="9333345" y="4937125"/>
            <a:ext cx="7925955" cy="4321175"/>
            <a:chOff x="0" y="0"/>
            <a:chExt cx="10567940" cy="5761567"/>
          </a:xfrm>
        </p:grpSpPr>
        <p:sp>
          <p:nvSpPr>
            <p:cNvPr name="Freeform 8" id="8"/>
            <p:cNvSpPr/>
            <p:nvPr/>
          </p:nvSpPr>
          <p:spPr>
            <a:xfrm flipH="false" flipV="false" rot="0">
              <a:off x="0" y="0"/>
              <a:ext cx="10567940" cy="5761567"/>
            </a:xfrm>
            <a:custGeom>
              <a:avLst/>
              <a:gdLst/>
              <a:ahLst/>
              <a:cxnLst/>
              <a:rect r="r" b="b" t="t" l="l"/>
              <a:pathLst>
                <a:path h="5761567" w="10567940">
                  <a:moveTo>
                    <a:pt x="0" y="0"/>
                  </a:moveTo>
                  <a:lnTo>
                    <a:pt x="10567940" y="0"/>
                  </a:lnTo>
                  <a:lnTo>
                    <a:pt x="10567940" y="5761567"/>
                  </a:lnTo>
                  <a:lnTo>
                    <a:pt x="0" y="5761567"/>
                  </a:lnTo>
                  <a:close/>
                </a:path>
              </a:pathLst>
            </a:custGeom>
            <a:solidFill>
              <a:srgbClr val="000000">
                <a:alpha val="0"/>
              </a:srgbClr>
            </a:solidFill>
          </p:spPr>
        </p:sp>
        <p:sp>
          <p:nvSpPr>
            <p:cNvPr name="TextBox 9" id="9"/>
            <p:cNvSpPr txBox="true"/>
            <p:nvPr/>
          </p:nvSpPr>
          <p:spPr>
            <a:xfrm>
              <a:off x="0" y="-66675"/>
              <a:ext cx="10567940" cy="5828242"/>
            </a:xfrm>
            <a:prstGeom prst="rect">
              <a:avLst/>
            </a:prstGeom>
          </p:spPr>
          <p:txBody>
            <a:bodyPr anchor="t" rtlCol="false" tIns="0" lIns="0" bIns="0" rIns="0"/>
            <a:lstStyle/>
            <a:p>
              <a:pPr algn="just" marL="755651" indent="-377825" lvl="1">
                <a:lnSpc>
                  <a:spcPts val="4900"/>
                </a:lnSpc>
                <a:buFont typeface="Arial"/>
                <a:buChar char="•"/>
              </a:pPr>
              <a:r>
                <a:rPr lang="en-US" sz="3500">
                  <a:solidFill>
                    <a:srgbClr val="000000"/>
                  </a:solidFill>
                  <a:latin typeface="Bitter"/>
                  <a:ea typeface="Bitter"/>
                  <a:cs typeface="Bitter"/>
                  <a:sym typeface="Bitter"/>
                </a:rPr>
                <a:t>47,000+ Rows</a:t>
              </a:r>
            </a:p>
            <a:p>
              <a:pPr algn="just" marL="755651" indent="-377825" lvl="1">
                <a:lnSpc>
                  <a:spcPts val="4900"/>
                </a:lnSpc>
                <a:buFont typeface="Arial"/>
                <a:buChar char="•"/>
              </a:pPr>
              <a:r>
                <a:rPr lang="en-US" sz="3500">
                  <a:solidFill>
                    <a:srgbClr val="000000"/>
                  </a:solidFill>
                  <a:latin typeface="Bitter"/>
                  <a:ea typeface="Bitter"/>
                  <a:cs typeface="Bitter"/>
                  <a:sym typeface="Bitter"/>
                </a:rPr>
                <a:t>18 columns</a:t>
              </a:r>
            </a:p>
            <a:p>
              <a:pPr algn="just" marL="755650" indent="-377825" lvl="1">
                <a:lnSpc>
                  <a:spcPts val="4900"/>
                </a:lnSpc>
                <a:buFont typeface="Arial"/>
                <a:buChar char="•"/>
              </a:pPr>
              <a:r>
                <a:rPr lang="en-US" sz="3500">
                  <a:solidFill>
                    <a:srgbClr val="000000"/>
                  </a:solidFill>
                  <a:latin typeface="Bitter"/>
                  <a:ea typeface="Bitter"/>
                  <a:cs typeface="Bitter"/>
                  <a:sym typeface="Bitter"/>
                </a:rPr>
                <a:t>Balanced Dataset</a:t>
              </a:r>
            </a:p>
            <a:p>
              <a:pPr algn="just" marL="755651" indent="-377825" lvl="1">
                <a:lnSpc>
                  <a:spcPts val="4900"/>
                </a:lnSpc>
                <a:buFont typeface="Arial"/>
                <a:buChar char="•"/>
              </a:pPr>
              <a:r>
                <a:rPr lang="en-US" sz="3500">
                  <a:solidFill>
                    <a:srgbClr val="000000"/>
                  </a:solidFill>
                  <a:latin typeface="Bitter"/>
                  <a:ea typeface="Bitter"/>
                  <a:cs typeface="Bitter"/>
                  <a:sym typeface="Bitter"/>
                </a:rPr>
                <a:t>Train-Test Split:</a:t>
              </a:r>
            </a:p>
            <a:p>
              <a:pPr algn="just" marL="1511301" indent="-503767" lvl="2">
                <a:lnSpc>
                  <a:spcPts val="4900"/>
                </a:lnSpc>
                <a:buFont typeface="Arial"/>
                <a:buChar char="⚬"/>
              </a:pPr>
              <a:r>
                <a:rPr lang="en-US" sz="3500">
                  <a:solidFill>
                    <a:srgbClr val="000000"/>
                  </a:solidFill>
                  <a:latin typeface="Bitter"/>
                  <a:ea typeface="Bitter"/>
                  <a:cs typeface="Bitter"/>
                  <a:sym typeface="Bitter"/>
                </a:rPr>
                <a:t>80% train</a:t>
              </a:r>
            </a:p>
            <a:p>
              <a:pPr algn="just" marL="1511301" indent="-503767" lvl="2">
                <a:lnSpc>
                  <a:spcPts val="4900"/>
                </a:lnSpc>
                <a:buFont typeface="Arial"/>
                <a:buChar char="⚬"/>
              </a:pPr>
              <a:r>
                <a:rPr lang="en-US" sz="3500">
                  <a:solidFill>
                    <a:srgbClr val="000000"/>
                  </a:solidFill>
                  <a:latin typeface="Bitter"/>
                  <a:ea typeface="Bitter"/>
                  <a:cs typeface="Bitter"/>
                  <a:sym typeface="Bitter"/>
                </a:rPr>
                <a:t>20% test</a:t>
              </a:r>
            </a:p>
          </p:txBody>
        </p:sp>
      </p:grpSp>
      <p:sp>
        <p:nvSpPr>
          <p:cNvPr name="Freeform 10" id="10"/>
          <p:cNvSpPr/>
          <p:nvPr/>
        </p:nvSpPr>
        <p:spPr>
          <a:xfrm flipH="false" flipV="false" rot="0">
            <a:off x="1028700" y="4802350"/>
            <a:ext cx="6688105" cy="4455950"/>
          </a:xfrm>
          <a:custGeom>
            <a:avLst/>
            <a:gdLst/>
            <a:ahLst/>
            <a:cxnLst/>
            <a:rect r="r" b="b" t="t" l="l"/>
            <a:pathLst>
              <a:path h="4455950" w="6688105">
                <a:moveTo>
                  <a:pt x="0" y="0"/>
                </a:moveTo>
                <a:lnTo>
                  <a:pt x="6688105" y="0"/>
                </a:lnTo>
                <a:lnTo>
                  <a:pt x="6688105" y="4455950"/>
                </a:lnTo>
                <a:lnTo>
                  <a:pt x="0" y="4455950"/>
                </a:lnTo>
                <a:lnTo>
                  <a:pt x="0" y="0"/>
                </a:lnTo>
                <a:close/>
              </a:path>
            </a:pathLst>
          </a:custGeom>
          <a:blipFill>
            <a:blip r:embed="rId6"/>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E3975"/>
        </a:solidFill>
      </p:bgPr>
    </p:bg>
    <p:spTree>
      <p:nvGrpSpPr>
        <p:cNvPr id="1" name=""/>
        <p:cNvGrpSpPr/>
        <p:nvPr/>
      </p:nvGrpSpPr>
      <p:grpSpPr>
        <a:xfrm>
          <a:off x="0" y="0"/>
          <a:ext cx="0" cy="0"/>
          <a:chOff x="0" y="0"/>
          <a:chExt cx="0" cy="0"/>
        </a:xfrm>
      </p:grpSpPr>
      <p:sp>
        <p:nvSpPr>
          <p:cNvPr name="Freeform 2" id="2"/>
          <p:cNvSpPr/>
          <p:nvPr/>
        </p:nvSpPr>
        <p:spPr>
          <a:xfrm flipH="false" flipV="false" rot="0">
            <a:off x="14516677"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115" r="0" b="-115"/>
            </a:stretch>
          </a:blipFill>
        </p:spPr>
      </p:sp>
      <p:sp>
        <p:nvSpPr>
          <p:cNvPr name="Freeform 3" id="3"/>
          <p:cNvSpPr/>
          <p:nvPr/>
        </p:nvSpPr>
        <p:spPr>
          <a:xfrm flipH="false" flipV="false" rot="0">
            <a:off x="-2677787" y="2729200"/>
            <a:ext cx="5548438" cy="7884103"/>
          </a:xfrm>
          <a:custGeom>
            <a:avLst/>
            <a:gdLst/>
            <a:ahLst/>
            <a:cxnLst/>
            <a:rect r="r" b="b" t="t" l="l"/>
            <a:pathLst>
              <a:path h="7884103" w="5548438">
                <a:moveTo>
                  <a:pt x="0" y="0"/>
                </a:moveTo>
                <a:lnTo>
                  <a:pt x="5548438" y="0"/>
                </a:lnTo>
                <a:lnTo>
                  <a:pt x="5548438" y="7884103"/>
                </a:lnTo>
                <a:lnTo>
                  <a:pt x="0" y="7884103"/>
                </a:lnTo>
                <a:lnTo>
                  <a:pt x="0" y="0"/>
                </a:lnTo>
                <a:close/>
              </a:path>
            </a:pathLst>
          </a:custGeom>
          <a:blipFill>
            <a:blip r:embed="rId4">
              <a:extLst>
                <a:ext uri="{96DAC541-7B7A-43D3-8B79-37D633B846F1}">
                  <asvg:svgBlip xmlns:asvg="http://schemas.microsoft.com/office/drawing/2016/SVG/main" r:embed="rId5"/>
                </a:ext>
              </a:extLst>
            </a:blip>
            <a:stretch>
              <a:fillRect l="0" t="-35" r="0" b="-35"/>
            </a:stretch>
          </a:blipFill>
        </p:spPr>
      </p:sp>
      <p:grpSp>
        <p:nvGrpSpPr>
          <p:cNvPr name="Group 4" id="4"/>
          <p:cNvGrpSpPr/>
          <p:nvPr/>
        </p:nvGrpSpPr>
        <p:grpSpPr>
          <a:xfrm rot="0">
            <a:off x="2005472" y="5005989"/>
            <a:ext cx="15497185" cy="786059"/>
            <a:chOff x="0" y="0"/>
            <a:chExt cx="19170924" cy="972401"/>
          </a:xfrm>
        </p:grpSpPr>
        <p:sp>
          <p:nvSpPr>
            <p:cNvPr name="Freeform 5" id="5"/>
            <p:cNvSpPr/>
            <p:nvPr/>
          </p:nvSpPr>
          <p:spPr>
            <a:xfrm flipH="false" flipV="false" rot="0">
              <a:off x="0" y="0"/>
              <a:ext cx="19170924" cy="972401"/>
            </a:xfrm>
            <a:custGeom>
              <a:avLst/>
              <a:gdLst/>
              <a:ahLst/>
              <a:cxnLst/>
              <a:rect r="r" b="b" t="t" l="l"/>
              <a:pathLst>
                <a:path h="972401" w="19170924">
                  <a:moveTo>
                    <a:pt x="0" y="0"/>
                  </a:moveTo>
                  <a:lnTo>
                    <a:pt x="19170924" y="0"/>
                  </a:lnTo>
                  <a:lnTo>
                    <a:pt x="19170924" y="972401"/>
                  </a:lnTo>
                  <a:lnTo>
                    <a:pt x="0" y="972401"/>
                  </a:lnTo>
                  <a:close/>
                </a:path>
              </a:pathLst>
            </a:custGeom>
            <a:solidFill>
              <a:srgbClr val="000000">
                <a:alpha val="0"/>
              </a:srgbClr>
            </a:solidFill>
          </p:spPr>
        </p:sp>
        <p:sp>
          <p:nvSpPr>
            <p:cNvPr name="TextBox 6" id="6"/>
            <p:cNvSpPr txBox="true"/>
            <p:nvPr/>
          </p:nvSpPr>
          <p:spPr>
            <a:xfrm>
              <a:off x="0" y="-76200"/>
              <a:ext cx="19170924" cy="1048601"/>
            </a:xfrm>
            <a:prstGeom prst="rect">
              <a:avLst/>
            </a:prstGeom>
          </p:spPr>
          <p:txBody>
            <a:bodyPr anchor="t" rtlCol="false" tIns="0" lIns="0" bIns="0" rIns="0"/>
            <a:lstStyle/>
            <a:p>
              <a:pPr algn="ctr">
                <a:lnSpc>
                  <a:spcPts val="5598"/>
                </a:lnSpc>
              </a:pPr>
              <a:r>
                <a:rPr lang="en-US" sz="3999">
                  <a:solidFill>
                    <a:srgbClr val="FAD00A"/>
                  </a:solidFill>
                  <a:latin typeface="Bitter"/>
                  <a:ea typeface="Bitter"/>
                  <a:cs typeface="Bitter"/>
                  <a:sym typeface="Bitter"/>
                </a:rPr>
                <a:t>296-256 = 40</a:t>
              </a:r>
            </a:p>
          </p:txBody>
        </p:sp>
      </p:grpSp>
      <p:grpSp>
        <p:nvGrpSpPr>
          <p:cNvPr name="Group 7" id="7"/>
          <p:cNvGrpSpPr/>
          <p:nvPr/>
        </p:nvGrpSpPr>
        <p:grpSpPr>
          <a:xfrm rot="0">
            <a:off x="1931290" y="8825552"/>
            <a:ext cx="14378193" cy="679450"/>
            <a:chOff x="0" y="0"/>
            <a:chExt cx="19170924" cy="905933"/>
          </a:xfrm>
        </p:grpSpPr>
        <p:sp>
          <p:nvSpPr>
            <p:cNvPr name="Freeform 8" id="8"/>
            <p:cNvSpPr/>
            <p:nvPr/>
          </p:nvSpPr>
          <p:spPr>
            <a:xfrm flipH="false" flipV="false" rot="0">
              <a:off x="0" y="0"/>
              <a:ext cx="19170924" cy="905933"/>
            </a:xfrm>
            <a:custGeom>
              <a:avLst/>
              <a:gdLst/>
              <a:ahLst/>
              <a:cxnLst/>
              <a:rect r="r" b="b" t="t" l="l"/>
              <a:pathLst>
                <a:path h="905933" w="19170924">
                  <a:moveTo>
                    <a:pt x="0" y="0"/>
                  </a:moveTo>
                  <a:lnTo>
                    <a:pt x="19170924" y="0"/>
                  </a:lnTo>
                  <a:lnTo>
                    <a:pt x="19170924" y="905933"/>
                  </a:lnTo>
                  <a:lnTo>
                    <a:pt x="0" y="905933"/>
                  </a:lnTo>
                  <a:close/>
                </a:path>
              </a:pathLst>
            </a:custGeom>
            <a:solidFill>
              <a:srgbClr val="000000">
                <a:alpha val="0"/>
              </a:srgbClr>
            </a:solidFill>
          </p:spPr>
        </p:sp>
        <p:sp>
          <p:nvSpPr>
            <p:cNvPr name="TextBox 9" id="9"/>
            <p:cNvSpPr txBox="true"/>
            <p:nvPr/>
          </p:nvSpPr>
          <p:spPr>
            <a:xfrm>
              <a:off x="0" y="-76200"/>
              <a:ext cx="19170924" cy="982133"/>
            </a:xfrm>
            <a:prstGeom prst="rect">
              <a:avLst/>
            </a:prstGeom>
          </p:spPr>
          <p:txBody>
            <a:bodyPr anchor="t" rtlCol="false" tIns="0" lIns="0" bIns="0" rIns="0"/>
            <a:lstStyle/>
            <a:p>
              <a:pPr algn="ctr">
                <a:lnSpc>
                  <a:spcPts val="5598"/>
                </a:lnSpc>
              </a:pPr>
              <a:r>
                <a:rPr lang="en-US" sz="3999">
                  <a:solidFill>
                    <a:srgbClr val="FAD00A"/>
                  </a:solidFill>
                  <a:latin typeface="Bitter"/>
                  <a:ea typeface="Bitter"/>
                  <a:cs typeface="Bitter"/>
                  <a:sym typeface="Bitter"/>
                </a:rPr>
                <a:t>296 in binary is 100101000</a:t>
              </a:r>
            </a:p>
          </p:txBody>
        </p:sp>
      </p:grpSp>
      <p:grpSp>
        <p:nvGrpSpPr>
          <p:cNvPr name="Group 10" id="10"/>
          <p:cNvGrpSpPr/>
          <p:nvPr/>
        </p:nvGrpSpPr>
        <p:grpSpPr>
          <a:xfrm rot="0">
            <a:off x="-665286" y="835259"/>
            <a:ext cx="19571345" cy="1655076"/>
            <a:chOff x="0" y="0"/>
            <a:chExt cx="26095126" cy="2206768"/>
          </a:xfrm>
        </p:grpSpPr>
        <p:sp>
          <p:nvSpPr>
            <p:cNvPr name="Freeform 11" id="11"/>
            <p:cNvSpPr/>
            <p:nvPr/>
          </p:nvSpPr>
          <p:spPr>
            <a:xfrm flipH="false" flipV="false" rot="0">
              <a:off x="0" y="0"/>
              <a:ext cx="26095127" cy="2206768"/>
            </a:xfrm>
            <a:custGeom>
              <a:avLst/>
              <a:gdLst/>
              <a:ahLst/>
              <a:cxnLst/>
              <a:rect r="r" b="b" t="t" l="l"/>
              <a:pathLst>
                <a:path h="2206768" w="26095127">
                  <a:moveTo>
                    <a:pt x="0" y="0"/>
                  </a:moveTo>
                  <a:lnTo>
                    <a:pt x="26095127" y="0"/>
                  </a:lnTo>
                  <a:lnTo>
                    <a:pt x="26095127" y="2206768"/>
                  </a:lnTo>
                  <a:lnTo>
                    <a:pt x="0" y="2206768"/>
                  </a:lnTo>
                  <a:close/>
                </a:path>
              </a:pathLst>
            </a:custGeom>
            <a:solidFill>
              <a:srgbClr val="EE3975">
                <a:alpha val="0"/>
              </a:srgbClr>
            </a:solidFill>
          </p:spPr>
        </p:sp>
        <p:sp>
          <p:nvSpPr>
            <p:cNvPr name="TextBox 12" id="12"/>
            <p:cNvSpPr txBox="true"/>
            <p:nvPr/>
          </p:nvSpPr>
          <p:spPr>
            <a:xfrm>
              <a:off x="0" y="47625"/>
              <a:ext cx="26095126" cy="2159143"/>
            </a:xfrm>
            <a:prstGeom prst="rect">
              <a:avLst/>
            </a:prstGeom>
          </p:spPr>
          <p:txBody>
            <a:bodyPr anchor="t" rtlCol="false" tIns="0" lIns="0" bIns="0" rIns="0"/>
            <a:lstStyle/>
            <a:p>
              <a:pPr algn="ctr">
                <a:lnSpc>
                  <a:spcPts val="5579"/>
                </a:lnSpc>
              </a:pPr>
              <a:r>
                <a:rPr lang="en-US" sz="6000">
                  <a:solidFill>
                    <a:srgbClr val="FAD00A"/>
                  </a:solidFill>
                  <a:latin typeface="Pixellet TH"/>
                  <a:ea typeface="Pixellet TH"/>
                  <a:cs typeface="Pixellet TH"/>
                  <a:sym typeface="Pixellet TH"/>
                </a:rPr>
                <a:t>Snippet of Video Game Dataset</a:t>
              </a:r>
            </a:p>
          </p:txBody>
        </p:sp>
      </p:grpSp>
      <p:sp>
        <p:nvSpPr>
          <p:cNvPr name="Freeform 13" id="13"/>
          <p:cNvSpPr/>
          <p:nvPr/>
        </p:nvSpPr>
        <p:spPr>
          <a:xfrm flipH="false" flipV="false" rot="0">
            <a:off x="193051" y="3968464"/>
            <a:ext cx="16985484" cy="5405574"/>
          </a:xfrm>
          <a:custGeom>
            <a:avLst/>
            <a:gdLst/>
            <a:ahLst/>
            <a:cxnLst/>
            <a:rect r="r" b="b" t="t" l="l"/>
            <a:pathLst>
              <a:path h="5405574" w="16985484">
                <a:moveTo>
                  <a:pt x="0" y="0"/>
                </a:moveTo>
                <a:lnTo>
                  <a:pt x="16985484" y="0"/>
                </a:lnTo>
                <a:lnTo>
                  <a:pt x="16985484" y="5405575"/>
                </a:lnTo>
                <a:lnTo>
                  <a:pt x="0" y="5405575"/>
                </a:lnTo>
                <a:lnTo>
                  <a:pt x="0" y="0"/>
                </a:lnTo>
                <a:close/>
              </a:path>
            </a:pathLst>
          </a:custGeom>
          <a:blipFill>
            <a:blip r:embed="rId6"/>
            <a:stretch>
              <a:fillRect l="0" t="0" r="0" b="-31973"/>
            </a:stretch>
          </a:blipFill>
        </p:spPr>
      </p:sp>
      <p:sp>
        <p:nvSpPr>
          <p:cNvPr name="Freeform 14" id="14"/>
          <p:cNvSpPr/>
          <p:nvPr/>
        </p:nvSpPr>
        <p:spPr>
          <a:xfrm flipH="false" flipV="false" rot="0">
            <a:off x="17178535" y="3968464"/>
            <a:ext cx="916414" cy="5405574"/>
          </a:xfrm>
          <a:custGeom>
            <a:avLst/>
            <a:gdLst/>
            <a:ahLst/>
            <a:cxnLst/>
            <a:rect r="r" b="b" t="t" l="l"/>
            <a:pathLst>
              <a:path h="5405574" w="916414">
                <a:moveTo>
                  <a:pt x="0" y="0"/>
                </a:moveTo>
                <a:lnTo>
                  <a:pt x="916414" y="0"/>
                </a:lnTo>
                <a:lnTo>
                  <a:pt x="916414" y="5405575"/>
                </a:lnTo>
                <a:lnTo>
                  <a:pt x="0" y="5405575"/>
                </a:lnTo>
                <a:lnTo>
                  <a:pt x="0" y="0"/>
                </a:lnTo>
                <a:close/>
              </a:path>
            </a:pathLst>
          </a:custGeom>
          <a:blipFill>
            <a:blip r:embed="rId7"/>
            <a:stretch>
              <a:fillRect l="-1635" t="0" r="-1635" b="-30899"/>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E3975"/>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2064075"/>
            <a:chOff x="0" y="0"/>
            <a:chExt cx="21640800" cy="2752100"/>
          </a:xfrm>
        </p:grpSpPr>
        <p:sp>
          <p:nvSpPr>
            <p:cNvPr name="Freeform 3" id="3"/>
            <p:cNvSpPr/>
            <p:nvPr/>
          </p:nvSpPr>
          <p:spPr>
            <a:xfrm flipH="false" flipV="false" rot="0">
              <a:off x="0" y="0"/>
              <a:ext cx="21640800" cy="2752100"/>
            </a:xfrm>
            <a:custGeom>
              <a:avLst/>
              <a:gdLst/>
              <a:ahLst/>
              <a:cxnLst/>
              <a:rect r="r" b="b" t="t" l="l"/>
              <a:pathLst>
                <a:path h="2752100" w="21640800">
                  <a:moveTo>
                    <a:pt x="0" y="0"/>
                  </a:moveTo>
                  <a:lnTo>
                    <a:pt x="21640800" y="0"/>
                  </a:lnTo>
                  <a:lnTo>
                    <a:pt x="21640800" y="2752100"/>
                  </a:lnTo>
                  <a:lnTo>
                    <a:pt x="0" y="2752100"/>
                  </a:lnTo>
                  <a:close/>
                </a:path>
              </a:pathLst>
            </a:custGeom>
            <a:solidFill>
              <a:srgbClr val="EE3975">
                <a:alpha val="0"/>
              </a:srgbClr>
            </a:solidFill>
          </p:spPr>
        </p:sp>
        <p:sp>
          <p:nvSpPr>
            <p:cNvPr name="TextBox 4" id="4"/>
            <p:cNvSpPr txBox="true"/>
            <p:nvPr/>
          </p:nvSpPr>
          <p:spPr>
            <a:xfrm>
              <a:off x="0" y="47625"/>
              <a:ext cx="21640800" cy="2704475"/>
            </a:xfrm>
            <a:prstGeom prst="rect">
              <a:avLst/>
            </a:prstGeom>
          </p:spPr>
          <p:txBody>
            <a:bodyPr anchor="t" rtlCol="false" tIns="0" lIns="0" bIns="0" rIns="0"/>
            <a:lstStyle/>
            <a:p>
              <a:pPr algn="ctr">
                <a:lnSpc>
                  <a:spcPts val="6974"/>
                </a:lnSpc>
              </a:pPr>
              <a:r>
                <a:rPr lang="en-US" sz="7500">
                  <a:solidFill>
                    <a:srgbClr val="FAD00A"/>
                  </a:solidFill>
                  <a:latin typeface="Pixellet TH"/>
                  <a:ea typeface="Pixellet TH"/>
                  <a:cs typeface="Pixellet TH"/>
                  <a:sym typeface="Pixellet TH"/>
                </a:rPr>
                <a:t>Predition Flow</a:t>
              </a:r>
            </a:p>
          </p:txBody>
        </p:sp>
      </p:grpSp>
      <p:sp>
        <p:nvSpPr>
          <p:cNvPr name="Freeform 5" id="5"/>
          <p:cNvSpPr/>
          <p:nvPr/>
        </p:nvSpPr>
        <p:spPr>
          <a:xfrm flipH="false" flipV="false" rot="0">
            <a:off x="3688357" y="5275932"/>
            <a:ext cx="1120352" cy="1120352"/>
          </a:xfrm>
          <a:custGeom>
            <a:avLst/>
            <a:gdLst/>
            <a:ahLst/>
            <a:cxnLst/>
            <a:rect r="r" b="b" t="t" l="l"/>
            <a:pathLst>
              <a:path h="1120352" w="1120352">
                <a:moveTo>
                  <a:pt x="0" y="0"/>
                </a:moveTo>
                <a:lnTo>
                  <a:pt x="1120352" y="0"/>
                </a:lnTo>
                <a:lnTo>
                  <a:pt x="1120352" y="1120352"/>
                </a:lnTo>
                <a:lnTo>
                  <a:pt x="0" y="11203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523871" y="5275932"/>
            <a:ext cx="1120352" cy="1120352"/>
          </a:xfrm>
          <a:custGeom>
            <a:avLst/>
            <a:gdLst/>
            <a:ahLst/>
            <a:cxnLst/>
            <a:rect r="r" b="b" t="t" l="l"/>
            <a:pathLst>
              <a:path h="1120352" w="1120352">
                <a:moveTo>
                  <a:pt x="0" y="0"/>
                </a:moveTo>
                <a:lnTo>
                  <a:pt x="1120352" y="0"/>
                </a:lnTo>
                <a:lnTo>
                  <a:pt x="1120352" y="1120352"/>
                </a:lnTo>
                <a:lnTo>
                  <a:pt x="0" y="112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359386" y="5275932"/>
            <a:ext cx="1120352" cy="1120352"/>
          </a:xfrm>
          <a:custGeom>
            <a:avLst/>
            <a:gdLst/>
            <a:ahLst/>
            <a:cxnLst/>
            <a:rect r="r" b="b" t="t" l="l"/>
            <a:pathLst>
              <a:path h="1120352" w="1120352">
                <a:moveTo>
                  <a:pt x="0" y="0"/>
                </a:moveTo>
                <a:lnTo>
                  <a:pt x="1120351" y="0"/>
                </a:lnTo>
                <a:lnTo>
                  <a:pt x="1120351" y="1120352"/>
                </a:lnTo>
                <a:lnTo>
                  <a:pt x="0" y="11203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1727512" y="5275932"/>
            <a:ext cx="1094889" cy="1094889"/>
          </a:xfrm>
          <a:custGeom>
            <a:avLst/>
            <a:gdLst/>
            <a:ahLst/>
            <a:cxnLst/>
            <a:rect r="r" b="b" t="t" l="l"/>
            <a:pathLst>
              <a:path h="1094889" w="1094889">
                <a:moveTo>
                  <a:pt x="0" y="0"/>
                </a:moveTo>
                <a:lnTo>
                  <a:pt x="1094889" y="0"/>
                </a:lnTo>
                <a:lnTo>
                  <a:pt x="1094889" y="1094889"/>
                </a:lnTo>
                <a:lnTo>
                  <a:pt x="0" y="109488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4069398" y="5275932"/>
            <a:ext cx="1120352" cy="1120352"/>
          </a:xfrm>
          <a:custGeom>
            <a:avLst/>
            <a:gdLst/>
            <a:ahLst/>
            <a:cxnLst/>
            <a:rect r="r" b="b" t="t" l="l"/>
            <a:pathLst>
              <a:path h="1120352" w="1120352">
                <a:moveTo>
                  <a:pt x="0" y="0"/>
                </a:moveTo>
                <a:lnTo>
                  <a:pt x="1120352" y="0"/>
                </a:lnTo>
                <a:lnTo>
                  <a:pt x="1120352" y="1120352"/>
                </a:lnTo>
                <a:lnTo>
                  <a:pt x="0" y="112035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3160341" y="4605338"/>
            <a:ext cx="12496949" cy="538162"/>
          </a:xfrm>
          <a:prstGeom prst="rect">
            <a:avLst/>
          </a:prstGeom>
        </p:spPr>
        <p:txBody>
          <a:bodyPr anchor="t" rtlCol="false" tIns="0" lIns="0" bIns="0" rIns="0">
            <a:spAutoFit/>
          </a:bodyPr>
          <a:lstStyle/>
          <a:p>
            <a:pPr algn="ctr">
              <a:lnSpc>
                <a:spcPts val="4200"/>
              </a:lnSpc>
              <a:spcBef>
                <a:spcPct val="0"/>
              </a:spcBef>
            </a:pPr>
            <a:r>
              <a:rPr lang="en-US" b="true" sz="3000">
                <a:solidFill>
                  <a:srgbClr val="FFFFFF"/>
                </a:solidFill>
                <a:latin typeface="Bitter Bold"/>
                <a:ea typeface="Bitter Bold"/>
                <a:cs typeface="Bitter Bold"/>
                <a:sym typeface="Bitter Bold"/>
              </a:rPr>
              <a:t>Raw Data ⟶  Data Cleaning ⟶ Embedding ⟶ Models ⟶ Prediction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039662" y="7392924"/>
            <a:ext cx="7315200" cy="3730752"/>
          </a:xfrm>
          <a:custGeom>
            <a:avLst/>
            <a:gdLst/>
            <a:ahLst/>
            <a:cxnLst/>
            <a:rect r="r" b="b" t="t" l="l"/>
            <a:pathLst>
              <a:path h="3730752" w="7315200">
                <a:moveTo>
                  <a:pt x="0" y="0"/>
                </a:moveTo>
                <a:lnTo>
                  <a:pt x="7315200" y="0"/>
                </a:lnTo>
                <a:lnTo>
                  <a:pt x="7315200" y="3730752"/>
                </a:lnTo>
                <a:lnTo>
                  <a:pt x="0" y="3730752"/>
                </a:lnTo>
                <a:lnTo>
                  <a:pt x="0" y="0"/>
                </a:lnTo>
                <a:close/>
              </a:path>
            </a:pathLst>
          </a:custGeom>
          <a:blipFill>
            <a:blip r:embed="rId2">
              <a:extLst>
                <a:ext uri="{96DAC541-7B7A-43D3-8B79-37D633B846F1}">
                  <asvg:svgBlip xmlns:asvg="http://schemas.microsoft.com/office/drawing/2016/SVG/main" r:embed="rId3"/>
                </a:ext>
              </a:extLst>
            </a:blip>
            <a:stretch>
              <a:fillRect l="-24" t="0" r="-24" b="0"/>
            </a:stretch>
          </a:blipFill>
        </p:spPr>
      </p:sp>
      <p:sp>
        <p:nvSpPr>
          <p:cNvPr name="Freeform 3" id="3"/>
          <p:cNvSpPr/>
          <p:nvPr/>
        </p:nvSpPr>
        <p:spPr>
          <a:xfrm flipH="false" flipV="false" rot="0">
            <a:off x="1028700" y="3005521"/>
            <a:ext cx="16339096" cy="6415860"/>
          </a:xfrm>
          <a:custGeom>
            <a:avLst/>
            <a:gdLst/>
            <a:ahLst/>
            <a:cxnLst/>
            <a:rect r="r" b="b" t="t" l="l"/>
            <a:pathLst>
              <a:path h="6415860" w="16339096">
                <a:moveTo>
                  <a:pt x="0" y="0"/>
                </a:moveTo>
                <a:lnTo>
                  <a:pt x="16339096" y="0"/>
                </a:lnTo>
                <a:lnTo>
                  <a:pt x="16339096" y="6415860"/>
                </a:lnTo>
                <a:lnTo>
                  <a:pt x="0" y="64158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408322" y="2538010"/>
            <a:ext cx="5294457" cy="1224343"/>
          </a:xfrm>
          <a:custGeom>
            <a:avLst/>
            <a:gdLst/>
            <a:ahLst/>
            <a:cxnLst/>
            <a:rect r="r" b="b" t="t" l="l"/>
            <a:pathLst>
              <a:path h="1224343" w="5294457">
                <a:moveTo>
                  <a:pt x="0" y="0"/>
                </a:moveTo>
                <a:lnTo>
                  <a:pt x="5294457" y="0"/>
                </a:lnTo>
                <a:lnTo>
                  <a:pt x="5294457" y="1224343"/>
                </a:lnTo>
                <a:lnTo>
                  <a:pt x="0" y="1224343"/>
                </a:lnTo>
                <a:lnTo>
                  <a:pt x="0" y="0"/>
                </a:lnTo>
                <a:close/>
              </a:path>
            </a:pathLst>
          </a:custGeom>
          <a:blipFill>
            <a:blip r:embed="rId6">
              <a:extLst>
                <a:ext uri="{96DAC541-7B7A-43D3-8B79-37D633B846F1}">
                  <asvg:svgBlip xmlns:asvg="http://schemas.microsoft.com/office/drawing/2016/SVG/main" r:embed="rId7"/>
                </a:ext>
              </a:extLst>
            </a:blip>
            <a:stretch>
              <a:fillRect l="0" t="-554" r="0" b="-554"/>
            </a:stretch>
          </a:blipFill>
        </p:spPr>
      </p:sp>
      <p:grpSp>
        <p:nvGrpSpPr>
          <p:cNvPr name="Group 5" id="5"/>
          <p:cNvGrpSpPr/>
          <p:nvPr/>
        </p:nvGrpSpPr>
        <p:grpSpPr>
          <a:xfrm rot="0">
            <a:off x="940250" y="733425"/>
            <a:ext cx="16230600" cy="2073592"/>
            <a:chOff x="0" y="0"/>
            <a:chExt cx="21640800" cy="2764790"/>
          </a:xfrm>
        </p:grpSpPr>
        <p:sp>
          <p:nvSpPr>
            <p:cNvPr name="Freeform 6" id="6"/>
            <p:cNvSpPr/>
            <p:nvPr/>
          </p:nvSpPr>
          <p:spPr>
            <a:xfrm flipH="false" flipV="false" rot="0">
              <a:off x="0" y="0"/>
              <a:ext cx="21640800" cy="2764790"/>
            </a:xfrm>
            <a:custGeom>
              <a:avLst/>
              <a:gdLst/>
              <a:ahLst/>
              <a:cxnLst/>
              <a:rect r="r" b="b" t="t" l="l"/>
              <a:pathLst>
                <a:path h="2764790" w="21640800">
                  <a:moveTo>
                    <a:pt x="0" y="0"/>
                  </a:moveTo>
                  <a:lnTo>
                    <a:pt x="21640800" y="0"/>
                  </a:lnTo>
                  <a:lnTo>
                    <a:pt x="21640800" y="2764790"/>
                  </a:lnTo>
                  <a:lnTo>
                    <a:pt x="0" y="2764790"/>
                  </a:lnTo>
                  <a:close/>
                </a:path>
              </a:pathLst>
            </a:custGeom>
            <a:solidFill>
              <a:srgbClr val="000000">
                <a:alpha val="0"/>
              </a:srgbClr>
            </a:solidFill>
          </p:spPr>
        </p:sp>
        <p:sp>
          <p:nvSpPr>
            <p:cNvPr name="TextBox 7" id="7"/>
            <p:cNvSpPr txBox="true"/>
            <p:nvPr/>
          </p:nvSpPr>
          <p:spPr>
            <a:xfrm>
              <a:off x="0" y="-295275"/>
              <a:ext cx="21640800" cy="3060065"/>
            </a:xfrm>
            <a:prstGeom prst="rect">
              <a:avLst/>
            </a:prstGeom>
          </p:spPr>
          <p:txBody>
            <a:bodyPr anchor="t" rtlCol="false" tIns="0" lIns="0" bIns="0" rIns="0"/>
            <a:lstStyle/>
            <a:p>
              <a:pPr algn="ctr" marL="1619250" indent="-809625" lvl="1">
                <a:lnSpc>
                  <a:spcPts val="10500"/>
                </a:lnSpc>
                <a:buAutoNum type="arabicPeriod" startAt="1"/>
              </a:pPr>
              <a:r>
                <a:rPr lang="en-US" sz="7500">
                  <a:solidFill>
                    <a:srgbClr val="FAD00A"/>
                  </a:solidFill>
                  <a:latin typeface="Pixellet TH"/>
                  <a:ea typeface="Pixellet TH"/>
                  <a:cs typeface="Pixellet TH"/>
                  <a:sym typeface="Pixellet TH"/>
                </a:rPr>
                <a:t>WHat’s the goal?</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039662" y="7392924"/>
            <a:ext cx="7315200" cy="3730752"/>
          </a:xfrm>
          <a:custGeom>
            <a:avLst/>
            <a:gdLst/>
            <a:ahLst/>
            <a:cxnLst/>
            <a:rect r="r" b="b" t="t" l="l"/>
            <a:pathLst>
              <a:path h="3730752" w="7315200">
                <a:moveTo>
                  <a:pt x="0" y="0"/>
                </a:moveTo>
                <a:lnTo>
                  <a:pt x="7315200" y="0"/>
                </a:lnTo>
                <a:lnTo>
                  <a:pt x="7315200" y="3730752"/>
                </a:lnTo>
                <a:lnTo>
                  <a:pt x="0" y="3730752"/>
                </a:lnTo>
                <a:lnTo>
                  <a:pt x="0" y="0"/>
                </a:lnTo>
                <a:close/>
              </a:path>
            </a:pathLst>
          </a:custGeom>
          <a:blipFill>
            <a:blip r:embed="rId2">
              <a:extLst>
                <a:ext uri="{96DAC541-7B7A-43D3-8B79-37D633B846F1}">
                  <asvg:svgBlip xmlns:asvg="http://schemas.microsoft.com/office/drawing/2016/SVG/main" r:embed="rId3"/>
                </a:ext>
              </a:extLst>
            </a:blip>
            <a:stretch>
              <a:fillRect l="-24" t="0" r="-24" b="0"/>
            </a:stretch>
          </a:blipFill>
        </p:spPr>
      </p:sp>
      <p:sp>
        <p:nvSpPr>
          <p:cNvPr name="Freeform 3" id="3"/>
          <p:cNvSpPr/>
          <p:nvPr/>
        </p:nvSpPr>
        <p:spPr>
          <a:xfrm flipH="false" flipV="false" rot="0">
            <a:off x="1028700" y="3005521"/>
            <a:ext cx="16339096" cy="6415860"/>
          </a:xfrm>
          <a:custGeom>
            <a:avLst/>
            <a:gdLst/>
            <a:ahLst/>
            <a:cxnLst/>
            <a:rect r="r" b="b" t="t" l="l"/>
            <a:pathLst>
              <a:path h="6415860" w="16339096">
                <a:moveTo>
                  <a:pt x="0" y="0"/>
                </a:moveTo>
                <a:lnTo>
                  <a:pt x="16339096" y="0"/>
                </a:lnTo>
                <a:lnTo>
                  <a:pt x="16339096" y="6415860"/>
                </a:lnTo>
                <a:lnTo>
                  <a:pt x="0" y="64158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408322" y="2538010"/>
            <a:ext cx="5294457" cy="1224343"/>
          </a:xfrm>
          <a:custGeom>
            <a:avLst/>
            <a:gdLst/>
            <a:ahLst/>
            <a:cxnLst/>
            <a:rect r="r" b="b" t="t" l="l"/>
            <a:pathLst>
              <a:path h="1224343" w="5294457">
                <a:moveTo>
                  <a:pt x="0" y="0"/>
                </a:moveTo>
                <a:lnTo>
                  <a:pt x="5294457" y="0"/>
                </a:lnTo>
                <a:lnTo>
                  <a:pt x="5294457" y="1224343"/>
                </a:lnTo>
                <a:lnTo>
                  <a:pt x="0" y="1224343"/>
                </a:lnTo>
                <a:lnTo>
                  <a:pt x="0" y="0"/>
                </a:lnTo>
                <a:close/>
              </a:path>
            </a:pathLst>
          </a:custGeom>
          <a:blipFill>
            <a:blip r:embed="rId6">
              <a:extLst>
                <a:ext uri="{96DAC541-7B7A-43D3-8B79-37D633B846F1}">
                  <asvg:svgBlip xmlns:asvg="http://schemas.microsoft.com/office/drawing/2016/SVG/main" r:embed="rId7"/>
                </a:ext>
              </a:extLst>
            </a:blip>
            <a:stretch>
              <a:fillRect l="0" t="-554" r="0" b="-554"/>
            </a:stretch>
          </a:blipFill>
        </p:spPr>
      </p:sp>
      <p:grpSp>
        <p:nvGrpSpPr>
          <p:cNvPr name="Group 5" id="5"/>
          <p:cNvGrpSpPr/>
          <p:nvPr/>
        </p:nvGrpSpPr>
        <p:grpSpPr>
          <a:xfrm rot="0">
            <a:off x="940250" y="733425"/>
            <a:ext cx="16230600" cy="2073592"/>
            <a:chOff x="0" y="0"/>
            <a:chExt cx="21640800" cy="2764790"/>
          </a:xfrm>
        </p:grpSpPr>
        <p:sp>
          <p:nvSpPr>
            <p:cNvPr name="Freeform 6" id="6"/>
            <p:cNvSpPr/>
            <p:nvPr/>
          </p:nvSpPr>
          <p:spPr>
            <a:xfrm flipH="false" flipV="false" rot="0">
              <a:off x="0" y="0"/>
              <a:ext cx="21640800" cy="2764790"/>
            </a:xfrm>
            <a:custGeom>
              <a:avLst/>
              <a:gdLst/>
              <a:ahLst/>
              <a:cxnLst/>
              <a:rect r="r" b="b" t="t" l="l"/>
              <a:pathLst>
                <a:path h="2764790" w="21640800">
                  <a:moveTo>
                    <a:pt x="0" y="0"/>
                  </a:moveTo>
                  <a:lnTo>
                    <a:pt x="21640800" y="0"/>
                  </a:lnTo>
                  <a:lnTo>
                    <a:pt x="21640800" y="2764790"/>
                  </a:lnTo>
                  <a:lnTo>
                    <a:pt x="0" y="2764790"/>
                  </a:lnTo>
                  <a:close/>
                </a:path>
              </a:pathLst>
            </a:custGeom>
            <a:solidFill>
              <a:srgbClr val="000000">
                <a:alpha val="0"/>
              </a:srgbClr>
            </a:solidFill>
          </p:spPr>
        </p:sp>
        <p:sp>
          <p:nvSpPr>
            <p:cNvPr name="TextBox 7" id="7"/>
            <p:cNvSpPr txBox="true"/>
            <p:nvPr/>
          </p:nvSpPr>
          <p:spPr>
            <a:xfrm>
              <a:off x="0" y="-295275"/>
              <a:ext cx="21640800" cy="3060065"/>
            </a:xfrm>
            <a:prstGeom prst="rect">
              <a:avLst/>
            </a:prstGeom>
          </p:spPr>
          <p:txBody>
            <a:bodyPr anchor="t" rtlCol="false" tIns="0" lIns="0" bIns="0" rIns="0"/>
            <a:lstStyle/>
            <a:p>
              <a:pPr algn="ctr" marL="1619250" indent="-809625" lvl="1">
                <a:lnSpc>
                  <a:spcPts val="10500"/>
                </a:lnSpc>
                <a:buAutoNum type="arabicPeriod" startAt="1"/>
              </a:pPr>
              <a:r>
                <a:rPr lang="en-US" sz="7500">
                  <a:solidFill>
                    <a:srgbClr val="FAD00A"/>
                  </a:solidFill>
                  <a:latin typeface="Pixellet TH"/>
                  <a:ea typeface="Pixellet TH"/>
                  <a:cs typeface="Pixellet TH"/>
                  <a:sym typeface="Pixellet TH"/>
                </a:rPr>
                <a:t>WHat’s the goal?</a:t>
              </a:r>
            </a:p>
          </p:txBody>
        </p:sp>
      </p:grpSp>
      <p:sp>
        <p:nvSpPr>
          <p:cNvPr name="TextBox 8" id="8"/>
          <p:cNvSpPr txBox="true"/>
          <p:nvPr/>
        </p:nvSpPr>
        <p:spPr>
          <a:xfrm rot="0">
            <a:off x="4350544" y="5019675"/>
            <a:ext cx="9695408" cy="2228215"/>
          </a:xfrm>
          <a:prstGeom prst="rect">
            <a:avLst/>
          </a:prstGeom>
        </p:spPr>
        <p:txBody>
          <a:bodyPr anchor="t" rtlCol="false" tIns="0" lIns="0" bIns="0" rIns="0">
            <a:spAutoFit/>
          </a:bodyPr>
          <a:lstStyle/>
          <a:p>
            <a:pPr algn="ctr">
              <a:lnSpc>
                <a:spcPts val="8959"/>
              </a:lnSpc>
            </a:pPr>
            <a:r>
              <a:rPr lang="en-US" sz="6399" b="true">
                <a:solidFill>
                  <a:srgbClr val="231F20"/>
                </a:solidFill>
                <a:latin typeface="Canva Sans Bold"/>
                <a:ea typeface="Canva Sans Bold"/>
                <a:cs typeface="Canva Sans Bold"/>
                <a:sym typeface="Canva Sans Bold"/>
              </a:rPr>
              <a:t>Predict user ratings</a:t>
            </a:r>
          </a:p>
          <a:p>
            <a:pPr algn="ctr">
              <a:lnSpc>
                <a:spcPts val="8959"/>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028700" y="1076325"/>
            <a:ext cx="16230600" cy="2346112"/>
            <a:chOff x="0" y="0"/>
            <a:chExt cx="21640800" cy="3128149"/>
          </a:xfrm>
        </p:grpSpPr>
        <p:sp>
          <p:nvSpPr>
            <p:cNvPr name="Freeform 3" id="3"/>
            <p:cNvSpPr/>
            <p:nvPr/>
          </p:nvSpPr>
          <p:spPr>
            <a:xfrm flipH="false" flipV="false" rot="0">
              <a:off x="0" y="0"/>
              <a:ext cx="21640800" cy="3128149"/>
            </a:xfrm>
            <a:custGeom>
              <a:avLst/>
              <a:gdLst/>
              <a:ahLst/>
              <a:cxnLst/>
              <a:rect r="r" b="b" t="t" l="l"/>
              <a:pathLst>
                <a:path h="3128149" w="21640800">
                  <a:moveTo>
                    <a:pt x="0" y="0"/>
                  </a:moveTo>
                  <a:lnTo>
                    <a:pt x="21640800" y="0"/>
                  </a:lnTo>
                  <a:lnTo>
                    <a:pt x="21640800" y="3128149"/>
                  </a:lnTo>
                  <a:lnTo>
                    <a:pt x="0" y="3128149"/>
                  </a:lnTo>
                  <a:close/>
                </a:path>
              </a:pathLst>
            </a:custGeom>
            <a:solidFill>
              <a:srgbClr val="000000">
                <a:alpha val="0"/>
              </a:srgbClr>
            </a:solidFill>
          </p:spPr>
        </p:sp>
        <p:sp>
          <p:nvSpPr>
            <p:cNvPr name="TextBox 4" id="4"/>
            <p:cNvSpPr txBox="true"/>
            <p:nvPr/>
          </p:nvSpPr>
          <p:spPr>
            <a:xfrm>
              <a:off x="0" y="47625"/>
              <a:ext cx="21640800" cy="3080524"/>
            </a:xfrm>
            <a:prstGeom prst="rect">
              <a:avLst/>
            </a:prstGeom>
          </p:spPr>
          <p:txBody>
            <a:bodyPr anchor="t" rtlCol="false" tIns="0" lIns="0" bIns="0" rIns="0"/>
            <a:lstStyle/>
            <a:p>
              <a:pPr algn="ctr">
                <a:lnSpc>
                  <a:spcPts val="7904"/>
                </a:lnSpc>
              </a:pPr>
              <a:r>
                <a:rPr lang="en-US" sz="8499">
                  <a:solidFill>
                    <a:srgbClr val="5BC4BD"/>
                  </a:solidFill>
                  <a:latin typeface="Pixellet TH"/>
                  <a:ea typeface="Pixellet TH"/>
                  <a:cs typeface="Pixellet TH"/>
                  <a:sym typeface="Pixellet TH"/>
                </a:rPr>
                <a:t>Data cleaning</a:t>
              </a:r>
            </a:p>
          </p:txBody>
        </p:sp>
      </p:grpSp>
      <p:sp>
        <p:nvSpPr>
          <p:cNvPr name="Freeform 5" id="5"/>
          <p:cNvSpPr/>
          <p:nvPr/>
        </p:nvSpPr>
        <p:spPr>
          <a:xfrm flipH="false" flipV="false" rot="0">
            <a:off x="920204" y="3150182"/>
            <a:ext cx="16339096" cy="6415860"/>
          </a:xfrm>
          <a:custGeom>
            <a:avLst/>
            <a:gdLst/>
            <a:ahLst/>
            <a:cxnLst/>
            <a:rect r="r" b="b" t="t" l="l"/>
            <a:pathLst>
              <a:path h="6415860" w="16339096">
                <a:moveTo>
                  <a:pt x="0" y="0"/>
                </a:moveTo>
                <a:lnTo>
                  <a:pt x="16339096" y="0"/>
                </a:lnTo>
                <a:lnTo>
                  <a:pt x="16339096" y="6415860"/>
                </a:lnTo>
                <a:lnTo>
                  <a:pt x="0" y="64158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514473" y="4315375"/>
            <a:ext cx="14716126" cy="2647587"/>
            <a:chOff x="0" y="0"/>
            <a:chExt cx="19621502" cy="3530116"/>
          </a:xfrm>
        </p:grpSpPr>
        <p:sp>
          <p:nvSpPr>
            <p:cNvPr name="Freeform 7" id="7"/>
            <p:cNvSpPr/>
            <p:nvPr/>
          </p:nvSpPr>
          <p:spPr>
            <a:xfrm flipH="false" flipV="false" rot="0">
              <a:off x="0" y="0"/>
              <a:ext cx="19621502" cy="3530116"/>
            </a:xfrm>
            <a:custGeom>
              <a:avLst/>
              <a:gdLst/>
              <a:ahLst/>
              <a:cxnLst/>
              <a:rect r="r" b="b" t="t" l="l"/>
              <a:pathLst>
                <a:path h="3530116" w="19621502">
                  <a:moveTo>
                    <a:pt x="0" y="0"/>
                  </a:moveTo>
                  <a:lnTo>
                    <a:pt x="19621502" y="0"/>
                  </a:lnTo>
                  <a:lnTo>
                    <a:pt x="19621502" y="3530116"/>
                  </a:lnTo>
                  <a:lnTo>
                    <a:pt x="0" y="3530116"/>
                  </a:lnTo>
                  <a:close/>
                </a:path>
              </a:pathLst>
            </a:custGeom>
            <a:solidFill>
              <a:srgbClr val="000000">
                <a:alpha val="0"/>
              </a:srgbClr>
            </a:solidFill>
          </p:spPr>
        </p:sp>
        <p:sp>
          <p:nvSpPr>
            <p:cNvPr name="TextBox 8" id="8"/>
            <p:cNvSpPr txBox="true"/>
            <p:nvPr/>
          </p:nvSpPr>
          <p:spPr>
            <a:xfrm>
              <a:off x="0" y="-57150"/>
              <a:ext cx="19621502" cy="3587266"/>
            </a:xfrm>
            <a:prstGeom prst="rect">
              <a:avLst/>
            </a:prstGeom>
          </p:spPr>
          <p:txBody>
            <a:bodyPr anchor="t" rtlCol="false" tIns="0" lIns="0" bIns="0" rIns="0"/>
            <a:lstStyle/>
            <a:p>
              <a:pPr algn="l" marL="755434" indent="-377717" lvl="1">
                <a:lnSpc>
                  <a:spcPts val="4898"/>
                </a:lnSpc>
                <a:buFont typeface="Arial"/>
                <a:buChar char="•"/>
              </a:pPr>
              <a:r>
                <a:rPr lang="en-US" b="true" sz="3498">
                  <a:solidFill>
                    <a:srgbClr val="42BEAF"/>
                  </a:solidFill>
                  <a:latin typeface="Bitter Bold"/>
                  <a:ea typeface="Bitter Bold"/>
                  <a:cs typeface="Bitter Bold"/>
                  <a:sym typeface="Bitter Bold"/>
                </a:rPr>
                <a:t>Predictive column</a:t>
              </a:r>
              <a:r>
                <a:rPr lang="en-US" sz="3498">
                  <a:solidFill>
                    <a:srgbClr val="000000"/>
                  </a:solidFill>
                  <a:latin typeface="Bitter"/>
                  <a:ea typeface="Bitter"/>
                  <a:cs typeface="Bitter"/>
                  <a:sym typeface="Bitter"/>
                </a:rPr>
                <a:t>: User Reviews</a:t>
              </a:r>
            </a:p>
            <a:p>
              <a:pPr algn="l" marL="755434" indent="-377717" lvl="1">
                <a:lnSpc>
                  <a:spcPts val="4898"/>
                </a:lnSpc>
                <a:buFont typeface="Arial"/>
                <a:buChar char="•"/>
              </a:pPr>
              <a:r>
                <a:rPr lang="en-US" b="true" sz="3498">
                  <a:solidFill>
                    <a:srgbClr val="42BEAF"/>
                  </a:solidFill>
                  <a:latin typeface="Bitter Bold"/>
                  <a:ea typeface="Bitter Bold"/>
                  <a:cs typeface="Bitter Bold"/>
                  <a:sym typeface="Bitter Bold"/>
                </a:rPr>
                <a:t>What’s used</a:t>
              </a:r>
              <a:r>
                <a:rPr lang="en-US" sz="3498">
                  <a:solidFill>
                    <a:srgbClr val="000000"/>
                  </a:solidFill>
                  <a:latin typeface="Bitter"/>
                  <a:ea typeface="Bitter"/>
                  <a:cs typeface="Bitter"/>
                  <a:sym typeface="Bitter"/>
                </a:rPr>
                <a:t>: Price, game length, soundtrack story and graphic quality.</a:t>
              </a:r>
            </a:p>
            <a:p>
              <a:pPr algn="l" marL="755434" indent="-377717" lvl="1">
                <a:lnSpc>
                  <a:spcPts val="4898"/>
                </a:lnSpc>
                <a:buFont typeface="Arial"/>
                <a:buChar char="•"/>
              </a:pPr>
              <a:r>
                <a:rPr lang="en-US" b="true" sz="3499">
                  <a:solidFill>
                    <a:srgbClr val="42BEAF"/>
                  </a:solidFill>
                  <a:latin typeface="Bitter Bold"/>
                  <a:ea typeface="Bitter Bold"/>
                  <a:cs typeface="Bitter Bold"/>
                  <a:sym typeface="Bitter Bold"/>
                </a:rPr>
                <a:t>What’s cut</a:t>
              </a:r>
              <a:r>
                <a:rPr lang="en-US" sz="3499">
                  <a:solidFill>
                    <a:srgbClr val="000000"/>
                  </a:solidFill>
                  <a:latin typeface="Bitter"/>
                  <a:ea typeface="Bitter"/>
                  <a:cs typeface="Bitter"/>
                  <a:sym typeface="Bitter"/>
                </a:rPr>
                <a:t>: game title, user review text</a:t>
              </a:r>
            </a:p>
          </p:txBody>
        </p:sp>
      </p:grpSp>
      <p:sp>
        <p:nvSpPr>
          <p:cNvPr name="Freeform 9" id="9"/>
          <p:cNvSpPr/>
          <p:nvPr/>
        </p:nvSpPr>
        <p:spPr>
          <a:xfrm flipH="false" flipV="false" rot="-2700000">
            <a:off x="8258099" y="2177854"/>
            <a:ext cx="1771802" cy="1751870"/>
          </a:xfrm>
          <a:custGeom>
            <a:avLst/>
            <a:gdLst/>
            <a:ahLst/>
            <a:cxnLst/>
            <a:rect r="r" b="b" t="t" l="l"/>
            <a:pathLst>
              <a:path h="1751870" w="1771802">
                <a:moveTo>
                  <a:pt x="0" y="0"/>
                </a:moveTo>
                <a:lnTo>
                  <a:pt x="1771802" y="0"/>
                </a:lnTo>
                <a:lnTo>
                  <a:pt x="1771802" y="1751870"/>
                </a:lnTo>
                <a:lnTo>
                  <a:pt x="0" y="1751870"/>
                </a:lnTo>
                <a:lnTo>
                  <a:pt x="0" y="0"/>
                </a:lnTo>
                <a:close/>
              </a:path>
            </a:pathLst>
          </a:custGeom>
          <a:blipFill>
            <a:blip r:embed="rId4">
              <a:extLst>
                <a:ext uri="{96DAC541-7B7A-43D3-8B79-37D633B846F1}">
                  <asvg:svgBlip xmlns:asvg="http://schemas.microsoft.com/office/drawing/2016/SVG/main" r:embed="rId5"/>
                </a:ext>
              </a:extLst>
            </a:blip>
            <a:stretch>
              <a:fillRect l="-243" t="0" r="-243" b="0"/>
            </a:stretch>
          </a:blipFill>
        </p:spPr>
      </p:sp>
      <p:sp>
        <p:nvSpPr>
          <p:cNvPr name="Freeform 10" id="10"/>
          <p:cNvSpPr/>
          <p:nvPr/>
        </p:nvSpPr>
        <p:spPr>
          <a:xfrm flipH="false" flipV="false" rot="-5400000">
            <a:off x="14149791" y="6148791"/>
            <a:ext cx="4161618" cy="4114800"/>
          </a:xfrm>
          <a:custGeom>
            <a:avLst/>
            <a:gdLst/>
            <a:ahLst/>
            <a:cxnLst/>
            <a:rect r="r" b="b" t="t" l="l"/>
            <a:pathLst>
              <a:path h="4114800" w="4161618">
                <a:moveTo>
                  <a:pt x="0" y="0"/>
                </a:moveTo>
                <a:lnTo>
                  <a:pt x="4161618" y="0"/>
                </a:lnTo>
                <a:lnTo>
                  <a:pt x="416161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106" r="0" b="-106"/>
            </a:stretch>
          </a:blipFill>
        </p:spPr>
      </p:sp>
      <p:sp>
        <p:nvSpPr>
          <p:cNvPr name="Freeform 11" id="11"/>
          <p:cNvSpPr/>
          <p:nvPr/>
        </p:nvSpPr>
        <p:spPr>
          <a:xfrm flipH="false" flipV="false" rot="0">
            <a:off x="0" y="6125382"/>
            <a:ext cx="4161618" cy="4114800"/>
          </a:xfrm>
          <a:custGeom>
            <a:avLst/>
            <a:gdLst/>
            <a:ahLst/>
            <a:cxnLst/>
            <a:rect r="r" b="b" t="t" l="l"/>
            <a:pathLst>
              <a:path h="4114800" w="4161618">
                <a:moveTo>
                  <a:pt x="0" y="0"/>
                </a:moveTo>
                <a:lnTo>
                  <a:pt x="4161618" y="0"/>
                </a:lnTo>
                <a:lnTo>
                  <a:pt x="416161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106" r="0" b="-106"/>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5BC4BD"/>
        </a:solidFill>
      </p:bgPr>
    </p:bg>
    <p:spTree>
      <p:nvGrpSpPr>
        <p:cNvPr id="1" name=""/>
        <p:cNvGrpSpPr/>
        <p:nvPr/>
      </p:nvGrpSpPr>
      <p:grpSpPr>
        <a:xfrm>
          <a:off x="0" y="0"/>
          <a:ext cx="0" cy="0"/>
          <a:chOff x="0" y="0"/>
          <a:chExt cx="0" cy="0"/>
        </a:xfrm>
      </p:grpSpPr>
      <p:grpSp>
        <p:nvGrpSpPr>
          <p:cNvPr name="Group 2" id="2"/>
          <p:cNvGrpSpPr/>
          <p:nvPr/>
        </p:nvGrpSpPr>
        <p:grpSpPr>
          <a:xfrm rot="0">
            <a:off x="5221822" y="3652716"/>
            <a:ext cx="8115300" cy="2124167"/>
            <a:chOff x="0" y="0"/>
            <a:chExt cx="10820400" cy="2832222"/>
          </a:xfrm>
        </p:grpSpPr>
        <p:sp>
          <p:nvSpPr>
            <p:cNvPr name="Freeform 3" id="3"/>
            <p:cNvSpPr/>
            <p:nvPr/>
          </p:nvSpPr>
          <p:spPr>
            <a:xfrm flipH="false" flipV="false" rot="0">
              <a:off x="0" y="0"/>
              <a:ext cx="10820400" cy="2832222"/>
            </a:xfrm>
            <a:custGeom>
              <a:avLst/>
              <a:gdLst/>
              <a:ahLst/>
              <a:cxnLst/>
              <a:rect r="r" b="b" t="t" l="l"/>
              <a:pathLst>
                <a:path h="2832222" w="10820400">
                  <a:moveTo>
                    <a:pt x="0" y="0"/>
                  </a:moveTo>
                  <a:lnTo>
                    <a:pt x="10820400" y="0"/>
                  </a:lnTo>
                  <a:lnTo>
                    <a:pt x="10820400" y="2832222"/>
                  </a:lnTo>
                  <a:lnTo>
                    <a:pt x="0" y="2832222"/>
                  </a:lnTo>
                  <a:close/>
                </a:path>
              </a:pathLst>
            </a:custGeom>
            <a:solidFill>
              <a:srgbClr val="000000">
                <a:alpha val="0"/>
              </a:srgbClr>
            </a:solidFill>
          </p:spPr>
        </p:sp>
        <p:sp>
          <p:nvSpPr>
            <p:cNvPr name="TextBox 4" id="4"/>
            <p:cNvSpPr txBox="true"/>
            <p:nvPr/>
          </p:nvSpPr>
          <p:spPr>
            <a:xfrm>
              <a:off x="0" y="57150"/>
              <a:ext cx="10820400" cy="2775072"/>
            </a:xfrm>
            <a:prstGeom prst="rect">
              <a:avLst/>
            </a:prstGeom>
          </p:spPr>
          <p:txBody>
            <a:bodyPr anchor="t" rtlCol="false" tIns="0" lIns="0" bIns="0" rIns="0"/>
            <a:lstStyle/>
            <a:p>
              <a:pPr algn="ctr">
                <a:lnSpc>
                  <a:spcPts val="7160"/>
                </a:lnSpc>
              </a:pPr>
              <a:r>
                <a:rPr lang="en-US" sz="7698">
                  <a:solidFill>
                    <a:srgbClr val="000000"/>
                  </a:solidFill>
                  <a:latin typeface="Pixellet TH"/>
                  <a:ea typeface="Pixellet TH"/>
                  <a:cs typeface="Pixellet TH"/>
                  <a:sym typeface="Pixellet TH"/>
                </a:rPr>
                <a:t> </a:t>
              </a:r>
            </a:p>
          </p:txBody>
        </p:sp>
      </p:grpSp>
      <p:grpSp>
        <p:nvGrpSpPr>
          <p:cNvPr name="Group 5" id="5"/>
          <p:cNvGrpSpPr/>
          <p:nvPr/>
        </p:nvGrpSpPr>
        <p:grpSpPr>
          <a:xfrm rot="0">
            <a:off x="3438732" y="0"/>
            <a:ext cx="11681480" cy="3029042"/>
            <a:chOff x="0" y="0"/>
            <a:chExt cx="15575307" cy="4038722"/>
          </a:xfrm>
        </p:grpSpPr>
        <p:sp>
          <p:nvSpPr>
            <p:cNvPr name="Freeform 6" id="6"/>
            <p:cNvSpPr/>
            <p:nvPr/>
          </p:nvSpPr>
          <p:spPr>
            <a:xfrm flipH="false" flipV="false" rot="0">
              <a:off x="0" y="0"/>
              <a:ext cx="15575307" cy="4038722"/>
            </a:xfrm>
            <a:custGeom>
              <a:avLst/>
              <a:gdLst/>
              <a:ahLst/>
              <a:cxnLst/>
              <a:rect r="r" b="b" t="t" l="l"/>
              <a:pathLst>
                <a:path h="4038722" w="15575307">
                  <a:moveTo>
                    <a:pt x="0" y="0"/>
                  </a:moveTo>
                  <a:lnTo>
                    <a:pt x="15575307" y="0"/>
                  </a:lnTo>
                  <a:lnTo>
                    <a:pt x="15575307" y="4038722"/>
                  </a:lnTo>
                  <a:lnTo>
                    <a:pt x="0" y="4038722"/>
                  </a:lnTo>
                  <a:close/>
                </a:path>
              </a:pathLst>
            </a:custGeom>
            <a:solidFill>
              <a:srgbClr val="000000">
                <a:alpha val="0"/>
              </a:srgbClr>
            </a:solidFill>
          </p:spPr>
        </p:sp>
        <p:sp>
          <p:nvSpPr>
            <p:cNvPr name="TextBox 7" id="7"/>
            <p:cNvSpPr txBox="true"/>
            <p:nvPr/>
          </p:nvSpPr>
          <p:spPr>
            <a:xfrm>
              <a:off x="0" y="57150"/>
              <a:ext cx="15575307" cy="3981572"/>
            </a:xfrm>
            <a:prstGeom prst="rect">
              <a:avLst/>
            </a:prstGeom>
          </p:spPr>
          <p:txBody>
            <a:bodyPr anchor="t" rtlCol="false" tIns="0" lIns="0" bIns="0" rIns="0"/>
            <a:lstStyle/>
            <a:p>
              <a:pPr algn="ctr">
                <a:lnSpc>
                  <a:spcPts val="7160"/>
                </a:lnSpc>
              </a:pPr>
              <a:r>
                <a:rPr lang="en-US" sz="7698">
                  <a:solidFill>
                    <a:srgbClr val="000000"/>
                  </a:solidFill>
                  <a:latin typeface="Pixellet TH"/>
                  <a:ea typeface="Pixellet TH"/>
                  <a:cs typeface="Pixellet TH"/>
                  <a:sym typeface="Pixellet TH"/>
                </a:rPr>
                <a:t>Identifying Column groups </a:t>
              </a:r>
            </a:p>
          </p:txBody>
        </p:sp>
      </p:grpSp>
      <p:sp>
        <p:nvSpPr>
          <p:cNvPr name="Freeform 8" id="8"/>
          <p:cNvSpPr/>
          <p:nvPr/>
        </p:nvSpPr>
        <p:spPr>
          <a:xfrm flipH="false" flipV="false" rot="0">
            <a:off x="834385" y="3029042"/>
            <a:ext cx="16890174" cy="6632251"/>
          </a:xfrm>
          <a:custGeom>
            <a:avLst/>
            <a:gdLst/>
            <a:ahLst/>
            <a:cxnLst/>
            <a:rect r="r" b="b" t="t" l="l"/>
            <a:pathLst>
              <a:path h="6632251" w="16890174">
                <a:moveTo>
                  <a:pt x="0" y="0"/>
                </a:moveTo>
                <a:lnTo>
                  <a:pt x="16890174" y="0"/>
                </a:lnTo>
                <a:lnTo>
                  <a:pt x="16890174" y="6632251"/>
                </a:lnTo>
                <a:lnTo>
                  <a:pt x="0" y="66322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1694463" y="4205636"/>
            <a:ext cx="7054718" cy="4328138"/>
            <a:chOff x="0" y="0"/>
            <a:chExt cx="9406291" cy="5770851"/>
          </a:xfrm>
        </p:grpSpPr>
        <p:sp>
          <p:nvSpPr>
            <p:cNvPr name="Freeform 10" id="10"/>
            <p:cNvSpPr/>
            <p:nvPr/>
          </p:nvSpPr>
          <p:spPr>
            <a:xfrm flipH="false" flipV="false" rot="0">
              <a:off x="0" y="0"/>
              <a:ext cx="9406290" cy="5770851"/>
            </a:xfrm>
            <a:custGeom>
              <a:avLst/>
              <a:gdLst/>
              <a:ahLst/>
              <a:cxnLst/>
              <a:rect r="r" b="b" t="t" l="l"/>
              <a:pathLst>
                <a:path h="5770851" w="9406290">
                  <a:moveTo>
                    <a:pt x="0" y="0"/>
                  </a:moveTo>
                  <a:lnTo>
                    <a:pt x="9406290" y="0"/>
                  </a:lnTo>
                  <a:lnTo>
                    <a:pt x="9406290" y="5770851"/>
                  </a:lnTo>
                  <a:lnTo>
                    <a:pt x="0" y="5770851"/>
                  </a:lnTo>
                  <a:close/>
                </a:path>
              </a:pathLst>
            </a:custGeom>
            <a:solidFill>
              <a:srgbClr val="000000">
                <a:alpha val="0"/>
              </a:srgbClr>
            </a:solidFill>
          </p:spPr>
        </p:sp>
        <p:sp>
          <p:nvSpPr>
            <p:cNvPr name="TextBox 11" id="11"/>
            <p:cNvSpPr txBox="true"/>
            <p:nvPr/>
          </p:nvSpPr>
          <p:spPr>
            <a:xfrm>
              <a:off x="0" y="-57150"/>
              <a:ext cx="9406291" cy="5828001"/>
            </a:xfrm>
            <a:prstGeom prst="rect">
              <a:avLst/>
            </a:prstGeom>
          </p:spPr>
          <p:txBody>
            <a:bodyPr anchor="t" rtlCol="false" tIns="0" lIns="0" bIns="0" rIns="0"/>
            <a:lstStyle/>
            <a:p>
              <a:pPr algn="l" marL="647700" indent="-323850" lvl="1">
                <a:lnSpc>
                  <a:spcPts val="4200"/>
                </a:lnSpc>
                <a:buFont typeface="Arial"/>
                <a:buChar char="•"/>
              </a:pPr>
              <a:r>
                <a:rPr lang="en-US" sz="3000">
                  <a:solidFill>
                    <a:srgbClr val="000000"/>
                  </a:solidFill>
                  <a:latin typeface="Bitter"/>
                  <a:ea typeface="Bitter"/>
                  <a:cs typeface="Bitter"/>
                  <a:sym typeface="Bitter"/>
                </a:rPr>
                <a:t>Target column: </a:t>
              </a:r>
            </a:p>
            <a:p>
              <a:pPr algn="l" marL="1295400" indent="-431800" lvl="2">
                <a:lnSpc>
                  <a:spcPts val="4200"/>
                </a:lnSpc>
                <a:buFont typeface="Arial"/>
                <a:buChar char="⚬"/>
              </a:pPr>
              <a:r>
                <a:rPr lang="en-US" sz="3000">
                  <a:solidFill>
                    <a:srgbClr val="000000"/>
                  </a:solidFill>
                  <a:latin typeface="Bitter"/>
                  <a:ea typeface="Bitter"/>
                  <a:cs typeface="Bitter"/>
                  <a:sym typeface="Bitter"/>
                </a:rPr>
                <a:t>User Rating (continuous output)</a:t>
              </a:r>
            </a:p>
            <a:p>
              <a:pPr algn="l" marL="647700" indent="-323850" lvl="1">
                <a:lnSpc>
                  <a:spcPts val="4200"/>
                </a:lnSpc>
                <a:buFont typeface="Arial"/>
                <a:buChar char="•"/>
              </a:pPr>
              <a:r>
                <a:rPr lang="en-US" sz="3000">
                  <a:solidFill>
                    <a:srgbClr val="000000"/>
                  </a:solidFill>
                  <a:latin typeface="Bitter"/>
                  <a:ea typeface="Bitter"/>
                  <a:cs typeface="Bitter"/>
                  <a:sym typeface="Bitter"/>
                </a:rPr>
                <a:t> Numerical columns:</a:t>
              </a:r>
            </a:p>
            <a:p>
              <a:pPr algn="l" marL="1295400" indent="-431800" lvl="2">
                <a:lnSpc>
                  <a:spcPts val="4200"/>
                </a:lnSpc>
                <a:buFont typeface="Arial"/>
                <a:buChar char="⚬"/>
              </a:pPr>
              <a:r>
                <a:rPr lang="en-US" sz="3000">
                  <a:solidFill>
                    <a:srgbClr val="000000"/>
                  </a:solidFill>
                  <a:latin typeface="Bitter"/>
                  <a:ea typeface="Bitter"/>
                  <a:cs typeface="Bitter"/>
                  <a:sym typeface="Bitter"/>
                </a:rPr>
                <a:t>Price</a:t>
              </a:r>
            </a:p>
            <a:p>
              <a:pPr algn="l" marL="1295400" indent="-431800" lvl="2">
                <a:lnSpc>
                  <a:spcPts val="4200"/>
                </a:lnSpc>
                <a:buFont typeface="Arial"/>
                <a:buChar char="⚬"/>
              </a:pPr>
              <a:r>
                <a:rPr lang="en-US" sz="3000">
                  <a:solidFill>
                    <a:srgbClr val="000000"/>
                  </a:solidFill>
                  <a:latin typeface="Bitter"/>
                  <a:ea typeface="Bitter"/>
                  <a:cs typeface="Bitter"/>
                  <a:sym typeface="Bitter"/>
                </a:rPr>
                <a:t>Release year</a:t>
              </a:r>
            </a:p>
            <a:p>
              <a:pPr algn="l" marL="1295400" indent="-431800" lvl="2">
                <a:lnSpc>
                  <a:spcPts val="4200"/>
                </a:lnSpc>
                <a:buFont typeface="Arial"/>
                <a:buChar char="⚬"/>
              </a:pPr>
              <a:r>
                <a:rPr lang="en-US" sz="3000">
                  <a:solidFill>
                    <a:srgbClr val="000000"/>
                  </a:solidFill>
                  <a:latin typeface="Bitter"/>
                  <a:ea typeface="Bitter"/>
                  <a:cs typeface="Bitter"/>
                  <a:sym typeface="Bitter"/>
                </a:rPr>
                <a:t>Game Length (Hours)</a:t>
              </a:r>
            </a:p>
            <a:p>
              <a:pPr algn="l" marL="1295400" indent="-431800" lvl="2">
                <a:lnSpc>
                  <a:spcPts val="4200"/>
                </a:lnSpc>
                <a:buFont typeface="Arial"/>
                <a:buChar char="⚬"/>
              </a:pPr>
              <a:r>
                <a:rPr lang="en-US" sz="3000">
                  <a:solidFill>
                    <a:srgbClr val="000000"/>
                  </a:solidFill>
                  <a:latin typeface="Bitter"/>
                  <a:ea typeface="Bitter"/>
                  <a:cs typeface="Bitter"/>
                  <a:sym typeface="Bitter"/>
                </a:rPr>
                <a:t>Min number of players</a:t>
              </a:r>
            </a:p>
          </p:txBody>
        </p:sp>
      </p:grpSp>
      <p:grpSp>
        <p:nvGrpSpPr>
          <p:cNvPr name="Group 12" id="12"/>
          <p:cNvGrpSpPr/>
          <p:nvPr/>
        </p:nvGrpSpPr>
        <p:grpSpPr>
          <a:xfrm rot="0">
            <a:off x="8382303" y="3405525"/>
            <a:ext cx="8876997" cy="5928360"/>
            <a:chOff x="0" y="0"/>
            <a:chExt cx="11835996" cy="7904480"/>
          </a:xfrm>
        </p:grpSpPr>
        <p:sp>
          <p:nvSpPr>
            <p:cNvPr name="Freeform 13" id="13"/>
            <p:cNvSpPr/>
            <p:nvPr/>
          </p:nvSpPr>
          <p:spPr>
            <a:xfrm flipH="false" flipV="false" rot="0">
              <a:off x="0" y="0"/>
              <a:ext cx="11835995" cy="7904480"/>
            </a:xfrm>
            <a:custGeom>
              <a:avLst/>
              <a:gdLst/>
              <a:ahLst/>
              <a:cxnLst/>
              <a:rect r="r" b="b" t="t" l="l"/>
              <a:pathLst>
                <a:path h="7904480" w="11835995">
                  <a:moveTo>
                    <a:pt x="0" y="0"/>
                  </a:moveTo>
                  <a:lnTo>
                    <a:pt x="11835995" y="0"/>
                  </a:lnTo>
                  <a:lnTo>
                    <a:pt x="11835995" y="7904480"/>
                  </a:lnTo>
                  <a:lnTo>
                    <a:pt x="0" y="7904480"/>
                  </a:lnTo>
                  <a:close/>
                </a:path>
              </a:pathLst>
            </a:custGeom>
            <a:solidFill>
              <a:srgbClr val="000000">
                <a:alpha val="0"/>
              </a:srgbClr>
            </a:solidFill>
          </p:spPr>
        </p:sp>
        <p:sp>
          <p:nvSpPr>
            <p:cNvPr name="TextBox 14" id="14"/>
            <p:cNvSpPr txBox="true"/>
            <p:nvPr/>
          </p:nvSpPr>
          <p:spPr>
            <a:xfrm>
              <a:off x="0" y="-57150"/>
              <a:ext cx="11835996" cy="7961630"/>
            </a:xfrm>
            <a:prstGeom prst="rect">
              <a:avLst/>
            </a:prstGeom>
          </p:spPr>
          <p:txBody>
            <a:bodyPr anchor="t" rtlCol="false" tIns="0" lIns="0" bIns="0" rIns="0"/>
            <a:lstStyle/>
            <a:p>
              <a:pPr algn="l" marL="647700" indent="-323850" lvl="1">
                <a:lnSpc>
                  <a:spcPts val="4200"/>
                </a:lnSpc>
                <a:buFont typeface="Arial"/>
                <a:buChar char="•"/>
              </a:pPr>
              <a:r>
                <a:rPr lang="en-US" sz="3000">
                  <a:solidFill>
                    <a:srgbClr val="000000"/>
                  </a:solidFill>
                  <a:latin typeface="Bitter"/>
                  <a:ea typeface="Bitter"/>
                  <a:cs typeface="Bitter"/>
                  <a:sym typeface="Bitter"/>
                </a:rPr>
                <a:t>Categorical columns:</a:t>
              </a:r>
            </a:p>
            <a:p>
              <a:pPr algn="l" marL="1295400" indent="-431800" lvl="2">
                <a:lnSpc>
                  <a:spcPts val="4200"/>
                </a:lnSpc>
                <a:buFont typeface="Arial"/>
                <a:buChar char="⚬"/>
              </a:pPr>
              <a:r>
                <a:rPr lang="en-US" sz="3000">
                  <a:solidFill>
                    <a:srgbClr val="000000"/>
                  </a:solidFill>
                  <a:latin typeface="Bitter"/>
                  <a:ea typeface="Bitter"/>
                  <a:cs typeface="Bitter"/>
                  <a:sym typeface="Bitter"/>
                </a:rPr>
                <a:t>Small categorical features:</a:t>
              </a:r>
            </a:p>
            <a:p>
              <a:pPr algn="l" marL="1943100" indent="-485775" lvl="3">
                <a:lnSpc>
                  <a:spcPts val="4200"/>
                </a:lnSpc>
                <a:buFont typeface="Arial"/>
                <a:buChar char="￭"/>
              </a:pPr>
              <a:r>
                <a:rPr lang="en-US" sz="3000">
                  <a:solidFill>
                    <a:srgbClr val="000000"/>
                  </a:solidFill>
                  <a:latin typeface="Bitter"/>
                  <a:ea typeface="Bitter"/>
                  <a:cs typeface="Bitter"/>
                  <a:sym typeface="Bitter"/>
                </a:rPr>
                <a:t>Age Group Targeted</a:t>
              </a:r>
            </a:p>
            <a:p>
              <a:pPr algn="l" marL="1943100" indent="-485775" lvl="3">
                <a:lnSpc>
                  <a:spcPts val="4200"/>
                </a:lnSpc>
                <a:buFont typeface="Arial"/>
                <a:buChar char="￭"/>
              </a:pPr>
              <a:r>
                <a:rPr lang="en-US" sz="3000">
                  <a:solidFill>
                    <a:srgbClr val="000000"/>
                  </a:solidFill>
                  <a:latin typeface="Bitter"/>
                  <a:ea typeface="Bitter"/>
                  <a:cs typeface="Bitter"/>
                  <a:sym typeface="Bitter"/>
                </a:rPr>
                <a:t>Requires Special Device</a:t>
              </a:r>
            </a:p>
            <a:p>
              <a:pPr algn="l" marL="1943100" indent="-485775" lvl="3">
                <a:lnSpc>
                  <a:spcPts val="4200"/>
                </a:lnSpc>
                <a:buFont typeface="Arial"/>
                <a:buChar char="￭"/>
              </a:pPr>
              <a:r>
                <a:rPr lang="en-US" sz="3000">
                  <a:solidFill>
                    <a:srgbClr val="000000"/>
                  </a:solidFill>
                  <a:latin typeface="Bitter"/>
                  <a:ea typeface="Bitter"/>
                  <a:cs typeface="Bitter"/>
                  <a:sym typeface="Bitter"/>
                </a:rPr>
                <a:t>Multiplayer</a:t>
              </a:r>
            </a:p>
            <a:p>
              <a:pPr algn="l" marL="1943100" indent="-485775" lvl="3">
                <a:lnSpc>
                  <a:spcPts val="4200"/>
                </a:lnSpc>
                <a:buFont typeface="Arial"/>
                <a:buChar char="￭"/>
              </a:pPr>
              <a:r>
                <a:rPr lang="en-US" sz="3000">
                  <a:solidFill>
                    <a:srgbClr val="000000"/>
                  </a:solidFill>
                  <a:latin typeface="Bitter"/>
                  <a:ea typeface="Bitter"/>
                  <a:cs typeface="Bitter"/>
                  <a:sym typeface="Bitter"/>
                </a:rPr>
                <a:t>Game Mode</a:t>
              </a:r>
            </a:p>
            <a:p>
              <a:pPr algn="l" marL="1295400" indent="-431800" lvl="2">
                <a:lnSpc>
                  <a:spcPts val="4200"/>
                </a:lnSpc>
                <a:buFont typeface="Arial"/>
                <a:buChar char="⚬"/>
              </a:pPr>
              <a:r>
                <a:rPr lang="en-US" sz="3000">
                  <a:solidFill>
                    <a:srgbClr val="000000"/>
                  </a:solidFill>
                  <a:latin typeface="Bitter"/>
                  <a:ea typeface="Bitter"/>
                  <a:cs typeface="Bitter"/>
                  <a:sym typeface="Bitter"/>
                </a:rPr>
                <a:t>Big Categorical Features:</a:t>
              </a:r>
            </a:p>
            <a:p>
              <a:pPr algn="l" marL="1943100" indent="-485775" lvl="3">
                <a:lnSpc>
                  <a:spcPts val="4200"/>
                </a:lnSpc>
                <a:buFont typeface="Arial"/>
                <a:buChar char="￭"/>
              </a:pPr>
              <a:r>
                <a:rPr lang="en-US" sz="3000">
                  <a:solidFill>
                    <a:srgbClr val="000000"/>
                  </a:solidFill>
                  <a:latin typeface="Bitter"/>
                  <a:ea typeface="Bitter"/>
                  <a:cs typeface="Bitter"/>
                  <a:sym typeface="Bitter"/>
                </a:rPr>
                <a:t>Publisher</a:t>
              </a:r>
            </a:p>
            <a:p>
              <a:pPr algn="l" marL="1943100" indent="-485775" lvl="3">
                <a:lnSpc>
                  <a:spcPts val="4200"/>
                </a:lnSpc>
                <a:buFont typeface="Arial"/>
                <a:buChar char="￭"/>
              </a:pPr>
              <a:r>
                <a:rPr lang="en-US" sz="3000">
                  <a:solidFill>
                    <a:srgbClr val="000000"/>
                  </a:solidFill>
                  <a:latin typeface="Bitter"/>
                  <a:ea typeface="Bitter"/>
                  <a:cs typeface="Bitter"/>
                  <a:sym typeface="Bitter"/>
                </a:rPr>
                <a:t>Genre</a:t>
              </a:r>
            </a:p>
            <a:p>
              <a:pPr algn="l" marL="1943100" indent="-485775" lvl="3">
                <a:lnSpc>
                  <a:spcPts val="4200"/>
                </a:lnSpc>
                <a:buFont typeface="Arial"/>
                <a:buChar char="￭"/>
              </a:pPr>
              <a:r>
                <a:rPr lang="en-US" sz="3000">
                  <a:solidFill>
                    <a:srgbClr val="000000"/>
                  </a:solidFill>
                  <a:latin typeface="Bitter"/>
                  <a:ea typeface="Bitter"/>
                  <a:cs typeface="Bitter"/>
                  <a:sym typeface="Bitter"/>
                </a:rPr>
                <a:t>Platform</a:t>
              </a:r>
            </a:p>
            <a:p>
              <a:pPr algn="l" marL="1943100" indent="-485775" lvl="3">
                <a:lnSpc>
                  <a:spcPts val="4200"/>
                </a:lnSpc>
                <a:buFont typeface="Arial"/>
                <a:buChar char="￭"/>
              </a:pPr>
              <a:r>
                <a:rPr lang="en-US" sz="3000">
                  <a:solidFill>
                    <a:srgbClr val="000000"/>
                  </a:solidFill>
                  <a:latin typeface="Bitter"/>
                  <a:ea typeface="Bitter"/>
                  <a:cs typeface="Bitter"/>
                  <a:sym typeface="Bitter"/>
                </a:rPr>
                <a:t>Developer</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5BC4BD"/>
        </a:solidFill>
      </p:bgPr>
    </p:bg>
    <p:spTree>
      <p:nvGrpSpPr>
        <p:cNvPr id="1" name=""/>
        <p:cNvGrpSpPr/>
        <p:nvPr/>
      </p:nvGrpSpPr>
      <p:grpSpPr>
        <a:xfrm>
          <a:off x="0" y="0"/>
          <a:ext cx="0" cy="0"/>
          <a:chOff x="0" y="0"/>
          <a:chExt cx="0" cy="0"/>
        </a:xfrm>
      </p:grpSpPr>
      <p:grpSp>
        <p:nvGrpSpPr>
          <p:cNvPr name="Group 2" id="2"/>
          <p:cNvGrpSpPr/>
          <p:nvPr/>
        </p:nvGrpSpPr>
        <p:grpSpPr>
          <a:xfrm rot="0">
            <a:off x="421274" y="3628979"/>
            <a:ext cx="7821384" cy="3029042"/>
            <a:chOff x="0" y="0"/>
            <a:chExt cx="10428512" cy="4038722"/>
          </a:xfrm>
        </p:grpSpPr>
        <p:sp>
          <p:nvSpPr>
            <p:cNvPr name="Freeform 3" id="3"/>
            <p:cNvSpPr/>
            <p:nvPr/>
          </p:nvSpPr>
          <p:spPr>
            <a:xfrm flipH="false" flipV="false" rot="0">
              <a:off x="0" y="0"/>
              <a:ext cx="10428512" cy="4038722"/>
            </a:xfrm>
            <a:custGeom>
              <a:avLst/>
              <a:gdLst/>
              <a:ahLst/>
              <a:cxnLst/>
              <a:rect r="r" b="b" t="t" l="l"/>
              <a:pathLst>
                <a:path h="4038722" w="10428512">
                  <a:moveTo>
                    <a:pt x="0" y="0"/>
                  </a:moveTo>
                  <a:lnTo>
                    <a:pt x="10428512" y="0"/>
                  </a:lnTo>
                  <a:lnTo>
                    <a:pt x="10428512" y="4038722"/>
                  </a:lnTo>
                  <a:lnTo>
                    <a:pt x="0" y="4038722"/>
                  </a:lnTo>
                  <a:close/>
                </a:path>
              </a:pathLst>
            </a:custGeom>
            <a:solidFill>
              <a:srgbClr val="000000">
                <a:alpha val="0"/>
              </a:srgbClr>
            </a:solidFill>
          </p:spPr>
        </p:sp>
        <p:sp>
          <p:nvSpPr>
            <p:cNvPr name="TextBox 4" id="4"/>
            <p:cNvSpPr txBox="true"/>
            <p:nvPr/>
          </p:nvSpPr>
          <p:spPr>
            <a:xfrm>
              <a:off x="0" y="57150"/>
              <a:ext cx="10428512" cy="3981572"/>
            </a:xfrm>
            <a:prstGeom prst="rect">
              <a:avLst/>
            </a:prstGeom>
          </p:spPr>
          <p:txBody>
            <a:bodyPr anchor="t" rtlCol="false" tIns="0" lIns="0" bIns="0" rIns="0"/>
            <a:lstStyle/>
            <a:p>
              <a:pPr algn="ctr">
                <a:lnSpc>
                  <a:spcPts val="7160"/>
                </a:lnSpc>
              </a:pPr>
              <a:r>
                <a:rPr lang="en-US" sz="7698">
                  <a:solidFill>
                    <a:srgbClr val="000000"/>
                  </a:solidFill>
                  <a:latin typeface="Pixellet TH"/>
                  <a:ea typeface="Pixellet TH"/>
                  <a:cs typeface="Pixellet TH"/>
                  <a:sym typeface="Pixellet TH"/>
                </a:rPr>
                <a:t>Why </a:t>
              </a:r>
              <a:r>
                <a:rPr lang="en-US" sz="7698">
                  <a:solidFill>
                    <a:srgbClr val="8B031B"/>
                  </a:solidFill>
                  <a:latin typeface="Pixellet TH"/>
                  <a:ea typeface="Pixellet TH"/>
                  <a:cs typeface="Pixellet TH"/>
                  <a:sym typeface="Pixellet TH"/>
                </a:rPr>
                <a:t>embedding</a:t>
              </a:r>
              <a:r>
                <a:rPr lang="en-US" sz="7698">
                  <a:solidFill>
                    <a:srgbClr val="000000"/>
                  </a:solidFill>
                  <a:latin typeface="Pixellet TH"/>
                  <a:ea typeface="Pixellet TH"/>
                  <a:cs typeface="Pixellet TH"/>
                  <a:sym typeface="Pixellet TH"/>
                </a:rPr>
                <a:t>? </a:t>
              </a:r>
            </a:p>
          </p:txBody>
        </p:sp>
      </p:grpSp>
      <p:sp>
        <p:nvSpPr>
          <p:cNvPr name="Freeform 5" id="5"/>
          <p:cNvSpPr/>
          <p:nvPr/>
        </p:nvSpPr>
        <p:spPr>
          <a:xfrm flipH="false" flipV="false" rot="0">
            <a:off x="8382303" y="1388402"/>
            <a:ext cx="9206902" cy="3615267"/>
          </a:xfrm>
          <a:custGeom>
            <a:avLst/>
            <a:gdLst/>
            <a:ahLst/>
            <a:cxnLst/>
            <a:rect r="r" b="b" t="t" l="l"/>
            <a:pathLst>
              <a:path h="3615267" w="9206902">
                <a:moveTo>
                  <a:pt x="0" y="0"/>
                </a:moveTo>
                <a:lnTo>
                  <a:pt x="9206902" y="0"/>
                </a:lnTo>
                <a:lnTo>
                  <a:pt x="9206902" y="3615267"/>
                </a:lnTo>
                <a:lnTo>
                  <a:pt x="0" y="36152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9966250" y="1874034"/>
            <a:ext cx="6329725" cy="2727960"/>
            <a:chOff x="0" y="0"/>
            <a:chExt cx="8439634" cy="3637280"/>
          </a:xfrm>
        </p:grpSpPr>
        <p:sp>
          <p:nvSpPr>
            <p:cNvPr name="Freeform 7" id="7"/>
            <p:cNvSpPr/>
            <p:nvPr/>
          </p:nvSpPr>
          <p:spPr>
            <a:xfrm flipH="false" flipV="false" rot="0">
              <a:off x="0" y="0"/>
              <a:ext cx="8439634" cy="3637280"/>
            </a:xfrm>
            <a:custGeom>
              <a:avLst/>
              <a:gdLst/>
              <a:ahLst/>
              <a:cxnLst/>
              <a:rect r="r" b="b" t="t" l="l"/>
              <a:pathLst>
                <a:path h="3637280" w="8439634">
                  <a:moveTo>
                    <a:pt x="0" y="0"/>
                  </a:moveTo>
                  <a:lnTo>
                    <a:pt x="8439634" y="0"/>
                  </a:lnTo>
                  <a:lnTo>
                    <a:pt x="8439634" y="3637280"/>
                  </a:lnTo>
                  <a:lnTo>
                    <a:pt x="0" y="3637280"/>
                  </a:lnTo>
                  <a:close/>
                </a:path>
              </a:pathLst>
            </a:custGeom>
            <a:solidFill>
              <a:srgbClr val="000000">
                <a:alpha val="0"/>
              </a:srgbClr>
            </a:solidFill>
          </p:spPr>
        </p:sp>
        <p:sp>
          <p:nvSpPr>
            <p:cNvPr name="TextBox 8" id="8"/>
            <p:cNvSpPr txBox="true"/>
            <p:nvPr/>
          </p:nvSpPr>
          <p:spPr>
            <a:xfrm>
              <a:off x="0" y="-57150"/>
              <a:ext cx="8439634" cy="3694430"/>
            </a:xfrm>
            <a:prstGeom prst="rect">
              <a:avLst/>
            </a:prstGeom>
          </p:spPr>
          <p:txBody>
            <a:bodyPr anchor="t" rtlCol="false" tIns="0" lIns="0" bIns="0" rIns="0"/>
            <a:lstStyle/>
            <a:p>
              <a:pPr algn="l">
                <a:lnSpc>
                  <a:spcPts val="4200"/>
                </a:lnSpc>
              </a:pPr>
              <a:r>
                <a:rPr lang="en-US" sz="3000" u="sng">
                  <a:solidFill>
                    <a:srgbClr val="000000"/>
                  </a:solidFill>
                  <a:latin typeface="Bitter"/>
                  <a:ea typeface="Bitter"/>
                  <a:cs typeface="Bitter"/>
                  <a:sym typeface="Bitter"/>
                </a:rPr>
                <a:t>Neural Networks work best with numerical data</a:t>
              </a:r>
              <a:r>
                <a:rPr lang="en-US" sz="3000">
                  <a:solidFill>
                    <a:srgbClr val="000000"/>
                  </a:solidFill>
                  <a:latin typeface="Bitter"/>
                  <a:ea typeface="Bitter"/>
                  <a:cs typeface="Bitter"/>
                  <a:sym typeface="Bitter"/>
                </a:rPr>
                <a:t>, and categorical columns (like Publisher, Genre, etc.) need to be converted into numerical representations.</a:t>
              </a:r>
            </a:p>
          </p:txBody>
        </p:sp>
      </p:grpSp>
      <p:sp>
        <p:nvSpPr>
          <p:cNvPr name="Freeform 9" id="9"/>
          <p:cNvSpPr/>
          <p:nvPr/>
        </p:nvSpPr>
        <p:spPr>
          <a:xfrm flipH="false" flipV="false" rot="0">
            <a:off x="8382303" y="5283331"/>
            <a:ext cx="9206902" cy="3615267"/>
          </a:xfrm>
          <a:custGeom>
            <a:avLst/>
            <a:gdLst/>
            <a:ahLst/>
            <a:cxnLst/>
            <a:rect r="r" b="b" t="t" l="l"/>
            <a:pathLst>
              <a:path h="3615267" w="9206902">
                <a:moveTo>
                  <a:pt x="0" y="0"/>
                </a:moveTo>
                <a:lnTo>
                  <a:pt x="9206902" y="0"/>
                </a:lnTo>
                <a:lnTo>
                  <a:pt x="9206902" y="3615267"/>
                </a:lnTo>
                <a:lnTo>
                  <a:pt x="0" y="36152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8754597" y="5763719"/>
            <a:ext cx="8504703" cy="2654491"/>
            <a:chOff x="0" y="0"/>
            <a:chExt cx="11339604" cy="3539321"/>
          </a:xfrm>
        </p:grpSpPr>
        <p:sp>
          <p:nvSpPr>
            <p:cNvPr name="Freeform 11" id="11"/>
            <p:cNvSpPr/>
            <p:nvPr/>
          </p:nvSpPr>
          <p:spPr>
            <a:xfrm flipH="false" flipV="false" rot="0">
              <a:off x="0" y="0"/>
              <a:ext cx="11339604" cy="3539321"/>
            </a:xfrm>
            <a:custGeom>
              <a:avLst/>
              <a:gdLst/>
              <a:ahLst/>
              <a:cxnLst/>
              <a:rect r="r" b="b" t="t" l="l"/>
              <a:pathLst>
                <a:path h="3539321" w="11339604">
                  <a:moveTo>
                    <a:pt x="0" y="0"/>
                  </a:moveTo>
                  <a:lnTo>
                    <a:pt x="11339604" y="0"/>
                  </a:lnTo>
                  <a:lnTo>
                    <a:pt x="11339604" y="3539321"/>
                  </a:lnTo>
                  <a:lnTo>
                    <a:pt x="0" y="3539321"/>
                  </a:lnTo>
                  <a:close/>
                </a:path>
              </a:pathLst>
            </a:custGeom>
            <a:solidFill>
              <a:srgbClr val="000000">
                <a:alpha val="0"/>
              </a:srgbClr>
            </a:solidFill>
          </p:spPr>
        </p:sp>
        <p:sp>
          <p:nvSpPr>
            <p:cNvPr name="TextBox 12" id="12"/>
            <p:cNvSpPr txBox="true"/>
            <p:nvPr/>
          </p:nvSpPr>
          <p:spPr>
            <a:xfrm>
              <a:off x="0" y="-57150"/>
              <a:ext cx="11339604" cy="3596471"/>
            </a:xfrm>
            <a:prstGeom prst="rect">
              <a:avLst/>
            </a:prstGeom>
          </p:spPr>
          <p:txBody>
            <a:bodyPr anchor="t" rtlCol="false" tIns="0" lIns="0" bIns="0" rIns="0"/>
            <a:lstStyle/>
            <a:p>
              <a:pPr algn="l">
                <a:lnSpc>
                  <a:spcPts val="4060"/>
                </a:lnSpc>
              </a:pPr>
              <a:r>
                <a:rPr lang="en-US" sz="2900" b="true">
                  <a:solidFill>
                    <a:srgbClr val="8B031B"/>
                  </a:solidFill>
                  <a:latin typeface="Bitter Bold"/>
                  <a:ea typeface="Bitter Bold"/>
                  <a:cs typeface="Bitter Bold"/>
                  <a:sym typeface="Bitter Bold"/>
                </a:rPr>
                <a:t>Embeddings </a:t>
              </a:r>
              <a:r>
                <a:rPr lang="en-US" sz="2900">
                  <a:solidFill>
                    <a:srgbClr val="000000"/>
                  </a:solidFill>
                  <a:latin typeface="Bitter"/>
                  <a:ea typeface="Bitter"/>
                  <a:cs typeface="Bitter"/>
                  <a:sym typeface="Bitter"/>
                </a:rPr>
                <a:t>turn large, categorical data (like Platform or Publisher) into smaller, more manageable numbers, while keeping important relationships between them. This helps make the model simpler and more efficient.</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5BC4BD"/>
        </a:solidFill>
      </p:bgPr>
    </p:bg>
    <p:spTree>
      <p:nvGrpSpPr>
        <p:cNvPr id="1" name=""/>
        <p:cNvGrpSpPr/>
        <p:nvPr/>
      </p:nvGrpSpPr>
      <p:grpSpPr>
        <a:xfrm>
          <a:off x="0" y="0"/>
          <a:ext cx="0" cy="0"/>
          <a:chOff x="0" y="0"/>
          <a:chExt cx="0" cy="0"/>
        </a:xfrm>
      </p:grpSpPr>
      <p:sp>
        <p:nvSpPr>
          <p:cNvPr name="Freeform 2" id="2"/>
          <p:cNvSpPr/>
          <p:nvPr/>
        </p:nvSpPr>
        <p:spPr>
          <a:xfrm flipH="false" flipV="false" rot="0">
            <a:off x="2497900" y="1183627"/>
            <a:ext cx="14237746" cy="7919746"/>
          </a:xfrm>
          <a:custGeom>
            <a:avLst/>
            <a:gdLst/>
            <a:ahLst/>
            <a:cxnLst/>
            <a:rect r="r" b="b" t="t" l="l"/>
            <a:pathLst>
              <a:path h="7919746" w="14237746">
                <a:moveTo>
                  <a:pt x="0" y="0"/>
                </a:moveTo>
                <a:lnTo>
                  <a:pt x="14237746" y="0"/>
                </a:lnTo>
                <a:lnTo>
                  <a:pt x="14237746" y="7919746"/>
                </a:lnTo>
                <a:lnTo>
                  <a:pt x="0" y="7919746"/>
                </a:lnTo>
                <a:lnTo>
                  <a:pt x="0" y="0"/>
                </a:lnTo>
                <a:close/>
              </a:path>
            </a:pathLst>
          </a:custGeom>
          <a:blipFill>
            <a:blip r:embed="rId3"/>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3663203" y="3628979"/>
            <a:ext cx="5053422" cy="3029042"/>
            <a:chOff x="0" y="0"/>
            <a:chExt cx="6737896" cy="4038722"/>
          </a:xfrm>
        </p:grpSpPr>
        <p:sp>
          <p:nvSpPr>
            <p:cNvPr name="Freeform 3" id="3"/>
            <p:cNvSpPr/>
            <p:nvPr/>
          </p:nvSpPr>
          <p:spPr>
            <a:xfrm flipH="false" flipV="false" rot="0">
              <a:off x="0" y="0"/>
              <a:ext cx="6737896" cy="4038722"/>
            </a:xfrm>
            <a:custGeom>
              <a:avLst/>
              <a:gdLst/>
              <a:ahLst/>
              <a:cxnLst/>
              <a:rect r="r" b="b" t="t" l="l"/>
              <a:pathLst>
                <a:path h="4038722" w="6737896">
                  <a:moveTo>
                    <a:pt x="0" y="0"/>
                  </a:moveTo>
                  <a:lnTo>
                    <a:pt x="6737896" y="0"/>
                  </a:lnTo>
                  <a:lnTo>
                    <a:pt x="6737896" y="4038722"/>
                  </a:lnTo>
                  <a:lnTo>
                    <a:pt x="0" y="4038722"/>
                  </a:lnTo>
                  <a:close/>
                </a:path>
              </a:pathLst>
            </a:custGeom>
            <a:solidFill>
              <a:srgbClr val="000000">
                <a:alpha val="0"/>
              </a:srgbClr>
            </a:solidFill>
          </p:spPr>
        </p:sp>
        <p:sp>
          <p:nvSpPr>
            <p:cNvPr name="TextBox 4" id="4"/>
            <p:cNvSpPr txBox="true"/>
            <p:nvPr/>
          </p:nvSpPr>
          <p:spPr>
            <a:xfrm>
              <a:off x="0" y="57150"/>
              <a:ext cx="6737896" cy="3981572"/>
            </a:xfrm>
            <a:prstGeom prst="rect">
              <a:avLst/>
            </a:prstGeom>
          </p:spPr>
          <p:txBody>
            <a:bodyPr anchor="t" rtlCol="false" tIns="0" lIns="0" bIns="0" rIns="0"/>
            <a:lstStyle/>
            <a:p>
              <a:pPr algn="ctr">
                <a:lnSpc>
                  <a:spcPts val="7160"/>
                </a:lnSpc>
              </a:pPr>
              <a:r>
                <a:rPr lang="en-US" sz="7698">
                  <a:solidFill>
                    <a:srgbClr val="FAD00A"/>
                  </a:solidFill>
                  <a:latin typeface="Pixellet TH"/>
                  <a:ea typeface="Pixellet TH"/>
                  <a:cs typeface="Pixellet TH"/>
                  <a:sym typeface="Pixellet TH"/>
                </a:rPr>
                <a:t>Key Code</a:t>
              </a:r>
            </a:p>
          </p:txBody>
        </p:sp>
      </p:grpSp>
      <p:grpSp>
        <p:nvGrpSpPr>
          <p:cNvPr name="Group 5" id="5"/>
          <p:cNvGrpSpPr/>
          <p:nvPr/>
        </p:nvGrpSpPr>
        <p:grpSpPr>
          <a:xfrm rot="0">
            <a:off x="3751722" y="2260776"/>
            <a:ext cx="10784556" cy="646431"/>
            <a:chOff x="0" y="0"/>
            <a:chExt cx="14379408" cy="861908"/>
          </a:xfrm>
        </p:grpSpPr>
        <p:sp>
          <p:nvSpPr>
            <p:cNvPr name="Freeform 6" id="6"/>
            <p:cNvSpPr/>
            <p:nvPr/>
          </p:nvSpPr>
          <p:spPr>
            <a:xfrm flipH="false" flipV="false" rot="0">
              <a:off x="0" y="0"/>
              <a:ext cx="14379408" cy="861908"/>
            </a:xfrm>
            <a:custGeom>
              <a:avLst/>
              <a:gdLst/>
              <a:ahLst/>
              <a:cxnLst/>
              <a:rect r="r" b="b" t="t" l="l"/>
              <a:pathLst>
                <a:path h="861908" w="14379408">
                  <a:moveTo>
                    <a:pt x="0" y="0"/>
                  </a:moveTo>
                  <a:lnTo>
                    <a:pt x="14379408" y="0"/>
                  </a:lnTo>
                  <a:lnTo>
                    <a:pt x="14379408" y="861908"/>
                  </a:lnTo>
                  <a:lnTo>
                    <a:pt x="0" y="861908"/>
                  </a:lnTo>
                  <a:close/>
                </a:path>
              </a:pathLst>
            </a:custGeom>
            <a:solidFill>
              <a:srgbClr val="000000">
                <a:alpha val="0"/>
              </a:srgbClr>
            </a:solidFill>
          </p:spPr>
        </p:sp>
        <p:sp>
          <p:nvSpPr>
            <p:cNvPr name="TextBox 7" id="7"/>
            <p:cNvSpPr txBox="true"/>
            <p:nvPr/>
          </p:nvSpPr>
          <p:spPr>
            <a:xfrm>
              <a:off x="0" y="-76200"/>
              <a:ext cx="14379408" cy="938108"/>
            </a:xfrm>
            <a:prstGeom prst="rect">
              <a:avLst/>
            </a:prstGeom>
          </p:spPr>
          <p:txBody>
            <a:bodyPr anchor="t" rtlCol="false" tIns="0" lIns="0" bIns="0" rIns="0"/>
            <a:lstStyle/>
            <a:p>
              <a:pPr algn="ctr">
                <a:lnSpc>
                  <a:spcPts val="5319"/>
                </a:lnSpc>
              </a:pPr>
              <a:r>
                <a:rPr lang="en-US" sz="3799">
                  <a:solidFill>
                    <a:srgbClr val="000000"/>
                  </a:solidFill>
                  <a:latin typeface="Bitter"/>
                  <a:ea typeface="Bitter"/>
                  <a:cs typeface="Bitter"/>
                  <a:sym typeface="Bitter"/>
                </a:rPr>
                <a:t>Binary Code Example:   101001100</a:t>
              </a:r>
            </a:p>
          </p:txBody>
        </p:sp>
      </p:grpSp>
      <p:sp>
        <p:nvSpPr>
          <p:cNvPr name="Freeform 8" id="8"/>
          <p:cNvSpPr/>
          <p:nvPr/>
        </p:nvSpPr>
        <p:spPr>
          <a:xfrm flipH="false" flipV="false" rot="0">
            <a:off x="0" y="0"/>
            <a:ext cx="14617407" cy="10287000"/>
          </a:xfrm>
          <a:custGeom>
            <a:avLst/>
            <a:gdLst/>
            <a:ahLst/>
            <a:cxnLst/>
            <a:rect r="r" b="b" t="t" l="l"/>
            <a:pathLst>
              <a:path h="10287000" w="14617407">
                <a:moveTo>
                  <a:pt x="0" y="0"/>
                </a:moveTo>
                <a:lnTo>
                  <a:pt x="14617407" y="0"/>
                </a:lnTo>
                <a:lnTo>
                  <a:pt x="14617407" y="10287000"/>
                </a:lnTo>
                <a:lnTo>
                  <a:pt x="0" y="10287000"/>
                </a:lnTo>
                <a:lnTo>
                  <a:pt x="0" y="0"/>
                </a:lnTo>
                <a:close/>
              </a:path>
            </a:pathLst>
          </a:custGeom>
          <a:blipFill>
            <a:blip r:embed="rId3"/>
            <a:stretch>
              <a:fillRect l="0" t="0" r="0" b="0"/>
            </a:stretch>
          </a:blipFill>
        </p:spPr>
      </p:sp>
      <p:grpSp>
        <p:nvGrpSpPr>
          <p:cNvPr name="Group 9" id="9"/>
          <p:cNvGrpSpPr/>
          <p:nvPr/>
        </p:nvGrpSpPr>
        <p:grpSpPr>
          <a:xfrm rot="0">
            <a:off x="1778794" y="1314450"/>
            <a:ext cx="10122694" cy="2314529"/>
            <a:chOff x="0" y="0"/>
            <a:chExt cx="2666059" cy="609588"/>
          </a:xfrm>
        </p:grpSpPr>
        <p:sp>
          <p:nvSpPr>
            <p:cNvPr name="Freeform 10" id="10"/>
            <p:cNvSpPr/>
            <p:nvPr/>
          </p:nvSpPr>
          <p:spPr>
            <a:xfrm flipH="false" flipV="false" rot="0">
              <a:off x="0" y="0"/>
              <a:ext cx="2666059" cy="609588"/>
            </a:xfrm>
            <a:custGeom>
              <a:avLst/>
              <a:gdLst/>
              <a:ahLst/>
              <a:cxnLst/>
              <a:rect r="r" b="b" t="t" l="l"/>
              <a:pathLst>
                <a:path h="609588" w="2666059">
                  <a:moveTo>
                    <a:pt x="0" y="0"/>
                  </a:moveTo>
                  <a:lnTo>
                    <a:pt x="2666059" y="0"/>
                  </a:lnTo>
                  <a:lnTo>
                    <a:pt x="2666059" y="609588"/>
                  </a:lnTo>
                  <a:lnTo>
                    <a:pt x="0" y="609588"/>
                  </a:lnTo>
                  <a:close/>
                </a:path>
              </a:pathLst>
            </a:custGeom>
            <a:solidFill>
              <a:srgbClr val="000000">
                <a:alpha val="0"/>
              </a:srgbClr>
            </a:solidFill>
            <a:ln w="76200" cap="sq">
              <a:solidFill>
                <a:srgbClr val="FF0000"/>
              </a:solidFill>
              <a:prstDash val="solid"/>
              <a:miter/>
            </a:ln>
          </p:spPr>
        </p:sp>
        <p:sp>
          <p:nvSpPr>
            <p:cNvPr name="TextBox 11" id="11"/>
            <p:cNvSpPr txBox="true"/>
            <p:nvPr/>
          </p:nvSpPr>
          <p:spPr>
            <a:xfrm>
              <a:off x="0" y="-38100"/>
              <a:ext cx="2666059" cy="647688"/>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3663203" y="3628979"/>
            <a:ext cx="5053422" cy="3029042"/>
            <a:chOff x="0" y="0"/>
            <a:chExt cx="6737896" cy="4038722"/>
          </a:xfrm>
        </p:grpSpPr>
        <p:sp>
          <p:nvSpPr>
            <p:cNvPr name="Freeform 3" id="3"/>
            <p:cNvSpPr/>
            <p:nvPr/>
          </p:nvSpPr>
          <p:spPr>
            <a:xfrm flipH="false" flipV="false" rot="0">
              <a:off x="0" y="0"/>
              <a:ext cx="6737896" cy="4038722"/>
            </a:xfrm>
            <a:custGeom>
              <a:avLst/>
              <a:gdLst/>
              <a:ahLst/>
              <a:cxnLst/>
              <a:rect r="r" b="b" t="t" l="l"/>
              <a:pathLst>
                <a:path h="4038722" w="6737896">
                  <a:moveTo>
                    <a:pt x="0" y="0"/>
                  </a:moveTo>
                  <a:lnTo>
                    <a:pt x="6737896" y="0"/>
                  </a:lnTo>
                  <a:lnTo>
                    <a:pt x="6737896" y="4038722"/>
                  </a:lnTo>
                  <a:lnTo>
                    <a:pt x="0" y="4038722"/>
                  </a:lnTo>
                  <a:close/>
                </a:path>
              </a:pathLst>
            </a:custGeom>
            <a:solidFill>
              <a:srgbClr val="000000">
                <a:alpha val="0"/>
              </a:srgbClr>
            </a:solidFill>
          </p:spPr>
        </p:sp>
        <p:sp>
          <p:nvSpPr>
            <p:cNvPr name="TextBox 4" id="4"/>
            <p:cNvSpPr txBox="true"/>
            <p:nvPr/>
          </p:nvSpPr>
          <p:spPr>
            <a:xfrm>
              <a:off x="0" y="57150"/>
              <a:ext cx="6737896" cy="3981572"/>
            </a:xfrm>
            <a:prstGeom prst="rect">
              <a:avLst/>
            </a:prstGeom>
          </p:spPr>
          <p:txBody>
            <a:bodyPr anchor="t" rtlCol="false" tIns="0" lIns="0" bIns="0" rIns="0"/>
            <a:lstStyle/>
            <a:p>
              <a:pPr algn="ctr">
                <a:lnSpc>
                  <a:spcPts val="7160"/>
                </a:lnSpc>
              </a:pPr>
              <a:r>
                <a:rPr lang="en-US" sz="7698">
                  <a:solidFill>
                    <a:srgbClr val="FAD00A"/>
                  </a:solidFill>
                  <a:latin typeface="Pixellet TH"/>
                  <a:ea typeface="Pixellet TH"/>
                  <a:cs typeface="Pixellet TH"/>
                  <a:sym typeface="Pixellet TH"/>
                </a:rPr>
                <a:t>Key Code</a:t>
              </a:r>
            </a:p>
          </p:txBody>
        </p:sp>
      </p:grpSp>
      <p:grpSp>
        <p:nvGrpSpPr>
          <p:cNvPr name="Group 5" id="5"/>
          <p:cNvGrpSpPr/>
          <p:nvPr/>
        </p:nvGrpSpPr>
        <p:grpSpPr>
          <a:xfrm rot="0">
            <a:off x="3751722" y="2260776"/>
            <a:ext cx="10784556" cy="646431"/>
            <a:chOff x="0" y="0"/>
            <a:chExt cx="14379408" cy="861908"/>
          </a:xfrm>
        </p:grpSpPr>
        <p:sp>
          <p:nvSpPr>
            <p:cNvPr name="Freeform 6" id="6"/>
            <p:cNvSpPr/>
            <p:nvPr/>
          </p:nvSpPr>
          <p:spPr>
            <a:xfrm flipH="false" flipV="false" rot="0">
              <a:off x="0" y="0"/>
              <a:ext cx="14379408" cy="861908"/>
            </a:xfrm>
            <a:custGeom>
              <a:avLst/>
              <a:gdLst/>
              <a:ahLst/>
              <a:cxnLst/>
              <a:rect r="r" b="b" t="t" l="l"/>
              <a:pathLst>
                <a:path h="861908" w="14379408">
                  <a:moveTo>
                    <a:pt x="0" y="0"/>
                  </a:moveTo>
                  <a:lnTo>
                    <a:pt x="14379408" y="0"/>
                  </a:lnTo>
                  <a:lnTo>
                    <a:pt x="14379408" y="861908"/>
                  </a:lnTo>
                  <a:lnTo>
                    <a:pt x="0" y="861908"/>
                  </a:lnTo>
                  <a:close/>
                </a:path>
              </a:pathLst>
            </a:custGeom>
            <a:solidFill>
              <a:srgbClr val="000000">
                <a:alpha val="0"/>
              </a:srgbClr>
            </a:solidFill>
          </p:spPr>
        </p:sp>
        <p:sp>
          <p:nvSpPr>
            <p:cNvPr name="TextBox 7" id="7"/>
            <p:cNvSpPr txBox="true"/>
            <p:nvPr/>
          </p:nvSpPr>
          <p:spPr>
            <a:xfrm>
              <a:off x="0" y="-76200"/>
              <a:ext cx="14379408" cy="938108"/>
            </a:xfrm>
            <a:prstGeom prst="rect">
              <a:avLst/>
            </a:prstGeom>
          </p:spPr>
          <p:txBody>
            <a:bodyPr anchor="t" rtlCol="false" tIns="0" lIns="0" bIns="0" rIns="0"/>
            <a:lstStyle/>
            <a:p>
              <a:pPr algn="ctr">
                <a:lnSpc>
                  <a:spcPts val="5319"/>
                </a:lnSpc>
              </a:pPr>
              <a:r>
                <a:rPr lang="en-US" sz="3799">
                  <a:solidFill>
                    <a:srgbClr val="000000"/>
                  </a:solidFill>
                  <a:latin typeface="Bitter"/>
                  <a:ea typeface="Bitter"/>
                  <a:cs typeface="Bitter"/>
                  <a:sym typeface="Bitter"/>
                </a:rPr>
                <a:t>Binary Code Example:   101001100</a:t>
              </a:r>
            </a:p>
          </p:txBody>
        </p:sp>
      </p:grpSp>
      <p:sp>
        <p:nvSpPr>
          <p:cNvPr name="Freeform 8" id="8"/>
          <p:cNvSpPr/>
          <p:nvPr/>
        </p:nvSpPr>
        <p:spPr>
          <a:xfrm flipH="false" flipV="false" rot="0">
            <a:off x="0" y="0"/>
            <a:ext cx="14617407" cy="10287000"/>
          </a:xfrm>
          <a:custGeom>
            <a:avLst/>
            <a:gdLst/>
            <a:ahLst/>
            <a:cxnLst/>
            <a:rect r="r" b="b" t="t" l="l"/>
            <a:pathLst>
              <a:path h="10287000" w="14617407">
                <a:moveTo>
                  <a:pt x="0" y="0"/>
                </a:moveTo>
                <a:lnTo>
                  <a:pt x="14617407" y="0"/>
                </a:lnTo>
                <a:lnTo>
                  <a:pt x="14617407" y="10287000"/>
                </a:lnTo>
                <a:lnTo>
                  <a:pt x="0" y="10287000"/>
                </a:lnTo>
                <a:lnTo>
                  <a:pt x="0" y="0"/>
                </a:lnTo>
                <a:close/>
              </a:path>
            </a:pathLst>
          </a:custGeom>
          <a:blipFill>
            <a:blip r:embed="rId3"/>
            <a:stretch>
              <a:fillRect l="0" t="0" r="0" b="0"/>
            </a:stretch>
          </a:blipFill>
        </p:spPr>
      </p:sp>
      <p:grpSp>
        <p:nvGrpSpPr>
          <p:cNvPr name="Group 9" id="9"/>
          <p:cNvGrpSpPr/>
          <p:nvPr/>
        </p:nvGrpSpPr>
        <p:grpSpPr>
          <a:xfrm rot="0">
            <a:off x="1707356" y="3600450"/>
            <a:ext cx="12828922" cy="2121694"/>
            <a:chOff x="0" y="0"/>
            <a:chExt cx="3378811" cy="558800"/>
          </a:xfrm>
        </p:grpSpPr>
        <p:sp>
          <p:nvSpPr>
            <p:cNvPr name="Freeform 10" id="10"/>
            <p:cNvSpPr/>
            <p:nvPr/>
          </p:nvSpPr>
          <p:spPr>
            <a:xfrm flipH="false" flipV="false" rot="0">
              <a:off x="0" y="0"/>
              <a:ext cx="3378811" cy="558800"/>
            </a:xfrm>
            <a:custGeom>
              <a:avLst/>
              <a:gdLst/>
              <a:ahLst/>
              <a:cxnLst/>
              <a:rect r="r" b="b" t="t" l="l"/>
              <a:pathLst>
                <a:path h="558800" w="3378811">
                  <a:moveTo>
                    <a:pt x="0" y="0"/>
                  </a:moveTo>
                  <a:lnTo>
                    <a:pt x="3378811" y="0"/>
                  </a:lnTo>
                  <a:lnTo>
                    <a:pt x="3378811" y="558800"/>
                  </a:lnTo>
                  <a:lnTo>
                    <a:pt x="0" y="558800"/>
                  </a:lnTo>
                  <a:close/>
                </a:path>
              </a:pathLst>
            </a:custGeom>
            <a:solidFill>
              <a:srgbClr val="000000">
                <a:alpha val="0"/>
              </a:srgbClr>
            </a:solidFill>
            <a:ln w="76200" cap="sq">
              <a:solidFill>
                <a:srgbClr val="FF0000"/>
              </a:solidFill>
              <a:prstDash val="solid"/>
              <a:miter/>
            </a:ln>
          </p:spPr>
        </p:sp>
        <p:sp>
          <p:nvSpPr>
            <p:cNvPr name="TextBox 11" id="11"/>
            <p:cNvSpPr txBox="true"/>
            <p:nvPr/>
          </p:nvSpPr>
          <p:spPr>
            <a:xfrm>
              <a:off x="0" y="-38100"/>
              <a:ext cx="3378811" cy="5969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3663203" y="3628979"/>
            <a:ext cx="5053422" cy="3029042"/>
            <a:chOff x="0" y="0"/>
            <a:chExt cx="6737896" cy="4038722"/>
          </a:xfrm>
        </p:grpSpPr>
        <p:sp>
          <p:nvSpPr>
            <p:cNvPr name="Freeform 3" id="3"/>
            <p:cNvSpPr/>
            <p:nvPr/>
          </p:nvSpPr>
          <p:spPr>
            <a:xfrm flipH="false" flipV="false" rot="0">
              <a:off x="0" y="0"/>
              <a:ext cx="6737896" cy="4038722"/>
            </a:xfrm>
            <a:custGeom>
              <a:avLst/>
              <a:gdLst/>
              <a:ahLst/>
              <a:cxnLst/>
              <a:rect r="r" b="b" t="t" l="l"/>
              <a:pathLst>
                <a:path h="4038722" w="6737896">
                  <a:moveTo>
                    <a:pt x="0" y="0"/>
                  </a:moveTo>
                  <a:lnTo>
                    <a:pt x="6737896" y="0"/>
                  </a:lnTo>
                  <a:lnTo>
                    <a:pt x="6737896" y="4038722"/>
                  </a:lnTo>
                  <a:lnTo>
                    <a:pt x="0" y="4038722"/>
                  </a:lnTo>
                  <a:close/>
                </a:path>
              </a:pathLst>
            </a:custGeom>
            <a:solidFill>
              <a:srgbClr val="000000">
                <a:alpha val="0"/>
              </a:srgbClr>
            </a:solidFill>
          </p:spPr>
        </p:sp>
        <p:sp>
          <p:nvSpPr>
            <p:cNvPr name="TextBox 4" id="4"/>
            <p:cNvSpPr txBox="true"/>
            <p:nvPr/>
          </p:nvSpPr>
          <p:spPr>
            <a:xfrm>
              <a:off x="0" y="57150"/>
              <a:ext cx="6737896" cy="3981572"/>
            </a:xfrm>
            <a:prstGeom prst="rect">
              <a:avLst/>
            </a:prstGeom>
          </p:spPr>
          <p:txBody>
            <a:bodyPr anchor="t" rtlCol="false" tIns="0" lIns="0" bIns="0" rIns="0"/>
            <a:lstStyle/>
            <a:p>
              <a:pPr algn="ctr">
                <a:lnSpc>
                  <a:spcPts val="7160"/>
                </a:lnSpc>
              </a:pPr>
              <a:r>
                <a:rPr lang="en-US" sz="7698">
                  <a:solidFill>
                    <a:srgbClr val="FAD00A"/>
                  </a:solidFill>
                  <a:latin typeface="Pixellet TH"/>
                  <a:ea typeface="Pixellet TH"/>
                  <a:cs typeface="Pixellet TH"/>
                  <a:sym typeface="Pixellet TH"/>
                </a:rPr>
                <a:t>Key Code</a:t>
              </a:r>
            </a:p>
          </p:txBody>
        </p:sp>
      </p:grpSp>
      <p:grpSp>
        <p:nvGrpSpPr>
          <p:cNvPr name="Group 5" id="5"/>
          <p:cNvGrpSpPr/>
          <p:nvPr/>
        </p:nvGrpSpPr>
        <p:grpSpPr>
          <a:xfrm rot="0">
            <a:off x="3751722" y="2260776"/>
            <a:ext cx="10784556" cy="646431"/>
            <a:chOff x="0" y="0"/>
            <a:chExt cx="14379408" cy="861908"/>
          </a:xfrm>
        </p:grpSpPr>
        <p:sp>
          <p:nvSpPr>
            <p:cNvPr name="Freeform 6" id="6"/>
            <p:cNvSpPr/>
            <p:nvPr/>
          </p:nvSpPr>
          <p:spPr>
            <a:xfrm flipH="false" flipV="false" rot="0">
              <a:off x="0" y="0"/>
              <a:ext cx="14379408" cy="861908"/>
            </a:xfrm>
            <a:custGeom>
              <a:avLst/>
              <a:gdLst/>
              <a:ahLst/>
              <a:cxnLst/>
              <a:rect r="r" b="b" t="t" l="l"/>
              <a:pathLst>
                <a:path h="861908" w="14379408">
                  <a:moveTo>
                    <a:pt x="0" y="0"/>
                  </a:moveTo>
                  <a:lnTo>
                    <a:pt x="14379408" y="0"/>
                  </a:lnTo>
                  <a:lnTo>
                    <a:pt x="14379408" y="861908"/>
                  </a:lnTo>
                  <a:lnTo>
                    <a:pt x="0" y="861908"/>
                  </a:lnTo>
                  <a:close/>
                </a:path>
              </a:pathLst>
            </a:custGeom>
            <a:solidFill>
              <a:srgbClr val="000000">
                <a:alpha val="0"/>
              </a:srgbClr>
            </a:solidFill>
          </p:spPr>
        </p:sp>
        <p:sp>
          <p:nvSpPr>
            <p:cNvPr name="TextBox 7" id="7"/>
            <p:cNvSpPr txBox="true"/>
            <p:nvPr/>
          </p:nvSpPr>
          <p:spPr>
            <a:xfrm>
              <a:off x="0" y="-76200"/>
              <a:ext cx="14379408" cy="938108"/>
            </a:xfrm>
            <a:prstGeom prst="rect">
              <a:avLst/>
            </a:prstGeom>
          </p:spPr>
          <p:txBody>
            <a:bodyPr anchor="t" rtlCol="false" tIns="0" lIns="0" bIns="0" rIns="0"/>
            <a:lstStyle/>
            <a:p>
              <a:pPr algn="ctr">
                <a:lnSpc>
                  <a:spcPts val="5319"/>
                </a:lnSpc>
              </a:pPr>
              <a:r>
                <a:rPr lang="en-US" sz="3799">
                  <a:solidFill>
                    <a:srgbClr val="000000"/>
                  </a:solidFill>
                  <a:latin typeface="Bitter"/>
                  <a:ea typeface="Bitter"/>
                  <a:cs typeface="Bitter"/>
                  <a:sym typeface="Bitter"/>
                </a:rPr>
                <a:t>Binary Code Example:   101001100</a:t>
              </a:r>
            </a:p>
          </p:txBody>
        </p:sp>
      </p:grpSp>
      <p:sp>
        <p:nvSpPr>
          <p:cNvPr name="Freeform 8" id="8"/>
          <p:cNvSpPr/>
          <p:nvPr/>
        </p:nvSpPr>
        <p:spPr>
          <a:xfrm flipH="false" flipV="false" rot="0">
            <a:off x="0" y="0"/>
            <a:ext cx="14617407" cy="10287000"/>
          </a:xfrm>
          <a:custGeom>
            <a:avLst/>
            <a:gdLst/>
            <a:ahLst/>
            <a:cxnLst/>
            <a:rect r="r" b="b" t="t" l="l"/>
            <a:pathLst>
              <a:path h="10287000" w="14617407">
                <a:moveTo>
                  <a:pt x="0" y="0"/>
                </a:moveTo>
                <a:lnTo>
                  <a:pt x="14617407" y="0"/>
                </a:lnTo>
                <a:lnTo>
                  <a:pt x="14617407" y="10287000"/>
                </a:lnTo>
                <a:lnTo>
                  <a:pt x="0" y="10287000"/>
                </a:lnTo>
                <a:lnTo>
                  <a:pt x="0" y="0"/>
                </a:lnTo>
                <a:close/>
              </a:path>
            </a:pathLst>
          </a:custGeom>
          <a:blipFill>
            <a:blip r:embed="rId3"/>
            <a:stretch>
              <a:fillRect l="0" t="0" r="0" b="0"/>
            </a:stretch>
          </a:blipFill>
        </p:spPr>
      </p:sp>
      <p:grpSp>
        <p:nvGrpSpPr>
          <p:cNvPr name="Group 9" id="9"/>
          <p:cNvGrpSpPr/>
          <p:nvPr/>
        </p:nvGrpSpPr>
        <p:grpSpPr>
          <a:xfrm rot="0">
            <a:off x="1707356" y="3600450"/>
            <a:ext cx="12828922" cy="2121694"/>
            <a:chOff x="0" y="0"/>
            <a:chExt cx="3378811" cy="558800"/>
          </a:xfrm>
        </p:grpSpPr>
        <p:sp>
          <p:nvSpPr>
            <p:cNvPr name="Freeform 10" id="10"/>
            <p:cNvSpPr/>
            <p:nvPr/>
          </p:nvSpPr>
          <p:spPr>
            <a:xfrm flipH="false" flipV="false" rot="0">
              <a:off x="0" y="0"/>
              <a:ext cx="3378811" cy="558800"/>
            </a:xfrm>
            <a:custGeom>
              <a:avLst/>
              <a:gdLst/>
              <a:ahLst/>
              <a:cxnLst/>
              <a:rect r="r" b="b" t="t" l="l"/>
              <a:pathLst>
                <a:path h="558800" w="3378811">
                  <a:moveTo>
                    <a:pt x="0" y="0"/>
                  </a:moveTo>
                  <a:lnTo>
                    <a:pt x="3378811" y="0"/>
                  </a:lnTo>
                  <a:lnTo>
                    <a:pt x="3378811" y="558800"/>
                  </a:lnTo>
                  <a:lnTo>
                    <a:pt x="0" y="558800"/>
                  </a:lnTo>
                  <a:close/>
                </a:path>
              </a:pathLst>
            </a:custGeom>
            <a:solidFill>
              <a:srgbClr val="000000">
                <a:alpha val="0"/>
              </a:srgbClr>
            </a:solidFill>
            <a:ln w="76200" cap="sq">
              <a:solidFill>
                <a:srgbClr val="FF0000"/>
              </a:solidFill>
              <a:prstDash val="solid"/>
              <a:miter/>
            </a:ln>
          </p:spPr>
        </p:sp>
        <p:sp>
          <p:nvSpPr>
            <p:cNvPr name="TextBox 11" id="11"/>
            <p:cNvSpPr txBox="true"/>
            <p:nvPr/>
          </p:nvSpPr>
          <p:spPr>
            <a:xfrm>
              <a:off x="0" y="-38100"/>
              <a:ext cx="3378811" cy="5969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2569069" y="1467527"/>
            <a:ext cx="9441169" cy="7351947"/>
          </a:xfrm>
          <a:custGeom>
            <a:avLst/>
            <a:gdLst/>
            <a:ahLst/>
            <a:cxnLst/>
            <a:rect r="r" b="b" t="t" l="l"/>
            <a:pathLst>
              <a:path h="7351947" w="9441169">
                <a:moveTo>
                  <a:pt x="0" y="0"/>
                </a:moveTo>
                <a:lnTo>
                  <a:pt x="9441169" y="0"/>
                </a:lnTo>
                <a:lnTo>
                  <a:pt x="9441169" y="7351946"/>
                </a:lnTo>
                <a:lnTo>
                  <a:pt x="0" y="7351946"/>
                </a:lnTo>
                <a:lnTo>
                  <a:pt x="0" y="0"/>
                </a:lnTo>
                <a:close/>
              </a:path>
            </a:pathLst>
          </a:custGeom>
          <a:blipFill>
            <a:blip r:embed="rId4"/>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9525" y="0"/>
            <a:ext cx="16073438" cy="10287000"/>
          </a:xfrm>
          <a:custGeom>
            <a:avLst/>
            <a:gdLst/>
            <a:ahLst/>
            <a:cxnLst/>
            <a:rect r="r" b="b" t="t" l="l"/>
            <a:pathLst>
              <a:path h="10287000" w="16073438">
                <a:moveTo>
                  <a:pt x="0" y="0"/>
                </a:moveTo>
                <a:lnTo>
                  <a:pt x="16073437" y="0"/>
                </a:lnTo>
                <a:lnTo>
                  <a:pt x="16073437"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3663203" y="3628979"/>
            <a:ext cx="5053422" cy="3029042"/>
            <a:chOff x="0" y="0"/>
            <a:chExt cx="6737896" cy="4038722"/>
          </a:xfrm>
        </p:grpSpPr>
        <p:sp>
          <p:nvSpPr>
            <p:cNvPr name="Freeform 4" id="4"/>
            <p:cNvSpPr/>
            <p:nvPr/>
          </p:nvSpPr>
          <p:spPr>
            <a:xfrm flipH="false" flipV="false" rot="0">
              <a:off x="0" y="0"/>
              <a:ext cx="6737896" cy="4038722"/>
            </a:xfrm>
            <a:custGeom>
              <a:avLst/>
              <a:gdLst/>
              <a:ahLst/>
              <a:cxnLst/>
              <a:rect r="r" b="b" t="t" l="l"/>
              <a:pathLst>
                <a:path h="4038722" w="6737896">
                  <a:moveTo>
                    <a:pt x="0" y="0"/>
                  </a:moveTo>
                  <a:lnTo>
                    <a:pt x="6737896" y="0"/>
                  </a:lnTo>
                  <a:lnTo>
                    <a:pt x="6737896" y="4038722"/>
                  </a:lnTo>
                  <a:lnTo>
                    <a:pt x="0" y="4038722"/>
                  </a:lnTo>
                  <a:close/>
                </a:path>
              </a:pathLst>
            </a:custGeom>
            <a:solidFill>
              <a:srgbClr val="000000">
                <a:alpha val="0"/>
              </a:srgbClr>
            </a:solidFill>
          </p:spPr>
        </p:sp>
        <p:sp>
          <p:nvSpPr>
            <p:cNvPr name="TextBox 5" id="5"/>
            <p:cNvSpPr txBox="true"/>
            <p:nvPr/>
          </p:nvSpPr>
          <p:spPr>
            <a:xfrm>
              <a:off x="0" y="57150"/>
              <a:ext cx="6737896" cy="3981572"/>
            </a:xfrm>
            <a:prstGeom prst="rect">
              <a:avLst/>
            </a:prstGeom>
          </p:spPr>
          <p:txBody>
            <a:bodyPr anchor="t" rtlCol="false" tIns="0" lIns="0" bIns="0" rIns="0"/>
            <a:lstStyle/>
            <a:p>
              <a:pPr algn="ctr">
                <a:lnSpc>
                  <a:spcPts val="7160"/>
                </a:lnSpc>
              </a:pPr>
              <a:r>
                <a:rPr lang="en-US" sz="7698">
                  <a:solidFill>
                    <a:srgbClr val="FAD00A"/>
                  </a:solidFill>
                  <a:latin typeface="Pixellet TH"/>
                  <a:ea typeface="Pixellet TH"/>
                  <a:cs typeface="Pixellet TH"/>
                  <a:sym typeface="Pixellet TH"/>
                </a:rPr>
                <a:t>Key Code</a:t>
              </a:r>
            </a:p>
          </p:txBody>
        </p:sp>
      </p:grpSp>
      <p:grpSp>
        <p:nvGrpSpPr>
          <p:cNvPr name="Group 6" id="6"/>
          <p:cNvGrpSpPr/>
          <p:nvPr/>
        </p:nvGrpSpPr>
        <p:grpSpPr>
          <a:xfrm rot="0">
            <a:off x="635794" y="2771926"/>
            <a:ext cx="4363578" cy="2006943"/>
            <a:chOff x="0" y="0"/>
            <a:chExt cx="1149255" cy="528578"/>
          </a:xfrm>
        </p:grpSpPr>
        <p:sp>
          <p:nvSpPr>
            <p:cNvPr name="Freeform 7" id="7"/>
            <p:cNvSpPr/>
            <p:nvPr/>
          </p:nvSpPr>
          <p:spPr>
            <a:xfrm flipH="false" flipV="false" rot="0">
              <a:off x="0" y="0"/>
              <a:ext cx="1149255" cy="528578"/>
            </a:xfrm>
            <a:custGeom>
              <a:avLst/>
              <a:gdLst/>
              <a:ahLst/>
              <a:cxnLst/>
              <a:rect r="r" b="b" t="t" l="l"/>
              <a:pathLst>
                <a:path h="528578" w="1149255">
                  <a:moveTo>
                    <a:pt x="0" y="0"/>
                  </a:moveTo>
                  <a:lnTo>
                    <a:pt x="1149255" y="0"/>
                  </a:lnTo>
                  <a:lnTo>
                    <a:pt x="1149255" y="528578"/>
                  </a:lnTo>
                  <a:lnTo>
                    <a:pt x="0" y="528578"/>
                  </a:lnTo>
                  <a:close/>
                </a:path>
              </a:pathLst>
            </a:custGeom>
            <a:solidFill>
              <a:srgbClr val="000000">
                <a:alpha val="0"/>
              </a:srgbClr>
            </a:solidFill>
            <a:ln w="76200" cap="sq">
              <a:solidFill>
                <a:srgbClr val="FF0000"/>
              </a:solidFill>
              <a:prstDash val="solid"/>
              <a:miter/>
            </a:ln>
          </p:spPr>
        </p:sp>
        <p:sp>
          <p:nvSpPr>
            <p:cNvPr name="TextBox 8" id="8"/>
            <p:cNvSpPr txBox="true"/>
            <p:nvPr/>
          </p:nvSpPr>
          <p:spPr>
            <a:xfrm>
              <a:off x="0" y="-38100"/>
              <a:ext cx="1149255" cy="566678"/>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5BC4BD"/>
        </a:solidFill>
      </p:bgPr>
    </p:bg>
    <p:spTree>
      <p:nvGrpSpPr>
        <p:cNvPr id="1" name=""/>
        <p:cNvGrpSpPr/>
        <p:nvPr/>
      </p:nvGrpSpPr>
      <p:grpSpPr>
        <a:xfrm>
          <a:off x="0" y="0"/>
          <a:ext cx="0" cy="0"/>
          <a:chOff x="0" y="0"/>
          <a:chExt cx="0" cy="0"/>
        </a:xfrm>
      </p:grpSpPr>
      <p:sp>
        <p:nvSpPr>
          <p:cNvPr name="Freeform 2" id="2"/>
          <p:cNvSpPr/>
          <p:nvPr/>
        </p:nvSpPr>
        <p:spPr>
          <a:xfrm flipH="false" flipV="false" rot="0">
            <a:off x="4567474" y="1694215"/>
            <a:ext cx="8722813" cy="4852065"/>
          </a:xfrm>
          <a:custGeom>
            <a:avLst/>
            <a:gdLst/>
            <a:ahLst/>
            <a:cxnLst/>
            <a:rect r="r" b="b" t="t" l="l"/>
            <a:pathLst>
              <a:path h="4852065" w="8722813">
                <a:moveTo>
                  <a:pt x="0" y="0"/>
                </a:moveTo>
                <a:lnTo>
                  <a:pt x="8722813" y="0"/>
                </a:lnTo>
                <a:lnTo>
                  <a:pt x="8722813" y="4852065"/>
                </a:lnTo>
                <a:lnTo>
                  <a:pt x="0" y="4852065"/>
                </a:lnTo>
                <a:lnTo>
                  <a:pt x="0" y="0"/>
                </a:lnTo>
                <a:close/>
              </a:path>
            </a:pathLst>
          </a:custGeom>
          <a:blipFill>
            <a:blip r:embed="rId3"/>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5BC4BD"/>
        </a:solidFill>
      </p:bgPr>
    </p:bg>
    <p:spTree>
      <p:nvGrpSpPr>
        <p:cNvPr id="1" name=""/>
        <p:cNvGrpSpPr/>
        <p:nvPr/>
      </p:nvGrpSpPr>
      <p:grpSpPr>
        <a:xfrm>
          <a:off x="0" y="0"/>
          <a:ext cx="0" cy="0"/>
          <a:chOff x="0" y="0"/>
          <a:chExt cx="0" cy="0"/>
        </a:xfrm>
      </p:grpSpPr>
      <p:grpSp>
        <p:nvGrpSpPr>
          <p:cNvPr name="Group 2" id="2"/>
          <p:cNvGrpSpPr/>
          <p:nvPr/>
        </p:nvGrpSpPr>
        <p:grpSpPr>
          <a:xfrm rot="0">
            <a:off x="3088140" y="-33383"/>
            <a:ext cx="11681480" cy="2124167"/>
            <a:chOff x="0" y="0"/>
            <a:chExt cx="15575307" cy="2832222"/>
          </a:xfrm>
        </p:grpSpPr>
        <p:sp>
          <p:nvSpPr>
            <p:cNvPr name="Freeform 3" id="3"/>
            <p:cNvSpPr/>
            <p:nvPr/>
          </p:nvSpPr>
          <p:spPr>
            <a:xfrm flipH="false" flipV="false" rot="0">
              <a:off x="0" y="0"/>
              <a:ext cx="15575307" cy="2832222"/>
            </a:xfrm>
            <a:custGeom>
              <a:avLst/>
              <a:gdLst/>
              <a:ahLst/>
              <a:cxnLst/>
              <a:rect r="r" b="b" t="t" l="l"/>
              <a:pathLst>
                <a:path h="2832222" w="15575307">
                  <a:moveTo>
                    <a:pt x="0" y="0"/>
                  </a:moveTo>
                  <a:lnTo>
                    <a:pt x="15575307" y="0"/>
                  </a:lnTo>
                  <a:lnTo>
                    <a:pt x="15575307" y="2832222"/>
                  </a:lnTo>
                  <a:lnTo>
                    <a:pt x="0" y="2832222"/>
                  </a:lnTo>
                  <a:close/>
                </a:path>
              </a:pathLst>
            </a:custGeom>
            <a:solidFill>
              <a:srgbClr val="000000">
                <a:alpha val="0"/>
              </a:srgbClr>
            </a:solidFill>
          </p:spPr>
        </p:sp>
        <p:sp>
          <p:nvSpPr>
            <p:cNvPr name="TextBox 4" id="4"/>
            <p:cNvSpPr txBox="true"/>
            <p:nvPr/>
          </p:nvSpPr>
          <p:spPr>
            <a:xfrm>
              <a:off x="0" y="57150"/>
              <a:ext cx="15575307" cy="2775072"/>
            </a:xfrm>
            <a:prstGeom prst="rect">
              <a:avLst/>
            </a:prstGeom>
          </p:spPr>
          <p:txBody>
            <a:bodyPr anchor="t" rtlCol="false" tIns="0" lIns="0" bIns="0" rIns="0"/>
            <a:lstStyle/>
            <a:p>
              <a:pPr algn="ctr">
                <a:lnSpc>
                  <a:spcPts val="7160"/>
                </a:lnSpc>
              </a:pPr>
              <a:r>
                <a:rPr lang="en-US" sz="7698">
                  <a:solidFill>
                    <a:srgbClr val="000000"/>
                  </a:solidFill>
                  <a:latin typeface="Pixellet TH"/>
                  <a:ea typeface="Pixellet TH"/>
                  <a:cs typeface="Pixellet TH"/>
                  <a:sym typeface="Pixellet TH"/>
                </a:rPr>
                <a:t>Epochs</a:t>
              </a:r>
            </a:p>
          </p:txBody>
        </p:sp>
      </p:grpSp>
      <p:sp>
        <p:nvSpPr>
          <p:cNvPr name="Freeform 5" id="5"/>
          <p:cNvSpPr/>
          <p:nvPr/>
        </p:nvSpPr>
        <p:spPr>
          <a:xfrm flipH="false" flipV="false" rot="0">
            <a:off x="4567474" y="1694215"/>
            <a:ext cx="8722813" cy="4852065"/>
          </a:xfrm>
          <a:custGeom>
            <a:avLst/>
            <a:gdLst/>
            <a:ahLst/>
            <a:cxnLst/>
            <a:rect r="r" b="b" t="t" l="l"/>
            <a:pathLst>
              <a:path h="4852065" w="8722813">
                <a:moveTo>
                  <a:pt x="0" y="0"/>
                </a:moveTo>
                <a:lnTo>
                  <a:pt x="8722813" y="0"/>
                </a:lnTo>
                <a:lnTo>
                  <a:pt x="8722813" y="4852065"/>
                </a:lnTo>
                <a:lnTo>
                  <a:pt x="0" y="4852065"/>
                </a:lnTo>
                <a:lnTo>
                  <a:pt x="0" y="0"/>
                </a:lnTo>
                <a:close/>
              </a:path>
            </a:pathLst>
          </a:custGeom>
          <a:blipFill>
            <a:blip r:embed="rId3"/>
            <a:stretch>
              <a:fillRect l="0" t="0" r="0" b="0"/>
            </a:stretch>
          </a:blipFill>
        </p:spPr>
      </p:sp>
      <p:sp>
        <p:nvSpPr>
          <p:cNvPr name="Freeform 6" id="6"/>
          <p:cNvSpPr/>
          <p:nvPr/>
        </p:nvSpPr>
        <p:spPr>
          <a:xfrm flipH="false" flipV="false" rot="0">
            <a:off x="3301980" y="6678258"/>
            <a:ext cx="11253801" cy="3608742"/>
          </a:xfrm>
          <a:custGeom>
            <a:avLst/>
            <a:gdLst/>
            <a:ahLst/>
            <a:cxnLst/>
            <a:rect r="r" b="b" t="t" l="l"/>
            <a:pathLst>
              <a:path h="3608742" w="11253801">
                <a:moveTo>
                  <a:pt x="0" y="0"/>
                </a:moveTo>
                <a:lnTo>
                  <a:pt x="11253801" y="0"/>
                </a:lnTo>
                <a:lnTo>
                  <a:pt x="11253801" y="3608742"/>
                </a:lnTo>
                <a:lnTo>
                  <a:pt x="0" y="3608742"/>
                </a:lnTo>
                <a:lnTo>
                  <a:pt x="0" y="0"/>
                </a:lnTo>
                <a:close/>
              </a:path>
            </a:pathLst>
          </a:custGeom>
          <a:blipFill>
            <a:blip r:embed="rId4"/>
            <a:stretch>
              <a:fillRect l="0" t="0" r="0" b="0"/>
            </a:stretch>
          </a:blipFill>
        </p:spPr>
      </p:sp>
      <p:grpSp>
        <p:nvGrpSpPr>
          <p:cNvPr name="Group 7" id="7"/>
          <p:cNvGrpSpPr/>
          <p:nvPr/>
        </p:nvGrpSpPr>
        <p:grpSpPr>
          <a:xfrm rot="0">
            <a:off x="3301980" y="6678258"/>
            <a:ext cx="3877912" cy="516640"/>
            <a:chOff x="0" y="0"/>
            <a:chExt cx="1021343" cy="136070"/>
          </a:xfrm>
        </p:grpSpPr>
        <p:sp>
          <p:nvSpPr>
            <p:cNvPr name="Freeform 8" id="8"/>
            <p:cNvSpPr/>
            <p:nvPr/>
          </p:nvSpPr>
          <p:spPr>
            <a:xfrm flipH="false" flipV="false" rot="0">
              <a:off x="0" y="0"/>
              <a:ext cx="1021343" cy="136070"/>
            </a:xfrm>
            <a:custGeom>
              <a:avLst/>
              <a:gdLst/>
              <a:ahLst/>
              <a:cxnLst/>
              <a:rect r="r" b="b" t="t" l="l"/>
              <a:pathLst>
                <a:path h="136070" w="1021343">
                  <a:moveTo>
                    <a:pt x="0" y="0"/>
                  </a:moveTo>
                  <a:lnTo>
                    <a:pt x="1021343" y="0"/>
                  </a:lnTo>
                  <a:lnTo>
                    <a:pt x="1021343" y="136070"/>
                  </a:lnTo>
                  <a:lnTo>
                    <a:pt x="0" y="136070"/>
                  </a:lnTo>
                  <a:close/>
                </a:path>
              </a:pathLst>
            </a:custGeom>
            <a:solidFill>
              <a:srgbClr val="000000">
                <a:alpha val="0"/>
              </a:srgbClr>
            </a:solidFill>
            <a:ln w="76200" cap="sq">
              <a:solidFill>
                <a:srgbClr val="FF0000"/>
              </a:solidFill>
              <a:prstDash val="solid"/>
              <a:miter/>
            </a:ln>
          </p:spPr>
        </p:sp>
        <p:sp>
          <p:nvSpPr>
            <p:cNvPr name="TextBox 9" id="9"/>
            <p:cNvSpPr txBox="true"/>
            <p:nvPr/>
          </p:nvSpPr>
          <p:spPr>
            <a:xfrm>
              <a:off x="0" y="-38100"/>
              <a:ext cx="1021343" cy="174170"/>
            </a:xfrm>
            <a:prstGeom prst="rect">
              <a:avLst/>
            </a:prstGeom>
          </p:spPr>
          <p:txBody>
            <a:bodyPr anchor="ctr" rtlCol="false" tIns="50800" lIns="50800" bIns="50800" rIns="50800"/>
            <a:lstStyle/>
            <a:p>
              <a:pPr algn="ctr">
                <a:lnSpc>
                  <a:spcPts val="2659"/>
                </a:lnSpc>
                <a:spcBef>
                  <a:spcPct val="0"/>
                </a:spcBef>
              </a:pPr>
            </a:p>
          </p:txBody>
        </p:sp>
      </p:grpSp>
      <p:sp>
        <p:nvSpPr>
          <p:cNvPr name="AutoShape 10" id="10"/>
          <p:cNvSpPr/>
          <p:nvPr/>
        </p:nvSpPr>
        <p:spPr>
          <a:xfrm>
            <a:off x="2073082" y="5993455"/>
            <a:ext cx="1228898" cy="980718"/>
          </a:xfrm>
          <a:prstGeom prst="line">
            <a:avLst/>
          </a:prstGeom>
          <a:ln cap="flat" w="38100">
            <a:solidFill>
              <a:srgbClr val="FF0000"/>
            </a:solidFill>
            <a:prstDash val="solid"/>
            <a:headEnd type="none" len="sm" w="sm"/>
            <a:tailEnd type="none" len="sm" w="sm"/>
          </a:ln>
        </p:spPr>
      </p:sp>
      <p:sp>
        <p:nvSpPr>
          <p:cNvPr name="TextBox 11" id="11"/>
          <p:cNvSpPr txBox="true"/>
          <p:nvPr/>
        </p:nvSpPr>
        <p:spPr>
          <a:xfrm rot="0">
            <a:off x="213840" y="4812990"/>
            <a:ext cx="3088140" cy="1180465"/>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Iterate this many times</a:t>
            </a:r>
          </a:p>
        </p:txBody>
      </p:sp>
      <p:sp>
        <p:nvSpPr>
          <p:cNvPr name="AutoShape 12" id="12"/>
          <p:cNvSpPr/>
          <p:nvPr/>
        </p:nvSpPr>
        <p:spPr>
          <a:xfrm>
            <a:off x="5240936" y="2071733"/>
            <a:ext cx="7669402" cy="19050"/>
          </a:xfrm>
          <a:prstGeom prst="line">
            <a:avLst/>
          </a:prstGeom>
          <a:ln cap="flat" w="95250">
            <a:solidFill>
              <a:srgbClr val="FF0000"/>
            </a:solidFill>
            <a:prstDash val="solid"/>
            <a:headEnd type="none" len="sm" w="sm"/>
            <a:tailEnd type="arrow" len="sm" w="med"/>
          </a:ln>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5BC4BD"/>
        </a:solidFill>
      </p:bgPr>
    </p:bg>
    <p:spTree>
      <p:nvGrpSpPr>
        <p:cNvPr id="1" name=""/>
        <p:cNvGrpSpPr/>
        <p:nvPr/>
      </p:nvGrpSpPr>
      <p:grpSpPr>
        <a:xfrm>
          <a:off x="0" y="0"/>
          <a:ext cx="0" cy="0"/>
          <a:chOff x="0" y="0"/>
          <a:chExt cx="0" cy="0"/>
        </a:xfrm>
      </p:grpSpPr>
      <p:grpSp>
        <p:nvGrpSpPr>
          <p:cNvPr name="Group 2" id="2"/>
          <p:cNvGrpSpPr/>
          <p:nvPr/>
        </p:nvGrpSpPr>
        <p:grpSpPr>
          <a:xfrm rot="0">
            <a:off x="3088140" y="-33383"/>
            <a:ext cx="11681480" cy="2124167"/>
            <a:chOff x="0" y="0"/>
            <a:chExt cx="15575307" cy="2832222"/>
          </a:xfrm>
        </p:grpSpPr>
        <p:sp>
          <p:nvSpPr>
            <p:cNvPr name="Freeform 3" id="3"/>
            <p:cNvSpPr/>
            <p:nvPr/>
          </p:nvSpPr>
          <p:spPr>
            <a:xfrm flipH="false" flipV="false" rot="0">
              <a:off x="0" y="0"/>
              <a:ext cx="15575307" cy="2832222"/>
            </a:xfrm>
            <a:custGeom>
              <a:avLst/>
              <a:gdLst/>
              <a:ahLst/>
              <a:cxnLst/>
              <a:rect r="r" b="b" t="t" l="l"/>
              <a:pathLst>
                <a:path h="2832222" w="15575307">
                  <a:moveTo>
                    <a:pt x="0" y="0"/>
                  </a:moveTo>
                  <a:lnTo>
                    <a:pt x="15575307" y="0"/>
                  </a:lnTo>
                  <a:lnTo>
                    <a:pt x="15575307" y="2832222"/>
                  </a:lnTo>
                  <a:lnTo>
                    <a:pt x="0" y="2832222"/>
                  </a:lnTo>
                  <a:close/>
                </a:path>
              </a:pathLst>
            </a:custGeom>
            <a:solidFill>
              <a:srgbClr val="000000">
                <a:alpha val="0"/>
              </a:srgbClr>
            </a:solidFill>
          </p:spPr>
        </p:sp>
        <p:sp>
          <p:nvSpPr>
            <p:cNvPr name="TextBox 4" id="4"/>
            <p:cNvSpPr txBox="true"/>
            <p:nvPr/>
          </p:nvSpPr>
          <p:spPr>
            <a:xfrm>
              <a:off x="0" y="57150"/>
              <a:ext cx="15575307" cy="2775072"/>
            </a:xfrm>
            <a:prstGeom prst="rect">
              <a:avLst/>
            </a:prstGeom>
          </p:spPr>
          <p:txBody>
            <a:bodyPr anchor="t" rtlCol="false" tIns="0" lIns="0" bIns="0" rIns="0"/>
            <a:lstStyle/>
            <a:p>
              <a:pPr algn="ctr">
                <a:lnSpc>
                  <a:spcPts val="7160"/>
                </a:lnSpc>
              </a:pPr>
              <a:r>
                <a:rPr lang="en-US" sz="7698">
                  <a:solidFill>
                    <a:srgbClr val="000000"/>
                  </a:solidFill>
                  <a:latin typeface="Pixellet TH"/>
                  <a:ea typeface="Pixellet TH"/>
                  <a:cs typeface="Pixellet TH"/>
                  <a:sym typeface="Pixellet TH"/>
                </a:rPr>
                <a:t>Epochs</a:t>
              </a:r>
            </a:p>
          </p:txBody>
        </p:sp>
      </p:grpSp>
      <p:sp>
        <p:nvSpPr>
          <p:cNvPr name="Freeform 5" id="5"/>
          <p:cNvSpPr/>
          <p:nvPr/>
        </p:nvSpPr>
        <p:spPr>
          <a:xfrm flipH="false" flipV="false" rot="0">
            <a:off x="4567474" y="1694215"/>
            <a:ext cx="8722813" cy="4852065"/>
          </a:xfrm>
          <a:custGeom>
            <a:avLst/>
            <a:gdLst/>
            <a:ahLst/>
            <a:cxnLst/>
            <a:rect r="r" b="b" t="t" l="l"/>
            <a:pathLst>
              <a:path h="4852065" w="8722813">
                <a:moveTo>
                  <a:pt x="0" y="0"/>
                </a:moveTo>
                <a:lnTo>
                  <a:pt x="8722813" y="0"/>
                </a:lnTo>
                <a:lnTo>
                  <a:pt x="8722813" y="4852065"/>
                </a:lnTo>
                <a:lnTo>
                  <a:pt x="0" y="4852065"/>
                </a:lnTo>
                <a:lnTo>
                  <a:pt x="0" y="0"/>
                </a:lnTo>
                <a:close/>
              </a:path>
            </a:pathLst>
          </a:custGeom>
          <a:blipFill>
            <a:blip r:embed="rId3"/>
            <a:stretch>
              <a:fillRect l="0" t="0" r="0" b="0"/>
            </a:stretch>
          </a:blipFill>
        </p:spPr>
      </p:sp>
      <p:sp>
        <p:nvSpPr>
          <p:cNvPr name="Freeform 6" id="6"/>
          <p:cNvSpPr/>
          <p:nvPr/>
        </p:nvSpPr>
        <p:spPr>
          <a:xfrm flipH="false" flipV="false" rot="0">
            <a:off x="3301980" y="6678258"/>
            <a:ext cx="11253801" cy="3608742"/>
          </a:xfrm>
          <a:custGeom>
            <a:avLst/>
            <a:gdLst/>
            <a:ahLst/>
            <a:cxnLst/>
            <a:rect r="r" b="b" t="t" l="l"/>
            <a:pathLst>
              <a:path h="3608742" w="11253801">
                <a:moveTo>
                  <a:pt x="0" y="0"/>
                </a:moveTo>
                <a:lnTo>
                  <a:pt x="11253801" y="0"/>
                </a:lnTo>
                <a:lnTo>
                  <a:pt x="11253801" y="3608742"/>
                </a:lnTo>
                <a:lnTo>
                  <a:pt x="0" y="3608742"/>
                </a:lnTo>
                <a:lnTo>
                  <a:pt x="0" y="0"/>
                </a:lnTo>
                <a:close/>
              </a:path>
            </a:pathLst>
          </a:custGeom>
          <a:blipFill>
            <a:blip r:embed="rId4"/>
            <a:stretch>
              <a:fillRect l="0" t="0" r="0" b="0"/>
            </a:stretch>
          </a:blipFill>
        </p:spPr>
      </p:sp>
      <p:grpSp>
        <p:nvGrpSpPr>
          <p:cNvPr name="Group 7" id="7"/>
          <p:cNvGrpSpPr/>
          <p:nvPr/>
        </p:nvGrpSpPr>
        <p:grpSpPr>
          <a:xfrm rot="0">
            <a:off x="3759648" y="6974173"/>
            <a:ext cx="10796132" cy="1301214"/>
            <a:chOff x="0" y="0"/>
            <a:chExt cx="2843426" cy="342707"/>
          </a:xfrm>
        </p:grpSpPr>
        <p:sp>
          <p:nvSpPr>
            <p:cNvPr name="Freeform 8" id="8"/>
            <p:cNvSpPr/>
            <p:nvPr/>
          </p:nvSpPr>
          <p:spPr>
            <a:xfrm flipH="false" flipV="false" rot="0">
              <a:off x="0" y="0"/>
              <a:ext cx="2843426" cy="342707"/>
            </a:xfrm>
            <a:custGeom>
              <a:avLst/>
              <a:gdLst/>
              <a:ahLst/>
              <a:cxnLst/>
              <a:rect r="r" b="b" t="t" l="l"/>
              <a:pathLst>
                <a:path h="342707" w="2843426">
                  <a:moveTo>
                    <a:pt x="0" y="0"/>
                  </a:moveTo>
                  <a:lnTo>
                    <a:pt x="2843426" y="0"/>
                  </a:lnTo>
                  <a:lnTo>
                    <a:pt x="2843426" y="342707"/>
                  </a:lnTo>
                  <a:lnTo>
                    <a:pt x="0" y="342707"/>
                  </a:lnTo>
                  <a:close/>
                </a:path>
              </a:pathLst>
            </a:custGeom>
            <a:solidFill>
              <a:srgbClr val="000000">
                <a:alpha val="0"/>
              </a:srgbClr>
            </a:solidFill>
            <a:ln w="76200" cap="sq">
              <a:solidFill>
                <a:srgbClr val="FF0000"/>
              </a:solidFill>
              <a:prstDash val="solid"/>
              <a:miter/>
            </a:ln>
          </p:spPr>
        </p:sp>
        <p:sp>
          <p:nvSpPr>
            <p:cNvPr name="TextBox 9" id="9"/>
            <p:cNvSpPr txBox="true"/>
            <p:nvPr/>
          </p:nvSpPr>
          <p:spPr>
            <a:xfrm>
              <a:off x="0" y="-38100"/>
              <a:ext cx="2843426" cy="380807"/>
            </a:xfrm>
            <a:prstGeom prst="rect">
              <a:avLst/>
            </a:prstGeom>
          </p:spPr>
          <p:txBody>
            <a:bodyPr anchor="ctr" rtlCol="false" tIns="50800" lIns="50800" bIns="50800" rIns="50800"/>
            <a:lstStyle/>
            <a:p>
              <a:pPr algn="ctr">
                <a:lnSpc>
                  <a:spcPts val="2659"/>
                </a:lnSpc>
                <a:spcBef>
                  <a:spcPct val="0"/>
                </a:spcBef>
              </a:pPr>
            </a:p>
          </p:txBody>
        </p:sp>
      </p:grpSp>
      <p:sp>
        <p:nvSpPr>
          <p:cNvPr name="AutoShape 10" id="10"/>
          <p:cNvSpPr/>
          <p:nvPr/>
        </p:nvSpPr>
        <p:spPr>
          <a:xfrm>
            <a:off x="2073082" y="5993455"/>
            <a:ext cx="1719257" cy="1631325"/>
          </a:xfrm>
          <a:prstGeom prst="line">
            <a:avLst/>
          </a:prstGeom>
          <a:ln cap="flat" w="38100">
            <a:solidFill>
              <a:srgbClr val="FF0000"/>
            </a:solidFill>
            <a:prstDash val="solid"/>
            <a:headEnd type="none" len="sm" w="sm"/>
            <a:tailEnd type="none" len="sm" w="sm"/>
          </a:ln>
        </p:spPr>
      </p:sp>
      <p:sp>
        <p:nvSpPr>
          <p:cNvPr name="TextBox 11" id="11"/>
          <p:cNvSpPr txBox="true"/>
          <p:nvPr/>
        </p:nvSpPr>
        <p:spPr>
          <a:xfrm rot="0">
            <a:off x="213840" y="4812990"/>
            <a:ext cx="3088140" cy="1180465"/>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Bringing the data together</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5BC4BD"/>
        </a:solidFill>
      </p:bgPr>
    </p:bg>
    <p:spTree>
      <p:nvGrpSpPr>
        <p:cNvPr id="1" name=""/>
        <p:cNvGrpSpPr/>
        <p:nvPr/>
      </p:nvGrpSpPr>
      <p:grpSpPr>
        <a:xfrm>
          <a:off x="0" y="0"/>
          <a:ext cx="0" cy="0"/>
          <a:chOff x="0" y="0"/>
          <a:chExt cx="0" cy="0"/>
        </a:xfrm>
      </p:grpSpPr>
      <p:grpSp>
        <p:nvGrpSpPr>
          <p:cNvPr name="Group 2" id="2"/>
          <p:cNvGrpSpPr/>
          <p:nvPr/>
        </p:nvGrpSpPr>
        <p:grpSpPr>
          <a:xfrm rot="0">
            <a:off x="3088140" y="-33383"/>
            <a:ext cx="11681480" cy="2124167"/>
            <a:chOff x="0" y="0"/>
            <a:chExt cx="15575307" cy="2832222"/>
          </a:xfrm>
        </p:grpSpPr>
        <p:sp>
          <p:nvSpPr>
            <p:cNvPr name="Freeform 3" id="3"/>
            <p:cNvSpPr/>
            <p:nvPr/>
          </p:nvSpPr>
          <p:spPr>
            <a:xfrm flipH="false" flipV="false" rot="0">
              <a:off x="0" y="0"/>
              <a:ext cx="15575307" cy="2832222"/>
            </a:xfrm>
            <a:custGeom>
              <a:avLst/>
              <a:gdLst/>
              <a:ahLst/>
              <a:cxnLst/>
              <a:rect r="r" b="b" t="t" l="l"/>
              <a:pathLst>
                <a:path h="2832222" w="15575307">
                  <a:moveTo>
                    <a:pt x="0" y="0"/>
                  </a:moveTo>
                  <a:lnTo>
                    <a:pt x="15575307" y="0"/>
                  </a:lnTo>
                  <a:lnTo>
                    <a:pt x="15575307" y="2832222"/>
                  </a:lnTo>
                  <a:lnTo>
                    <a:pt x="0" y="2832222"/>
                  </a:lnTo>
                  <a:close/>
                </a:path>
              </a:pathLst>
            </a:custGeom>
            <a:solidFill>
              <a:srgbClr val="000000">
                <a:alpha val="0"/>
              </a:srgbClr>
            </a:solidFill>
          </p:spPr>
        </p:sp>
        <p:sp>
          <p:nvSpPr>
            <p:cNvPr name="TextBox 4" id="4"/>
            <p:cNvSpPr txBox="true"/>
            <p:nvPr/>
          </p:nvSpPr>
          <p:spPr>
            <a:xfrm>
              <a:off x="0" y="57150"/>
              <a:ext cx="15575307" cy="2775072"/>
            </a:xfrm>
            <a:prstGeom prst="rect">
              <a:avLst/>
            </a:prstGeom>
          </p:spPr>
          <p:txBody>
            <a:bodyPr anchor="t" rtlCol="false" tIns="0" lIns="0" bIns="0" rIns="0"/>
            <a:lstStyle/>
            <a:p>
              <a:pPr algn="ctr">
                <a:lnSpc>
                  <a:spcPts val="7160"/>
                </a:lnSpc>
              </a:pPr>
              <a:r>
                <a:rPr lang="en-US" sz="7698">
                  <a:solidFill>
                    <a:srgbClr val="000000"/>
                  </a:solidFill>
                  <a:latin typeface="Pixellet TH"/>
                  <a:ea typeface="Pixellet TH"/>
                  <a:cs typeface="Pixellet TH"/>
                  <a:sym typeface="Pixellet TH"/>
                </a:rPr>
                <a:t>Epochs</a:t>
              </a:r>
            </a:p>
          </p:txBody>
        </p:sp>
      </p:grpSp>
      <p:sp>
        <p:nvSpPr>
          <p:cNvPr name="Freeform 5" id="5"/>
          <p:cNvSpPr/>
          <p:nvPr/>
        </p:nvSpPr>
        <p:spPr>
          <a:xfrm flipH="false" flipV="false" rot="0">
            <a:off x="4567474" y="1694215"/>
            <a:ext cx="8722813" cy="4852065"/>
          </a:xfrm>
          <a:custGeom>
            <a:avLst/>
            <a:gdLst/>
            <a:ahLst/>
            <a:cxnLst/>
            <a:rect r="r" b="b" t="t" l="l"/>
            <a:pathLst>
              <a:path h="4852065" w="8722813">
                <a:moveTo>
                  <a:pt x="0" y="0"/>
                </a:moveTo>
                <a:lnTo>
                  <a:pt x="8722813" y="0"/>
                </a:lnTo>
                <a:lnTo>
                  <a:pt x="8722813" y="4852065"/>
                </a:lnTo>
                <a:lnTo>
                  <a:pt x="0" y="4852065"/>
                </a:lnTo>
                <a:lnTo>
                  <a:pt x="0" y="0"/>
                </a:lnTo>
                <a:close/>
              </a:path>
            </a:pathLst>
          </a:custGeom>
          <a:blipFill>
            <a:blip r:embed="rId3"/>
            <a:stretch>
              <a:fillRect l="0" t="0" r="0" b="0"/>
            </a:stretch>
          </a:blipFill>
        </p:spPr>
      </p:sp>
      <p:sp>
        <p:nvSpPr>
          <p:cNvPr name="Freeform 6" id="6"/>
          <p:cNvSpPr/>
          <p:nvPr/>
        </p:nvSpPr>
        <p:spPr>
          <a:xfrm flipH="false" flipV="false" rot="0">
            <a:off x="3301980" y="6678258"/>
            <a:ext cx="11253801" cy="3608742"/>
          </a:xfrm>
          <a:custGeom>
            <a:avLst/>
            <a:gdLst/>
            <a:ahLst/>
            <a:cxnLst/>
            <a:rect r="r" b="b" t="t" l="l"/>
            <a:pathLst>
              <a:path h="3608742" w="11253801">
                <a:moveTo>
                  <a:pt x="0" y="0"/>
                </a:moveTo>
                <a:lnTo>
                  <a:pt x="11253801" y="0"/>
                </a:lnTo>
                <a:lnTo>
                  <a:pt x="11253801" y="3608742"/>
                </a:lnTo>
                <a:lnTo>
                  <a:pt x="0" y="3608742"/>
                </a:lnTo>
                <a:lnTo>
                  <a:pt x="0" y="0"/>
                </a:lnTo>
                <a:close/>
              </a:path>
            </a:pathLst>
          </a:custGeom>
          <a:blipFill>
            <a:blip r:embed="rId4"/>
            <a:stretch>
              <a:fillRect l="0" t="0" r="0" b="0"/>
            </a:stretch>
          </a:blipFill>
        </p:spPr>
      </p:sp>
      <p:grpSp>
        <p:nvGrpSpPr>
          <p:cNvPr name="Group 7" id="7"/>
          <p:cNvGrpSpPr/>
          <p:nvPr/>
        </p:nvGrpSpPr>
        <p:grpSpPr>
          <a:xfrm rot="0">
            <a:off x="4567474" y="8194901"/>
            <a:ext cx="4130695" cy="505463"/>
            <a:chOff x="0" y="0"/>
            <a:chExt cx="1087920" cy="133126"/>
          </a:xfrm>
        </p:grpSpPr>
        <p:sp>
          <p:nvSpPr>
            <p:cNvPr name="Freeform 8" id="8"/>
            <p:cNvSpPr/>
            <p:nvPr/>
          </p:nvSpPr>
          <p:spPr>
            <a:xfrm flipH="false" flipV="false" rot="0">
              <a:off x="0" y="0"/>
              <a:ext cx="1087920" cy="133126"/>
            </a:xfrm>
            <a:custGeom>
              <a:avLst/>
              <a:gdLst/>
              <a:ahLst/>
              <a:cxnLst/>
              <a:rect r="r" b="b" t="t" l="l"/>
              <a:pathLst>
                <a:path h="133126" w="1087920">
                  <a:moveTo>
                    <a:pt x="0" y="0"/>
                  </a:moveTo>
                  <a:lnTo>
                    <a:pt x="1087920" y="0"/>
                  </a:lnTo>
                  <a:lnTo>
                    <a:pt x="1087920" y="133126"/>
                  </a:lnTo>
                  <a:lnTo>
                    <a:pt x="0" y="133126"/>
                  </a:lnTo>
                  <a:close/>
                </a:path>
              </a:pathLst>
            </a:custGeom>
            <a:solidFill>
              <a:srgbClr val="000000">
                <a:alpha val="0"/>
              </a:srgbClr>
            </a:solidFill>
            <a:ln w="76200" cap="sq">
              <a:solidFill>
                <a:srgbClr val="FF0000"/>
              </a:solidFill>
              <a:prstDash val="solid"/>
              <a:miter/>
            </a:ln>
          </p:spPr>
        </p:sp>
        <p:sp>
          <p:nvSpPr>
            <p:cNvPr name="TextBox 9" id="9"/>
            <p:cNvSpPr txBox="true"/>
            <p:nvPr/>
          </p:nvSpPr>
          <p:spPr>
            <a:xfrm>
              <a:off x="0" y="-38100"/>
              <a:ext cx="1087920" cy="171226"/>
            </a:xfrm>
            <a:prstGeom prst="rect">
              <a:avLst/>
            </a:prstGeom>
          </p:spPr>
          <p:txBody>
            <a:bodyPr anchor="ctr" rtlCol="false" tIns="50800" lIns="50800" bIns="50800" rIns="50800"/>
            <a:lstStyle/>
            <a:p>
              <a:pPr algn="ctr">
                <a:lnSpc>
                  <a:spcPts val="2659"/>
                </a:lnSpc>
                <a:spcBef>
                  <a:spcPct val="0"/>
                </a:spcBef>
              </a:pPr>
            </a:p>
          </p:txBody>
        </p:sp>
      </p:grpSp>
      <p:sp>
        <p:nvSpPr>
          <p:cNvPr name="AutoShape 10" id="10"/>
          <p:cNvSpPr/>
          <p:nvPr/>
        </p:nvSpPr>
        <p:spPr>
          <a:xfrm>
            <a:off x="2073082" y="5993455"/>
            <a:ext cx="2494392" cy="2454178"/>
          </a:xfrm>
          <a:prstGeom prst="line">
            <a:avLst/>
          </a:prstGeom>
          <a:ln cap="flat" w="38100">
            <a:solidFill>
              <a:srgbClr val="FF0000"/>
            </a:solidFill>
            <a:prstDash val="solid"/>
            <a:headEnd type="none" len="sm" w="sm"/>
            <a:tailEnd type="none" len="sm" w="sm"/>
          </a:ln>
        </p:spPr>
      </p:sp>
      <p:sp>
        <p:nvSpPr>
          <p:cNvPr name="TextBox 11" id="11"/>
          <p:cNvSpPr txBox="true"/>
          <p:nvPr/>
        </p:nvSpPr>
        <p:spPr>
          <a:xfrm rot="0">
            <a:off x="213840" y="4812990"/>
            <a:ext cx="3088140" cy="1180465"/>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Create Prediction</a:t>
            </a:r>
          </a:p>
        </p:txBody>
      </p:sp>
      <p:grpSp>
        <p:nvGrpSpPr>
          <p:cNvPr name="Group 12" id="12"/>
          <p:cNvGrpSpPr/>
          <p:nvPr/>
        </p:nvGrpSpPr>
        <p:grpSpPr>
          <a:xfrm rot="0">
            <a:off x="12058198" y="3480996"/>
            <a:ext cx="1057793" cy="980170"/>
            <a:chOff x="0" y="0"/>
            <a:chExt cx="278596" cy="258152"/>
          </a:xfrm>
        </p:grpSpPr>
        <p:sp>
          <p:nvSpPr>
            <p:cNvPr name="Freeform 13" id="13"/>
            <p:cNvSpPr/>
            <p:nvPr/>
          </p:nvSpPr>
          <p:spPr>
            <a:xfrm flipH="false" flipV="false" rot="0">
              <a:off x="0" y="0"/>
              <a:ext cx="278596" cy="258152"/>
            </a:xfrm>
            <a:custGeom>
              <a:avLst/>
              <a:gdLst/>
              <a:ahLst/>
              <a:cxnLst/>
              <a:rect r="r" b="b" t="t" l="l"/>
              <a:pathLst>
                <a:path h="258152" w="278596">
                  <a:moveTo>
                    <a:pt x="0" y="0"/>
                  </a:moveTo>
                  <a:lnTo>
                    <a:pt x="278596" y="0"/>
                  </a:lnTo>
                  <a:lnTo>
                    <a:pt x="278596" y="258152"/>
                  </a:lnTo>
                  <a:lnTo>
                    <a:pt x="0" y="258152"/>
                  </a:lnTo>
                  <a:close/>
                </a:path>
              </a:pathLst>
            </a:custGeom>
            <a:solidFill>
              <a:srgbClr val="000000">
                <a:alpha val="0"/>
              </a:srgbClr>
            </a:solidFill>
            <a:ln w="95250" cap="sq">
              <a:solidFill>
                <a:srgbClr val="FF0000"/>
              </a:solidFill>
              <a:prstDash val="solid"/>
              <a:miter/>
            </a:ln>
          </p:spPr>
        </p:sp>
        <p:sp>
          <p:nvSpPr>
            <p:cNvPr name="TextBox 14" id="14"/>
            <p:cNvSpPr txBox="true"/>
            <p:nvPr/>
          </p:nvSpPr>
          <p:spPr>
            <a:xfrm>
              <a:off x="0" y="-38100"/>
              <a:ext cx="278596" cy="296252"/>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5BC4BD"/>
        </a:solidFill>
      </p:bgPr>
    </p:bg>
    <p:spTree>
      <p:nvGrpSpPr>
        <p:cNvPr id="1" name=""/>
        <p:cNvGrpSpPr/>
        <p:nvPr/>
      </p:nvGrpSpPr>
      <p:grpSpPr>
        <a:xfrm>
          <a:off x="0" y="0"/>
          <a:ext cx="0" cy="0"/>
          <a:chOff x="0" y="0"/>
          <a:chExt cx="0" cy="0"/>
        </a:xfrm>
      </p:grpSpPr>
      <p:grpSp>
        <p:nvGrpSpPr>
          <p:cNvPr name="Group 2" id="2"/>
          <p:cNvGrpSpPr/>
          <p:nvPr/>
        </p:nvGrpSpPr>
        <p:grpSpPr>
          <a:xfrm rot="0">
            <a:off x="3088140" y="-33383"/>
            <a:ext cx="11681480" cy="2124167"/>
            <a:chOff x="0" y="0"/>
            <a:chExt cx="15575307" cy="2832222"/>
          </a:xfrm>
        </p:grpSpPr>
        <p:sp>
          <p:nvSpPr>
            <p:cNvPr name="Freeform 3" id="3"/>
            <p:cNvSpPr/>
            <p:nvPr/>
          </p:nvSpPr>
          <p:spPr>
            <a:xfrm flipH="false" flipV="false" rot="0">
              <a:off x="0" y="0"/>
              <a:ext cx="15575307" cy="2832222"/>
            </a:xfrm>
            <a:custGeom>
              <a:avLst/>
              <a:gdLst/>
              <a:ahLst/>
              <a:cxnLst/>
              <a:rect r="r" b="b" t="t" l="l"/>
              <a:pathLst>
                <a:path h="2832222" w="15575307">
                  <a:moveTo>
                    <a:pt x="0" y="0"/>
                  </a:moveTo>
                  <a:lnTo>
                    <a:pt x="15575307" y="0"/>
                  </a:lnTo>
                  <a:lnTo>
                    <a:pt x="15575307" y="2832222"/>
                  </a:lnTo>
                  <a:lnTo>
                    <a:pt x="0" y="2832222"/>
                  </a:lnTo>
                  <a:close/>
                </a:path>
              </a:pathLst>
            </a:custGeom>
            <a:solidFill>
              <a:srgbClr val="000000">
                <a:alpha val="0"/>
              </a:srgbClr>
            </a:solidFill>
          </p:spPr>
        </p:sp>
        <p:sp>
          <p:nvSpPr>
            <p:cNvPr name="TextBox 4" id="4"/>
            <p:cNvSpPr txBox="true"/>
            <p:nvPr/>
          </p:nvSpPr>
          <p:spPr>
            <a:xfrm>
              <a:off x="0" y="57150"/>
              <a:ext cx="15575307" cy="2775072"/>
            </a:xfrm>
            <a:prstGeom prst="rect">
              <a:avLst/>
            </a:prstGeom>
          </p:spPr>
          <p:txBody>
            <a:bodyPr anchor="t" rtlCol="false" tIns="0" lIns="0" bIns="0" rIns="0"/>
            <a:lstStyle/>
            <a:p>
              <a:pPr algn="ctr">
                <a:lnSpc>
                  <a:spcPts val="7160"/>
                </a:lnSpc>
              </a:pPr>
              <a:r>
                <a:rPr lang="en-US" sz="7698">
                  <a:solidFill>
                    <a:srgbClr val="000000"/>
                  </a:solidFill>
                  <a:latin typeface="Pixellet TH"/>
                  <a:ea typeface="Pixellet TH"/>
                  <a:cs typeface="Pixellet TH"/>
                  <a:sym typeface="Pixellet TH"/>
                </a:rPr>
                <a:t>Epochs</a:t>
              </a:r>
            </a:p>
          </p:txBody>
        </p:sp>
      </p:grpSp>
      <p:sp>
        <p:nvSpPr>
          <p:cNvPr name="Freeform 5" id="5"/>
          <p:cNvSpPr/>
          <p:nvPr/>
        </p:nvSpPr>
        <p:spPr>
          <a:xfrm flipH="false" flipV="false" rot="0">
            <a:off x="4567474" y="1694215"/>
            <a:ext cx="8722813" cy="4852065"/>
          </a:xfrm>
          <a:custGeom>
            <a:avLst/>
            <a:gdLst/>
            <a:ahLst/>
            <a:cxnLst/>
            <a:rect r="r" b="b" t="t" l="l"/>
            <a:pathLst>
              <a:path h="4852065" w="8722813">
                <a:moveTo>
                  <a:pt x="0" y="0"/>
                </a:moveTo>
                <a:lnTo>
                  <a:pt x="8722813" y="0"/>
                </a:lnTo>
                <a:lnTo>
                  <a:pt x="8722813" y="4852065"/>
                </a:lnTo>
                <a:lnTo>
                  <a:pt x="0" y="4852065"/>
                </a:lnTo>
                <a:lnTo>
                  <a:pt x="0" y="0"/>
                </a:lnTo>
                <a:close/>
              </a:path>
            </a:pathLst>
          </a:custGeom>
          <a:blipFill>
            <a:blip r:embed="rId3"/>
            <a:stretch>
              <a:fillRect l="0" t="0" r="0" b="0"/>
            </a:stretch>
          </a:blipFill>
        </p:spPr>
      </p:sp>
      <p:sp>
        <p:nvSpPr>
          <p:cNvPr name="Freeform 6" id="6"/>
          <p:cNvSpPr/>
          <p:nvPr/>
        </p:nvSpPr>
        <p:spPr>
          <a:xfrm flipH="false" flipV="false" rot="0">
            <a:off x="3301980" y="6678258"/>
            <a:ext cx="11253801" cy="3608742"/>
          </a:xfrm>
          <a:custGeom>
            <a:avLst/>
            <a:gdLst/>
            <a:ahLst/>
            <a:cxnLst/>
            <a:rect r="r" b="b" t="t" l="l"/>
            <a:pathLst>
              <a:path h="3608742" w="11253801">
                <a:moveTo>
                  <a:pt x="0" y="0"/>
                </a:moveTo>
                <a:lnTo>
                  <a:pt x="11253801" y="0"/>
                </a:lnTo>
                <a:lnTo>
                  <a:pt x="11253801" y="3608742"/>
                </a:lnTo>
                <a:lnTo>
                  <a:pt x="0" y="3608742"/>
                </a:lnTo>
                <a:lnTo>
                  <a:pt x="0" y="0"/>
                </a:lnTo>
                <a:close/>
              </a:path>
            </a:pathLst>
          </a:custGeom>
          <a:blipFill>
            <a:blip r:embed="rId4"/>
            <a:stretch>
              <a:fillRect l="0" t="0" r="0" b="0"/>
            </a:stretch>
          </a:blipFill>
        </p:spPr>
      </p:sp>
      <p:grpSp>
        <p:nvGrpSpPr>
          <p:cNvPr name="Group 7" id="7"/>
          <p:cNvGrpSpPr/>
          <p:nvPr/>
        </p:nvGrpSpPr>
        <p:grpSpPr>
          <a:xfrm rot="0">
            <a:off x="4567474" y="8594801"/>
            <a:ext cx="4361407" cy="544972"/>
            <a:chOff x="0" y="0"/>
            <a:chExt cx="1148683" cy="143532"/>
          </a:xfrm>
        </p:grpSpPr>
        <p:sp>
          <p:nvSpPr>
            <p:cNvPr name="Freeform 8" id="8"/>
            <p:cNvSpPr/>
            <p:nvPr/>
          </p:nvSpPr>
          <p:spPr>
            <a:xfrm flipH="false" flipV="false" rot="0">
              <a:off x="0" y="0"/>
              <a:ext cx="1148683" cy="143532"/>
            </a:xfrm>
            <a:custGeom>
              <a:avLst/>
              <a:gdLst/>
              <a:ahLst/>
              <a:cxnLst/>
              <a:rect r="r" b="b" t="t" l="l"/>
              <a:pathLst>
                <a:path h="143532" w="1148683">
                  <a:moveTo>
                    <a:pt x="0" y="0"/>
                  </a:moveTo>
                  <a:lnTo>
                    <a:pt x="1148683" y="0"/>
                  </a:lnTo>
                  <a:lnTo>
                    <a:pt x="1148683" y="143532"/>
                  </a:lnTo>
                  <a:lnTo>
                    <a:pt x="0" y="143532"/>
                  </a:lnTo>
                  <a:close/>
                </a:path>
              </a:pathLst>
            </a:custGeom>
            <a:solidFill>
              <a:srgbClr val="000000">
                <a:alpha val="0"/>
              </a:srgbClr>
            </a:solidFill>
            <a:ln w="76200" cap="sq">
              <a:solidFill>
                <a:srgbClr val="FF0000"/>
              </a:solidFill>
              <a:prstDash val="solid"/>
              <a:miter/>
            </a:ln>
          </p:spPr>
        </p:sp>
        <p:sp>
          <p:nvSpPr>
            <p:cNvPr name="TextBox 9" id="9"/>
            <p:cNvSpPr txBox="true"/>
            <p:nvPr/>
          </p:nvSpPr>
          <p:spPr>
            <a:xfrm>
              <a:off x="0" y="-38100"/>
              <a:ext cx="1148683" cy="181632"/>
            </a:xfrm>
            <a:prstGeom prst="rect">
              <a:avLst/>
            </a:prstGeom>
          </p:spPr>
          <p:txBody>
            <a:bodyPr anchor="ctr" rtlCol="false" tIns="50800" lIns="50800" bIns="50800" rIns="50800"/>
            <a:lstStyle/>
            <a:p>
              <a:pPr algn="ctr">
                <a:lnSpc>
                  <a:spcPts val="2659"/>
                </a:lnSpc>
                <a:spcBef>
                  <a:spcPct val="0"/>
                </a:spcBef>
              </a:pPr>
            </a:p>
          </p:txBody>
        </p:sp>
      </p:grpSp>
      <p:sp>
        <p:nvSpPr>
          <p:cNvPr name="AutoShape 10" id="10"/>
          <p:cNvSpPr/>
          <p:nvPr/>
        </p:nvSpPr>
        <p:spPr>
          <a:xfrm>
            <a:off x="2073082" y="5993455"/>
            <a:ext cx="2494392" cy="2873832"/>
          </a:xfrm>
          <a:prstGeom prst="line">
            <a:avLst/>
          </a:prstGeom>
          <a:ln cap="flat" w="38100">
            <a:solidFill>
              <a:srgbClr val="FF0000"/>
            </a:solidFill>
            <a:prstDash val="solid"/>
            <a:headEnd type="none" len="sm" w="sm"/>
            <a:tailEnd type="none" len="sm" w="sm"/>
          </a:ln>
        </p:spPr>
      </p:sp>
      <p:sp>
        <p:nvSpPr>
          <p:cNvPr name="TextBox 11" id="11"/>
          <p:cNvSpPr txBox="true"/>
          <p:nvPr/>
        </p:nvSpPr>
        <p:spPr>
          <a:xfrm rot="0">
            <a:off x="608930" y="5287098"/>
            <a:ext cx="3088140" cy="58039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Calculate Loss</a:t>
            </a:r>
          </a:p>
        </p:txBody>
      </p:sp>
      <p:grpSp>
        <p:nvGrpSpPr>
          <p:cNvPr name="Group 12" id="12"/>
          <p:cNvGrpSpPr/>
          <p:nvPr/>
        </p:nvGrpSpPr>
        <p:grpSpPr>
          <a:xfrm rot="0">
            <a:off x="12058198" y="3480996"/>
            <a:ext cx="1057793" cy="980170"/>
            <a:chOff x="0" y="0"/>
            <a:chExt cx="278596" cy="258152"/>
          </a:xfrm>
        </p:grpSpPr>
        <p:sp>
          <p:nvSpPr>
            <p:cNvPr name="Freeform 13" id="13"/>
            <p:cNvSpPr/>
            <p:nvPr/>
          </p:nvSpPr>
          <p:spPr>
            <a:xfrm flipH="false" flipV="false" rot="0">
              <a:off x="0" y="0"/>
              <a:ext cx="278596" cy="258152"/>
            </a:xfrm>
            <a:custGeom>
              <a:avLst/>
              <a:gdLst/>
              <a:ahLst/>
              <a:cxnLst/>
              <a:rect r="r" b="b" t="t" l="l"/>
              <a:pathLst>
                <a:path h="258152" w="278596">
                  <a:moveTo>
                    <a:pt x="0" y="0"/>
                  </a:moveTo>
                  <a:lnTo>
                    <a:pt x="278596" y="0"/>
                  </a:lnTo>
                  <a:lnTo>
                    <a:pt x="278596" y="258152"/>
                  </a:lnTo>
                  <a:lnTo>
                    <a:pt x="0" y="258152"/>
                  </a:lnTo>
                  <a:close/>
                </a:path>
              </a:pathLst>
            </a:custGeom>
            <a:solidFill>
              <a:srgbClr val="000000">
                <a:alpha val="0"/>
              </a:srgbClr>
            </a:solidFill>
            <a:ln w="95250" cap="sq">
              <a:solidFill>
                <a:srgbClr val="FF0000"/>
              </a:solidFill>
              <a:prstDash val="solid"/>
              <a:miter/>
            </a:ln>
          </p:spPr>
        </p:sp>
        <p:sp>
          <p:nvSpPr>
            <p:cNvPr name="TextBox 14" id="14"/>
            <p:cNvSpPr txBox="true"/>
            <p:nvPr/>
          </p:nvSpPr>
          <p:spPr>
            <a:xfrm>
              <a:off x="0" y="-38100"/>
              <a:ext cx="278596" cy="296252"/>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5BC4BD"/>
        </a:solidFill>
      </p:bgPr>
    </p:bg>
    <p:spTree>
      <p:nvGrpSpPr>
        <p:cNvPr id="1" name=""/>
        <p:cNvGrpSpPr/>
        <p:nvPr/>
      </p:nvGrpSpPr>
      <p:grpSpPr>
        <a:xfrm>
          <a:off x="0" y="0"/>
          <a:ext cx="0" cy="0"/>
          <a:chOff x="0" y="0"/>
          <a:chExt cx="0" cy="0"/>
        </a:xfrm>
      </p:grpSpPr>
      <p:grpSp>
        <p:nvGrpSpPr>
          <p:cNvPr name="Group 2" id="2"/>
          <p:cNvGrpSpPr/>
          <p:nvPr/>
        </p:nvGrpSpPr>
        <p:grpSpPr>
          <a:xfrm rot="0">
            <a:off x="3088140" y="-33383"/>
            <a:ext cx="11681480" cy="2124167"/>
            <a:chOff x="0" y="0"/>
            <a:chExt cx="15575307" cy="2832222"/>
          </a:xfrm>
        </p:grpSpPr>
        <p:sp>
          <p:nvSpPr>
            <p:cNvPr name="Freeform 3" id="3"/>
            <p:cNvSpPr/>
            <p:nvPr/>
          </p:nvSpPr>
          <p:spPr>
            <a:xfrm flipH="false" flipV="false" rot="0">
              <a:off x="0" y="0"/>
              <a:ext cx="15575307" cy="2832222"/>
            </a:xfrm>
            <a:custGeom>
              <a:avLst/>
              <a:gdLst/>
              <a:ahLst/>
              <a:cxnLst/>
              <a:rect r="r" b="b" t="t" l="l"/>
              <a:pathLst>
                <a:path h="2832222" w="15575307">
                  <a:moveTo>
                    <a:pt x="0" y="0"/>
                  </a:moveTo>
                  <a:lnTo>
                    <a:pt x="15575307" y="0"/>
                  </a:lnTo>
                  <a:lnTo>
                    <a:pt x="15575307" y="2832222"/>
                  </a:lnTo>
                  <a:lnTo>
                    <a:pt x="0" y="2832222"/>
                  </a:lnTo>
                  <a:close/>
                </a:path>
              </a:pathLst>
            </a:custGeom>
            <a:solidFill>
              <a:srgbClr val="000000">
                <a:alpha val="0"/>
              </a:srgbClr>
            </a:solidFill>
          </p:spPr>
        </p:sp>
        <p:sp>
          <p:nvSpPr>
            <p:cNvPr name="TextBox 4" id="4"/>
            <p:cNvSpPr txBox="true"/>
            <p:nvPr/>
          </p:nvSpPr>
          <p:spPr>
            <a:xfrm>
              <a:off x="0" y="57150"/>
              <a:ext cx="15575307" cy="2775072"/>
            </a:xfrm>
            <a:prstGeom prst="rect">
              <a:avLst/>
            </a:prstGeom>
          </p:spPr>
          <p:txBody>
            <a:bodyPr anchor="t" rtlCol="false" tIns="0" lIns="0" bIns="0" rIns="0"/>
            <a:lstStyle/>
            <a:p>
              <a:pPr algn="ctr">
                <a:lnSpc>
                  <a:spcPts val="7160"/>
                </a:lnSpc>
              </a:pPr>
              <a:r>
                <a:rPr lang="en-US" sz="7698">
                  <a:solidFill>
                    <a:srgbClr val="000000"/>
                  </a:solidFill>
                  <a:latin typeface="Pixellet TH"/>
                  <a:ea typeface="Pixellet TH"/>
                  <a:cs typeface="Pixellet TH"/>
                  <a:sym typeface="Pixellet TH"/>
                </a:rPr>
                <a:t>Epochs</a:t>
              </a:r>
            </a:p>
          </p:txBody>
        </p:sp>
      </p:grpSp>
      <p:sp>
        <p:nvSpPr>
          <p:cNvPr name="Freeform 5" id="5"/>
          <p:cNvSpPr/>
          <p:nvPr/>
        </p:nvSpPr>
        <p:spPr>
          <a:xfrm flipH="false" flipV="false" rot="0">
            <a:off x="4567474" y="1694215"/>
            <a:ext cx="8722813" cy="4852065"/>
          </a:xfrm>
          <a:custGeom>
            <a:avLst/>
            <a:gdLst/>
            <a:ahLst/>
            <a:cxnLst/>
            <a:rect r="r" b="b" t="t" l="l"/>
            <a:pathLst>
              <a:path h="4852065" w="8722813">
                <a:moveTo>
                  <a:pt x="0" y="0"/>
                </a:moveTo>
                <a:lnTo>
                  <a:pt x="8722813" y="0"/>
                </a:lnTo>
                <a:lnTo>
                  <a:pt x="8722813" y="4852065"/>
                </a:lnTo>
                <a:lnTo>
                  <a:pt x="0" y="4852065"/>
                </a:lnTo>
                <a:lnTo>
                  <a:pt x="0" y="0"/>
                </a:lnTo>
                <a:close/>
              </a:path>
            </a:pathLst>
          </a:custGeom>
          <a:blipFill>
            <a:blip r:embed="rId3"/>
            <a:stretch>
              <a:fillRect l="0" t="0" r="0" b="0"/>
            </a:stretch>
          </a:blipFill>
        </p:spPr>
      </p:sp>
      <p:sp>
        <p:nvSpPr>
          <p:cNvPr name="Freeform 6" id="6"/>
          <p:cNvSpPr/>
          <p:nvPr/>
        </p:nvSpPr>
        <p:spPr>
          <a:xfrm flipH="false" flipV="false" rot="0">
            <a:off x="3301980" y="6678258"/>
            <a:ext cx="11253801" cy="3608742"/>
          </a:xfrm>
          <a:custGeom>
            <a:avLst/>
            <a:gdLst/>
            <a:ahLst/>
            <a:cxnLst/>
            <a:rect r="r" b="b" t="t" l="l"/>
            <a:pathLst>
              <a:path h="3608742" w="11253801">
                <a:moveTo>
                  <a:pt x="0" y="0"/>
                </a:moveTo>
                <a:lnTo>
                  <a:pt x="11253801" y="0"/>
                </a:lnTo>
                <a:lnTo>
                  <a:pt x="11253801" y="3608742"/>
                </a:lnTo>
                <a:lnTo>
                  <a:pt x="0" y="3608742"/>
                </a:lnTo>
                <a:lnTo>
                  <a:pt x="0" y="0"/>
                </a:lnTo>
                <a:close/>
              </a:path>
            </a:pathLst>
          </a:custGeom>
          <a:blipFill>
            <a:blip r:embed="rId4"/>
            <a:stretch>
              <a:fillRect l="0" t="0" r="0" b="0"/>
            </a:stretch>
          </a:blipFill>
        </p:spPr>
      </p:sp>
      <p:grpSp>
        <p:nvGrpSpPr>
          <p:cNvPr name="Group 7" id="7"/>
          <p:cNvGrpSpPr/>
          <p:nvPr/>
        </p:nvGrpSpPr>
        <p:grpSpPr>
          <a:xfrm rot="0">
            <a:off x="4407472" y="8985814"/>
            <a:ext cx="3593400" cy="544972"/>
            <a:chOff x="0" y="0"/>
            <a:chExt cx="946410" cy="143532"/>
          </a:xfrm>
        </p:grpSpPr>
        <p:sp>
          <p:nvSpPr>
            <p:cNvPr name="Freeform 8" id="8"/>
            <p:cNvSpPr/>
            <p:nvPr/>
          </p:nvSpPr>
          <p:spPr>
            <a:xfrm flipH="false" flipV="false" rot="0">
              <a:off x="0" y="0"/>
              <a:ext cx="946410" cy="143532"/>
            </a:xfrm>
            <a:custGeom>
              <a:avLst/>
              <a:gdLst/>
              <a:ahLst/>
              <a:cxnLst/>
              <a:rect r="r" b="b" t="t" l="l"/>
              <a:pathLst>
                <a:path h="143532" w="946410">
                  <a:moveTo>
                    <a:pt x="0" y="0"/>
                  </a:moveTo>
                  <a:lnTo>
                    <a:pt x="946410" y="0"/>
                  </a:lnTo>
                  <a:lnTo>
                    <a:pt x="946410" y="143532"/>
                  </a:lnTo>
                  <a:lnTo>
                    <a:pt x="0" y="143532"/>
                  </a:lnTo>
                  <a:close/>
                </a:path>
              </a:pathLst>
            </a:custGeom>
            <a:solidFill>
              <a:srgbClr val="000000">
                <a:alpha val="0"/>
              </a:srgbClr>
            </a:solidFill>
            <a:ln w="76200" cap="sq">
              <a:solidFill>
                <a:srgbClr val="FF0000"/>
              </a:solidFill>
              <a:prstDash val="solid"/>
              <a:miter/>
            </a:ln>
          </p:spPr>
        </p:sp>
        <p:sp>
          <p:nvSpPr>
            <p:cNvPr name="TextBox 9" id="9"/>
            <p:cNvSpPr txBox="true"/>
            <p:nvPr/>
          </p:nvSpPr>
          <p:spPr>
            <a:xfrm>
              <a:off x="0" y="-38100"/>
              <a:ext cx="946410" cy="181632"/>
            </a:xfrm>
            <a:prstGeom prst="rect">
              <a:avLst/>
            </a:prstGeom>
          </p:spPr>
          <p:txBody>
            <a:bodyPr anchor="ctr" rtlCol="false" tIns="50800" lIns="50800" bIns="50800" rIns="50800"/>
            <a:lstStyle/>
            <a:p>
              <a:pPr algn="ctr">
                <a:lnSpc>
                  <a:spcPts val="2659"/>
                </a:lnSpc>
                <a:spcBef>
                  <a:spcPct val="0"/>
                </a:spcBef>
              </a:pPr>
            </a:p>
          </p:txBody>
        </p:sp>
      </p:grpSp>
      <p:sp>
        <p:nvSpPr>
          <p:cNvPr name="AutoShape 10" id="10"/>
          <p:cNvSpPr/>
          <p:nvPr/>
        </p:nvSpPr>
        <p:spPr>
          <a:xfrm>
            <a:off x="2073082" y="5993455"/>
            <a:ext cx="2334391" cy="3264845"/>
          </a:xfrm>
          <a:prstGeom prst="line">
            <a:avLst/>
          </a:prstGeom>
          <a:ln cap="flat" w="38100">
            <a:solidFill>
              <a:srgbClr val="FF0000"/>
            </a:solidFill>
            <a:prstDash val="solid"/>
            <a:headEnd type="none" len="sm" w="sm"/>
            <a:tailEnd type="none" len="sm" w="sm"/>
          </a:ln>
        </p:spPr>
      </p:sp>
      <p:sp>
        <p:nvSpPr>
          <p:cNvPr name="TextBox 11" id="11"/>
          <p:cNvSpPr txBox="true"/>
          <p:nvPr/>
        </p:nvSpPr>
        <p:spPr>
          <a:xfrm rot="0">
            <a:off x="608930" y="5287098"/>
            <a:ext cx="3088140" cy="58039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Optimize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5BC4BD"/>
        </a:solidFill>
      </p:bgPr>
    </p:bg>
    <p:spTree>
      <p:nvGrpSpPr>
        <p:cNvPr id="1" name=""/>
        <p:cNvGrpSpPr/>
        <p:nvPr/>
      </p:nvGrpSpPr>
      <p:grpSpPr>
        <a:xfrm>
          <a:off x="0" y="0"/>
          <a:ext cx="0" cy="0"/>
          <a:chOff x="0" y="0"/>
          <a:chExt cx="0" cy="0"/>
        </a:xfrm>
      </p:grpSpPr>
      <p:grpSp>
        <p:nvGrpSpPr>
          <p:cNvPr name="Group 2" id="2"/>
          <p:cNvGrpSpPr/>
          <p:nvPr/>
        </p:nvGrpSpPr>
        <p:grpSpPr>
          <a:xfrm rot="0">
            <a:off x="3088140" y="-33383"/>
            <a:ext cx="11681480" cy="2124167"/>
            <a:chOff x="0" y="0"/>
            <a:chExt cx="15575307" cy="2832222"/>
          </a:xfrm>
        </p:grpSpPr>
        <p:sp>
          <p:nvSpPr>
            <p:cNvPr name="Freeform 3" id="3"/>
            <p:cNvSpPr/>
            <p:nvPr/>
          </p:nvSpPr>
          <p:spPr>
            <a:xfrm flipH="false" flipV="false" rot="0">
              <a:off x="0" y="0"/>
              <a:ext cx="15575307" cy="2832222"/>
            </a:xfrm>
            <a:custGeom>
              <a:avLst/>
              <a:gdLst/>
              <a:ahLst/>
              <a:cxnLst/>
              <a:rect r="r" b="b" t="t" l="l"/>
              <a:pathLst>
                <a:path h="2832222" w="15575307">
                  <a:moveTo>
                    <a:pt x="0" y="0"/>
                  </a:moveTo>
                  <a:lnTo>
                    <a:pt x="15575307" y="0"/>
                  </a:lnTo>
                  <a:lnTo>
                    <a:pt x="15575307" y="2832222"/>
                  </a:lnTo>
                  <a:lnTo>
                    <a:pt x="0" y="2832222"/>
                  </a:lnTo>
                  <a:close/>
                </a:path>
              </a:pathLst>
            </a:custGeom>
            <a:solidFill>
              <a:srgbClr val="000000">
                <a:alpha val="0"/>
              </a:srgbClr>
            </a:solidFill>
          </p:spPr>
        </p:sp>
        <p:sp>
          <p:nvSpPr>
            <p:cNvPr name="TextBox 4" id="4"/>
            <p:cNvSpPr txBox="true"/>
            <p:nvPr/>
          </p:nvSpPr>
          <p:spPr>
            <a:xfrm>
              <a:off x="0" y="57150"/>
              <a:ext cx="15575307" cy="2775072"/>
            </a:xfrm>
            <a:prstGeom prst="rect">
              <a:avLst/>
            </a:prstGeom>
          </p:spPr>
          <p:txBody>
            <a:bodyPr anchor="t" rtlCol="false" tIns="0" lIns="0" bIns="0" rIns="0"/>
            <a:lstStyle/>
            <a:p>
              <a:pPr algn="ctr">
                <a:lnSpc>
                  <a:spcPts val="7160"/>
                </a:lnSpc>
              </a:pPr>
              <a:r>
                <a:rPr lang="en-US" sz="7698">
                  <a:solidFill>
                    <a:srgbClr val="000000"/>
                  </a:solidFill>
                  <a:latin typeface="Pixellet TH"/>
                  <a:ea typeface="Pixellet TH"/>
                  <a:cs typeface="Pixellet TH"/>
                  <a:sym typeface="Pixellet TH"/>
                </a:rPr>
                <a:t>Epochs</a:t>
              </a:r>
            </a:p>
          </p:txBody>
        </p:sp>
      </p:grpSp>
      <p:sp>
        <p:nvSpPr>
          <p:cNvPr name="Freeform 5" id="5"/>
          <p:cNvSpPr/>
          <p:nvPr/>
        </p:nvSpPr>
        <p:spPr>
          <a:xfrm flipH="false" flipV="false" rot="0">
            <a:off x="4567474" y="1694215"/>
            <a:ext cx="8722813" cy="4852065"/>
          </a:xfrm>
          <a:custGeom>
            <a:avLst/>
            <a:gdLst/>
            <a:ahLst/>
            <a:cxnLst/>
            <a:rect r="r" b="b" t="t" l="l"/>
            <a:pathLst>
              <a:path h="4852065" w="8722813">
                <a:moveTo>
                  <a:pt x="0" y="0"/>
                </a:moveTo>
                <a:lnTo>
                  <a:pt x="8722813" y="0"/>
                </a:lnTo>
                <a:lnTo>
                  <a:pt x="8722813" y="4852065"/>
                </a:lnTo>
                <a:lnTo>
                  <a:pt x="0" y="4852065"/>
                </a:lnTo>
                <a:lnTo>
                  <a:pt x="0" y="0"/>
                </a:lnTo>
                <a:close/>
              </a:path>
            </a:pathLst>
          </a:custGeom>
          <a:blipFill>
            <a:blip r:embed="rId3"/>
            <a:stretch>
              <a:fillRect l="0" t="0" r="0" b="0"/>
            </a:stretch>
          </a:blipFill>
        </p:spPr>
      </p:sp>
      <p:sp>
        <p:nvSpPr>
          <p:cNvPr name="Freeform 6" id="6"/>
          <p:cNvSpPr/>
          <p:nvPr/>
        </p:nvSpPr>
        <p:spPr>
          <a:xfrm flipH="false" flipV="false" rot="0">
            <a:off x="3301980" y="6678258"/>
            <a:ext cx="11253801" cy="3608742"/>
          </a:xfrm>
          <a:custGeom>
            <a:avLst/>
            <a:gdLst/>
            <a:ahLst/>
            <a:cxnLst/>
            <a:rect r="r" b="b" t="t" l="l"/>
            <a:pathLst>
              <a:path h="3608742" w="11253801">
                <a:moveTo>
                  <a:pt x="0" y="0"/>
                </a:moveTo>
                <a:lnTo>
                  <a:pt x="11253801" y="0"/>
                </a:lnTo>
                <a:lnTo>
                  <a:pt x="11253801" y="3608742"/>
                </a:lnTo>
                <a:lnTo>
                  <a:pt x="0" y="3608742"/>
                </a:lnTo>
                <a:lnTo>
                  <a:pt x="0" y="0"/>
                </a:lnTo>
                <a:close/>
              </a:path>
            </a:pathLst>
          </a:custGeom>
          <a:blipFill>
            <a:blip r:embed="rId4"/>
            <a:stretch>
              <a:fillRect l="0" t="0" r="0" b="0"/>
            </a:stretch>
          </a:blipFill>
        </p:spPr>
      </p:sp>
      <p:grpSp>
        <p:nvGrpSpPr>
          <p:cNvPr name="Group 7" id="7"/>
          <p:cNvGrpSpPr/>
          <p:nvPr/>
        </p:nvGrpSpPr>
        <p:grpSpPr>
          <a:xfrm rot="0">
            <a:off x="4407472" y="9401818"/>
            <a:ext cx="2761392" cy="544972"/>
            <a:chOff x="0" y="0"/>
            <a:chExt cx="727280" cy="143532"/>
          </a:xfrm>
        </p:grpSpPr>
        <p:sp>
          <p:nvSpPr>
            <p:cNvPr name="Freeform 8" id="8"/>
            <p:cNvSpPr/>
            <p:nvPr/>
          </p:nvSpPr>
          <p:spPr>
            <a:xfrm flipH="false" flipV="false" rot="0">
              <a:off x="0" y="0"/>
              <a:ext cx="727280" cy="143532"/>
            </a:xfrm>
            <a:custGeom>
              <a:avLst/>
              <a:gdLst/>
              <a:ahLst/>
              <a:cxnLst/>
              <a:rect r="r" b="b" t="t" l="l"/>
              <a:pathLst>
                <a:path h="143532" w="727280">
                  <a:moveTo>
                    <a:pt x="0" y="0"/>
                  </a:moveTo>
                  <a:lnTo>
                    <a:pt x="727280" y="0"/>
                  </a:lnTo>
                  <a:lnTo>
                    <a:pt x="727280" y="143532"/>
                  </a:lnTo>
                  <a:lnTo>
                    <a:pt x="0" y="143532"/>
                  </a:lnTo>
                  <a:close/>
                </a:path>
              </a:pathLst>
            </a:custGeom>
            <a:solidFill>
              <a:srgbClr val="000000">
                <a:alpha val="0"/>
              </a:srgbClr>
            </a:solidFill>
            <a:ln w="76200" cap="sq">
              <a:solidFill>
                <a:srgbClr val="FF0000"/>
              </a:solidFill>
              <a:prstDash val="solid"/>
              <a:miter/>
            </a:ln>
          </p:spPr>
        </p:sp>
        <p:sp>
          <p:nvSpPr>
            <p:cNvPr name="TextBox 9" id="9"/>
            <p:cNvSpPr txBox="true"/>
            <p:nvPr/>
          </p:nvSpPr>
          <p:spPr>
            <a:xfrm>
              <a:off x="0" y="-38100"/>
              <a:ext cx="727280" cy="181632"/>
            </a:xfrm>
            <a:prstGeom prst="rect">
              <a:avLst/>
            </a:prstGeom>
          </p:spPr>
          <p:txBody>
            <a:bodyPr anchor="ctr" rtlCol="false" tIns="50800" lIns="50800" bIns="50800" rIns="50800"/>
            <a:lstStyle/>
            <a:p>
              <a:pPr algn="ctr">
                <a:lnSpc>
                  <a:spcPts val="2659"/>
                </a:lnSpc>
                <a:spcBef>
                  <a:spcPct val="0"/>
                </a:spcBef>
              </a:pPr>
            </a:p>
          </p:txBody>
        </p:sp>
      </p:grpSp>
      <p:sp>
        <p:nvSpPr>
          <p:cNvPr name="AutoShape 10" id="10"/>
          <p:cNvSpPr/>
          <p:nvPr/>
        </p:nvSpPr>
        <p:spPr>
          <a:xfrm>
            <a:off x="2073082" y="5993455"/>
            <a:ext cx="2334391" cy="3680849"/>
          </a:xfrm>
          <a:prstGeom prst="line">
            <a:avLst/>
          </a:prstGeom>
          <a:ln cap="flat" w="38100">
            <a:solidFill>
              <a:srgbClr val="FF0000"/>
            </a:solidFill>
            <a:prstDash val="solid"/>
            <a:headEnd type="none" len="sm" w="sm"/>
            <a:tailEnd type="none" len="sm" w="sm"/>
          </a:ln>
        </p:spPr>
      </p:sp>
      <p:sp>
        <p:nvSpPr>
          <p:cNvPr name="TextBox 11" id="11"/>
          <p:cNvSpPr txBox="true"/>
          <p:nvPr/>
        </p:nvSpPr>
        <p:spPr>
          <a:xfrm rot="0">
            <a:off x="368927" y="4812990"/>
            <a:ext cx="3648145" cy="1180465"/>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Preforms backpropagation</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5BC4BD"/>
        </a:solidFill>
      </p:bgPr>
    </p:bg>
    <p:spTree>
      <p:nvGrpSpPr>
        <p:cNvPr id="1" name=""/>
        <p:cNvGrpSpPr/>
        <p:nvPr/>
      </p:nvGrpSpPr>
      <p:grpSpPr>
        <a:xfrm>
          <a:off x="0" y="0"/>
          <a:ext cx="0" cy="0"/>
          <a:chOff x="0" y="0"/>
          <a:chExt cx="0" cy="0"/>
        </a:xfrm>
      </p:grpSpPr>
      <p:grpSp>
        <p:nvGrpSpPr>
          <p:cNvPr name="Group 2" id="2"/>
          <p:cNvGrpSpPr/>
          <p:nvPr/>
        </p:nvGrpSpPr>
        <p:grpSpPr>
          <a:xfrm rot="0">
            <a:off x="3088140" y="-33383"/>
            <a:ext cx="11681480" cy="2124167"/>
            <a:chOff x="0" y="0"/>
            <a:chExt cx="15575307" cy="2832222"/>
          </a:xfrm>
        </p:grpSpPr>
        <p:sp>
          <p:nvSpPr>
            <p:cNvPr name="Freeform 3" id="3"/>
            <p:cNvSpPr/>
            <p:nvPr/>
          </p:nvSpPr>
          <p:spPr>
            <a:xfrm flipH="false" flipV="false" rot="0">
              <a:off x="0" y="0"/>
              <a:ext cx="15575307" cy="2832222"/>
            </a:xfrm>
            <a:custGeom>
              <a:avLst/>
              <a:gdLst/>
              <a:ahLst/>
              <a:cxnLst/>
              <a:rect r="r" b="b" t="t" l="l"/>
              <a:pathLst>
                <a:path h="2832222" w="15575307">
                  <a:moveTo>
                    <a:pt x="0" y="0"/>
                  </a:moveTo>
                  <a:lnTo>
                    <a:pt x="15575307" y="0"/>
                  </a:lnTo>
                  <a:lnTo>
                    <a:pt x="15575307" y="2832222"/>
                  </a:lnTo>
                  <a:lnTo>
                    <a:pt x="0" y="2832222"/>
                  </a:lnTo>
                  <a:close/>
                </a:path>
              </a:pathLst>
            </a:custGeom>
            <a:solidFill>
              <a:srgbClr val="000000">
                <a:alpha val="0"/>
              </a:srgbClr>
            </a:solidFill>
          </p:spPr>
        </p:sp>
        <p:sp>
          <p:nvSpPr>
            <p:cNvPr name="TextBox 4" id="4"/>
            <p:cNvSpPr txBox="true"/>
            <p:nvPr/>
          </p:nvSpPr>
          <p:spPr>
            <a:xfrm>
              <a:off x="0" y="57150"/>
              <a:ext cx="15575307" cy="2775072"/>
            </a:xfrm>
            <a:prstGeom prst="rect">
              <a:avLst/>
            </a:prstGeom>
          </p:spPr>
          <p:txBody>
            <a:bodyPr anchor="t" rtlCol="false" tIns="0" lIns="0" bIns="0" rIns="0"/>
            <a:lstStyle/>
            <a:p>
              <a:pPr algn="ctr">
                <a:lnSpc>
                  <a:spcPts val="7160"/>
                </a:lnSpc>
              </a:pPr>
              <a:r>
                <a:rPr lang="en-US" sz="7698">
                  <a:solidFill>
                    <a:srgbClr val="000000"/>
                  </a:solidFill>
                  <a:latin typeface="Pixellet TH"/>
                  <a:ea typeface="Pixellet TH"/>
                  <a:cs typeface="Pixellet TH"/>
                  <a:sym typeface="Pixellet TH"/>
                </a:rPr>
                <a:t>Epochs</a:t>
              </a:r>
            </a:p>
          </p:txBody>
        </p:sp>
      </p:grpSp>
      <p:sp>
        <p:nvSpPr>
          <p:cNvPr name="Freeform 5" id="5"/>
          <p:cNvSpPr/>
          <p:nvPr/>
        </p:nvSpPr>
        <p:spPr>
          <a:xfrm flipH="false" flipV="false" rot="0">
            <a:off x="4567474" y="1694215"/>
            <a:ext cx="8722813" cy="4852065"/>
          </a:xfrm>
          <a:custGeom>
            <a:avLst/>
            <a:gdLst/>
            <a:ahLst/>
            <a:cxnLst/>
            <a:rect r="r" b="b" t="t" l="l"/>
            <a:pathLst>
              <a:path h="4852065" w="8722813">
                <a:moveTo>
                  <a:pt x="0" y="0"/>
                </a:moveTo>
                <a:lnTo>
                  <a:pt x="8722813" y="0"/>
                </a:lnTo>
                <a:lnTo>
                  <a:pt x="8722813" y="4852065"/>
                </a:lnTo>
                <a:lnTo>
                  <a:pt x="0" y="4852065"/>
                </a:lnTo>
                <a:lnTo>
                  <a:pt x="0" y="0"/>
                </a:lnTo>
                <a:close/>
              </a:path>
            </a:pathLst>
          </a:custGeom>
          <a:blipFill>
            <a:blip r:embed="rId3"/>
            <a:stretch>
              <a:fillRect l="0" t="0" r="0" b="0"/>
            </a:stretch>
          </a:blipFill>
        </p:spPr>
      </p:sp>
      <p:sp>
        <p:nvSpPr>
          <p:cNvPr name="Freeform 6" id="6"/>
          <p:cNvSpPr/>
          <p:nvPr/>
        </p:nvSpPr>
        <p:spPr>
          <a:xfrm flipH="false" flipV="false" rot="0">
            <a:off x="3301980" y="6546280"/>
            <a:ext cx="11253801" cy="3608742"/>
          </a:xfrm>
          <a:custGeom>
            <a:avLst/>
            <a:gdLst/>
            <a:ahLst/>
            <a:cxnLst/>
            <a:rect r="r" b="b" t="t" l="l"/>
            <a:pathLst>
              <a:path h="3608742" w="11253801">
                <a:moveTo>
                  <a:pt x="0" y="0"/>
                </a:moveTo>
                <a:lnTo>
                  <a:pt x="11253801" y="0"/>
                </a:lnTo>
                <a:lnTo>
                  <a:pt x="11253801" y="3608742"/>
                </a:lnTo>
                <a:lnTo>
                  <a:pt x="0" y="3608742"/>
                </a:lnTo>
                <a:lnTo>
                  <a:pt x="0" y="0"/>
                </a:lnTo>
                <a:close/>
              </a:path>
            </a:pathLst>
          </a:custGeom>
          <a:blipFill>
            <a:blip r:embed="rId4"/>
            <a:stretch>
              <a:fillRect l="0" t="0" r="0" b="0"/>
            </a:stretch>
          </a:blipFill>
        </p:spPr>
      </p:sp>
      <p:grpSp>
        <p:nvGrpSpPr>
          <p:cNvPr name="Group 7" id="7"/>
          <p:cNvGrpSpPr/>
          <p:nvPr/>
        </p:nvGrpSpPr>
        <p:grpSpPr>
          <a:xfrm rot="0">
            <a:off x="4407472" y="9610049"/>
            <a:ext cx="2761392" cy="544972"/>
            <a:chOff x="0" y="0"/>
            <a:chExt cx="727280" cy="143532"/>
          </a:xfrm>
        </p:grpSpPr>
        <p:sp>
          <p:nvSpPr>
            <p:cNvPr name="Freeform 8" id="8"/>
            <p:cNvSpPr/>
            <p:nvPr/>
          </p:nvSpPr>
          <p:spPr>
            <a:xfrm flipH="false" flipV="false" rot="0">
              <a:off x="0" y="0"/>
              <a:ext cx="727280" cy="143532"/>
            </a:xfrm>
            <a:custGeom>
              <a:avLst/>
              <a:gdLst/>
              <a:ahLst/>
              <a:cxnLst/>
              <a:rect r="r" b="b" t="t" l="l"/>
              <a:pathLst>
                <a:path h="143532" w="727280">
                  <a:moveTo>
                    <a:pt x="0" y="0"/>
                  </a:moveTo>
                  <a:lnTo>
                    <a:pt x="727280" y="0"/>
                  </a:lnTo>
                  <a:lnTo>
                    <a:pt x="727280" y="143532"/>
                  </a:lnTo>
                  <a:lnTo>
                    <a:pt x="0" y="143532"/>
                  </a:lnTo>
                  <a:close/>
                </a:path>
              </a:pathLst>
            </a:custGeom>
            <a:solidFill>
              <a:srgbClr val="000000">
                <a:alpha val="0"/>
              </a:srgbClr>
            </a:solidFill>
            <a:ln w="76200" cap="sq">
              <a:solidFill>
                <a:srgbClr val="FF0000"/>
              </a:solidFill>
              <a:prstDash val="solid"/>
              <a:miter/>
            </a:ln>
          </p:spPr>
        </p:sp>
        <p:sp>
          <p:nvSpPr>
            <p:cNvPr name="TextBox 9" id="9"/>
            <p:cNvSpPr txBox="true"/>
            <p:nvPr/>
          </p:nvSpPr>
          <p:spPr>
            <a:xfrm>
              <a:off x="0" y="-38100"/>
              <a:ext cx="727280" cy="181632"/>
            </a:xfrm>
            <a:prstGeom prst="rect">
              <a:avLst/>
            </a:prstGeom>
          </p:spPr>
          <p:txBody>
            <a:bodyPr anchor="ctr" rtlCol="false" tIns="50800" lIns="50800" bIns="50800" rIns="50800"/>
            <a:lstStyle/>
            <a:p>
              <a:pPr algn="ctr">
                <a:lnSpc>
                  <a:spcPts val="2659"/>
                </a:lnSpc>
                <a:spcBef>
                  <a:spcPct val="0"/>
                </a:spcBef>
              </a:pPr>
            </a:p>
          </p:txBody>
        </p:sp>
      </p:grpSp>
      <p:sp>
        <p:nvSpPr>
          <p:cNvPr name="AutoShape 10" id="10"/>
          <p:cNvSpPr/>
          <p:nvPr/>
        </p:nvSpPr>
        <p:spPr>
          <a:xfrm>
            <a:off x="2073082" y="5993455"/>
            <a:ext cx="2334391" cy="3889080"/>
          </a:xfrm>
          <a:prstGeom prst="line">
            <a:avLst/>
          </a:prstGeom>
          <a:ln cap="flat" w="38100">
            <a:solidFill>
              <a:srgbClr val="FF0000"/>
            </a:solidFill>
            <a:prstDash val="solid"/>
            <a:headEnd type="none" len="sm" w="sm"/>
            <a:tailEnd type="none" len="sm" w="sm"/>
          </a:ln>
        </p:spPr>
      </p:sp>
      <p:sp>
        <p:nvSpPr>
          <p:cNvPr name="TextBox 11" id="11"/>
          <p:cNvSpPr txBox="true"/>
          <p:nvPr/>
        </p:nvSpPr>
        <p:spPr>
          <a:xfrm rot="0">
            <a:off x="368927" y="4812990"/>
            <a:ext cx="3648145" cy="1180465"/>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Updates model parameters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5BC4BD"/>
        </a:solidFill>
      </p:bgPr>
    </p:bg>
    <p:spTree>
      <p:nvGrpSpPr>
        <p:cNvPr id="1" name=""/>
        <p:cNvGrpSpPr/>
        <p:nvPr/>
      </p:nvGrpSpPr>
      <p:grpSpPr>
        <a:xfrm>
          <a:off x="0" y="0"/>
          <a:ext cx="0" cy="0"/>
          <a:chOff x="0" y="0"/>
          <a:chExt cx="0" cy="0"/>
        </a:xfrm>
      </p:grpSpPr>
      <p:grpSp>
        <p:nvGrpSpPr>
          <p:cNvPr name="Group 2" id="2"/>
          <p:cNvGrpSpPr/>
          <p:nvPr/>
        </p:nvGrpSpPr>
        <p:grpSpPr>
          <a:xfrm rot="0">
            <a:off x="3634735" y="-33383"/>
            <a:ext cx="11681480" cy="2124167"/>
            <a:chOff x="0" y="0"/>
            <a:chExt cx="15575307" cy="2832222"/>
          </a:xfrm>
        </p:grpSpPr>
        <p:sp>
          <p:nvSpPr>
            <p:cNvPr name="Freeform 3" id="3"/>
            <p:cNvSpPr/>
            <p:nvPr/>
          </p:nvSpPr>
          <p:spPr>
            <a:xfrm flipH="false" flipV="false" rot="0">
              <a:off x="0" y="0"/>
              <a:ext cx="15575307" cy="2832222"/>
            </a:xfrm>
            <a:custGeom>
              <a:avLst/>
              <a:gdLst/>
              <a:ahLst/>
              <a:cxnLst/>
              <a:rect r="r" b="b" t="t" l="l"/>
              <a:pathLst>
                <a:path h="2832222" w="15575307">
                  <a:moveTo>
                    <a:pt x="0" y="0"/>
                  </a:moveTo>
                  <a:lnTo>
                    <a:pt x="15575307" y="0"/>
                  </a:lnTo>
                  <a:lnTo>
                    <a:pt x="15575307" y="2832222"/>
                  </a:lnTo>
                  <a:lnTo>
                    <a:pt x="0" y="2832222"/>
                  </a:lnTo>
                  <a:close/>
                </a:path>
              </a:pathLst>
            </a:custGeom>
            <a:solidFill>
              <a:srgbClr val="000000">
                <a:alpha val="0"/>
              </a:srgbClr>
            </a:solidFill>
          </p:spPr>
        </p:sp>
        <p:sp>
          <p:nvSpPr>
            <p:cNvPr name="TextBox 4" id="4"/>
            <p:cNvSpPr txBox="true"/>
            <p:nvPr/>
          </p:nvSpPr>
          <p:spPr>
            <a:xfrm>
              <a:off x="0" y="57150"/>
              <a:ext cx="15575307" cy="2775072"/>
            </a:xfrm>
            <a:prstGeom prst="rect">
              <a:avLst/>
            </a:prstGeom>
          </p:spPr>
          <p:txBody>
            <a:bodyPr anchor="t" rtlCol="false" tIns="0" lIns="0" bIns="0" rIns="0"/>
            <a:lstStyle/>
            <a:p>
              <a:pPr algn="ctr">
                <a:lnSpc>
                  <a:spcPts val="7160"/>
                </a:lnSpc>
              </a:pPr>
              <a:r>
                <a:rPr lang="en-US" sz="7698">
                  <a:solidFill>
                    <a:srgbClr val="000000"/>
                  </a:solidFill>
                  <a:latin typeface="Pixellet TH"/>
                  <a:ea typeface="Pixellet TH"/>
                  <a:cs typeface="Pixellet TH"/>
                  <a:sym typeface="Pixellet TH"/>
                </a:rPr>
                <a:t>Optimizer</a:t>
              </a:r>
            </a:p>
          </p:txBody>
        </p:sp>
      </p:grpSp>
      <p:sp>
        <p:nvSpPr>
          <p:cNvPr name="Freeform 5" id="5"/>
          <p:cNvSpPr/>
          <p:nvPr/>
        </p:nvSpPr>
        <p:spPr>
          <a:xfrm flipH="false" flipV="false" rot="0">
            <a:off x="3403730" y="2090783"/>
            <a:ext cx="11912485" cy="7393956"/>
          </a:xfrm>
          <a:custGeom>
            <a:avLst/>
            <a:gdLst/>
            <a:ahLst/>
            <a:cxnLst/>
            <a:rect r="r" b="b" t="t" l="l"/>
            <a:pathLst>
              <a:path h="7393956" w="11912485">
                <a:moveTo>
                  <a:pt x="0" y="0"/>
                </a:moveTo>
                <a:lnTo>
                  <a:pt x="11912485" y="0"/>
                </a:lnTo>
                <a:lnTo>
                  <a:pt x="11912485" y="7393957"/>
                </a:lnTo>
                <a:lnTo>
                  <a:pt x="0" y="7393957"/>
                </a:lnTo>
                <a:lnTo>
                  <a:pt x="0" y="0"/>
                </a:lnTo>
                <a:close/>
              </a:path>
            </a:pathLst>
          </a:custGeom>
          <a:blipFill>
            <a:blip r:embed="rId3"/>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5BC4BD"/>
        </a:solidFill>
      </p:bgPr>
    </p:bg>
    <p:spTree>
      <p:nvGrpSpPr>
        <p:cNvPr id="1" name=""/>
        <p:cNvGrpSpPr/>
        <p:nvPr/>
      </p:nvGrpSpPr>
      <p:grpSpPr>
        <a:xfrm>
          <a:off x="0" y="0"/>
          <a:ext cx="0" cy="0"/>
          <a:chOff x="0" y="0"/>
          <a:chExt cx="0" cy="0"/>
        </a:xfrm>
      </p:grpSpPr>
      <p:grpSp>
        <p:nvGrpSpPr>
          <p:cNvPr name="Group 2" id="2"/>
          <p:cNvGrpSpPr/>
          <p:nvPr/>
        </p:nvGrpSpPr>
        <p:grpSpPr>
          <a:xfrm rot="0">
            <a:off x="2872247" y="-572504"/>
            <a:ext cx="11681480" cy="2124167"/>
            <a:chOff x="0" y="0"/>
            <a:chExt cx="15575307" cy="2832222"/>
          </a:xfrm>
        </p:grpSpPr>
        <p:sp>
          <p:nvSpPr>
            <p:cNvPr name="Freeform 3" id="3"/>
            <p:cNvSpPr/>
            <p:nvPr/>
          </p:nvSpPr>
          <p:spPr>
            <a:xfrm flipH="false" flipV="false" rot="0">
              <a:off x="0" y="0"/>
              <a:ext cx="15575307" cy="2832222"/>
            </a:xfrm>
            <a:custGeom>
              <a:avLst/>
              <a:gdLst/>
              <a:ahLst/>
              <a:cxnLst/>
              <a:rect r="r" b="b" t="t" l="l"/>
              <a:pathLst>
                <a:path h="2832222" w="15575307">
                  <a:moveTo>
                    <a:pt x="0" y="0"/>
                  </a:moveTo>
                  <a:lnTo>
                    <a:pt x="15575307" y="0"/>
                  </a:lnTo>
                  <a:lnTo>
                    <a:pt x="15575307" y="2832222"/>
                  </a:lnTo>
                  <a:lnTo>
                    <a:pt x="0" y="2832222"/>
                  </a:lnTo>
                  <a:close/>
                </a:path>
              </a:pathLst>
            </a:custGeom>
            <a:solidFill>
              <a:srgbClr val="000000">
                <a:alpha val="0"/>
              </a:srgbClr>
            </a:solidFill>
          </p:spPr>
        </p:sp>
        <p:sp>
          <p:nvSpPr>
            <p:cNvPr name="TextBox 4" id="4"/>
            <p:cNvSpPr txBox="true"/>
            <p:nvPr/>
          </p:nvSpPr>
          <p:spPr>
            <a:xfrm>
              <a:off x="0" y="57150"/>
              <a:ext cx="15575307" cy="2775072"/>
            </a:xfrm>
            <a:prstGeom prst="rect">
              <a:avLst/>
            </a:prstGeom>
          </p:spPr>
          <p:txBody>
            <a:bodyPr anchor="t" rtlCol="false" tIns="0" lIns="0" bIns="0" rIns="0"/>
            <a:lstStyle/>
            <a:p>
              <a:pPr algn="ctr">
                <a:lnSpc>
                  <a:spcPts val="7160"/>
                </a:lnSpc>
              </a:pPr>
              <a:r>
                <a:rPr lang="en-US" sz="7698">
                  <a:solidFill>
                    <a:srgbClr val="000000"/>
                  </a:solidFill>
                  <a:latin typeface="Pixellet TH"/>
                  <a:ea typeface="Pixellet TH"/>
                  <a:cs typeface="Pixellet TH"/>
                  <a:sym typeface="Pixellet TH"/>
                </a:rPr>
                <a:t>Epochs</a:t>
              </a:r>
            </a:p>
          </p:txBody>
        </p:sp>
      </p:grpSp>
      <p:sp>
        <p:nvSpPr>
          <p:cNvPr name="Freeform 5" id="5"/>
          <p:cNvSpPr/>
          <p:nvPr/>
        </p:nvSpPr>
        <p:spPr>
          <a:xfrm flipH="false" flipV="false" rot="0">
            <a:off x="5634817" y="1315996"/>
            <a:ext cx="6156340" cy="8770676"/>
          </a:xfrm>
          <a:custGeom>
            <a:avLst/>
            <a:gdLst/>
            <a:ahLst/>
            <a:cxnLst/>
            <a:rect r="r" b="b" t="t" l="l"/>
            <a:pathLst>
              <a:path h="8770676" w="6156340">
                <a:moveTo>
                  <a:pt x="0" y="0"/>
                </a:moveTo>
                <a:lnTo>
                  <a:pt x="6156340" y="0"/>
                </a:lnTo>
                <a:lnTo>
                  <a:pt x="6156340" y="8770676"/>
                </a:lnTo>
                <a:lnTo>
                  <a:pt x="0" y="8770676"/>
                </a:lnTo>
                <a:lnTo>
                  <a:pt x="0" y="0"/>
                </a:lnTo>
                <a:close/>
              </a:path>
            </a:pathLst>
          </a:custGeom>
          <a:blipFill>
            <a:blip r:embed="rId3"/>
            <a:stretch>
              <a:fillRect l="0" t="0" r="0" b="0"/>
            </a:stretch>
          </a:blipFill>
        </p:spPr>
      </p:sp>
      <p:sp>
        <p:nvSpPr>
          <p:cNvPr name="Freeform 6" id="6"/>
          <p:cNvSpPr/>
          <p:nvPr/>
        </p:nvSpPr>
        <p:spPr>
          <a:xfrm flipH="false" flipV="false" rot="9927724">
            <a:off x="12549217" y="5984423"/>
            <a:ext cx="2376186" cy="946154"/>
          </a:xfrm>
          <a:custGeom>
            <a:avLst/>
            <a:gdLst/>
            <a:ahLst/>
            <a:cxnLst/>
            <a:rect r="r" b="b" t="t" l="l"/>
            <a:pathLst>
              <a:path h="946154" w="2376186">
                <a:moveTo>
                  <a:pt x="0" y="0"/>
                </a:moveTo>
                <a:lnTo>
                  <a:pt x="2376186" y="0"/>
                </a:lnTo>
                <a:lnTo>
                  <a:pt x="2376186" y="946154"/>
                </a:lnTo>
                <a:lnTo>
                  <a:pt x="0" y="9461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1170146">
            <a:off x="13871139" y="5047442"/>
            <a:ext cx="2578913" cy="1244935"/>
          </a:xfrm>
          <a:prstGeom prst="rect">
            <a:avLst/>
          </a:prstGeom>
        </p:spPr>
        <p:txBody>
          <a:bodyPr anchor="t" rtlCol="false" tIns="0" lIns="0" bIns="0" rIns="0">
            <a:spAutoFit/>
          </a:bodyPr>
          <a:lstStyle/>
          <a:p>
            <a:pPr algn="ctr">
              <a:lnSpc>
                <a:spcPts val="5035"/>
              </a:lnSpc>
            </a:pPr>
            <a:r>
              <a:rPr lang="en-US" sz="3596">
                <a:solidFill>
                  <a:srgbClr val="000000"/>
                </a:solidFill>
                <a:latin typeface="Canva Sans"/>
                <a:ea typeface="Canva Sans"/>
                <a:cs typeface="Canva Sans"/>
                <a:sym typeface="Canva Sans"/>
              </a:rPr>
              <a:t>Is this is good?</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5BC4BD"/>
        </a:solidFill>
      </p:bgPr>
    </p:bg>
    <p:spTree>
      <p:nvGrpSpPr>
        <p:cNvPr id="1" name=""/>
        <p:cNvGrpSpPr/>
        <p:nvPr/>
      </p:nvGrpSpPr>
      <p:grpSpPr>
        <a:xfrm>
          <a:off x="0" y="0"/>
          <a:ext cx="0" cy="0"/>
          <a:chOff x="0" y="0"/>
          <a:chExt cx="0" cy="0"/>
        </a:xfrm>
      </p:grpSpPr>
      <p:grpSp>
        <p:nvGrpSpPr>
          <p:cNvPr name="Group 2" id="2"/>
          <p:cNvGrpSpPr/>
          <p:nvPr/>
        </p:nvGrpSpPr>
        <p:grpSpPr>
          <a:xfrm rot="0">
            <a:off x="2872247" y="-572504"/>
            <a:ext cx="11681480" cy="2124167"/>
            <a:chOff x="0" y="0"/>
            <a:chExt cx="15575307" cy="2832222"/>
          </a:xfrm>
        </p:grpSpPr>
        <p:sp>
          <p:nvSpPr>
            <p:cNvPr name="Freeform 3" id="3"/>
            <p:cNvSpPr/>
            <p:nvPr/>
          </p:nvSpPr>
          <p:spPr>
            <a:xfrm flipH="false" flipV="false" rot="0">
              <a:off x="0" y="0"/>
              <a:ext cx="15575307" cy="2832222"/>
            </a:xfrm>
            <a:custGeom>
              <a:avLst/>
              <a:gdLst/>
              <a:ahLst/>
              <a:cxnLst/>
              <a:rect r="r" b="b" t="t" l="l"/>
              <a:pathLst>
                <a:path h="2832222" w="15575307">
                  <a:moveTo>
                    <a:pt x="0" y="0"/>
                  </a:moveTo>
                  <a:lnTo>
                    <a:pt x="15575307" y="0"/>
                  </a:lnTo>
                  <a:lnTo>
                    <a:pt x="15575307" y="2832222"/>
                  </a:lnTo>
                  <a:lnTo>
                    <a:pt x="0" y="2832222"/>
                  </a:lnTo>
                  <a:close/>
                </a:path>
              </a:pathLst>
            </a:custGeom>
            <a:solidFill>
              <a:srgbClr val="000000">
                <a:alpha val="0"/>
              </a:srgbClr>
            </a:solidFill>
          </p:spPr>
        </p:sp>
        <p:sp>
          <p:nvSpPr>
            <p:cNvPr name="TextBox 4" id="4"/>
            <p:cNvSpPr txBox="true"/>
            <p:nvPr/>
          </p:nvSpPr>
          <p:spPr>
            <a:xfrm>
              <a:off x="0" y="57150"/>
              <a:ext cx="15575307" cy="2775072"/>
            </a:xfrm>
            <a:prstGeom prst="rect">
              <a:avLst/>
            </a:prstGeom>
          </p:spPr>
          <p:txBody>
            <a:bodyPr anchor="t" rtlCol="false" tIns="0" lIns="0" bIns="0" rIns="0"/>
            <a:lstStyle/>
            <a:p>
              <a:pPr algn="ctr">
                <a:lnSpc>
                  <a:spcPts val="7160"/>
                </a:lnSpc>
              </a:pPr>
              <a:r>
                <a:rPr lang="en-US" sz="7698">
                  <a:solidFill>
                    <a:srgbClr val="000000"/>
                  </a:solidFill>
                  <a:latin typeface="Pixellet TH"/>
                  <a:ea typeface="Pixellet TH"/>
                  <a:cs typeface="Pixellet TH"/>
                  <a:sym typeface="Pixellet TH"/>
                </a:rPr>
                <a:t>Epochs</a:t>
              </a:r>
            </a:p>
          </p:txBody>
        </p:sp>
      </p:grpSp>
      <p:sp>
        <p:nvSpPr>
          <p:cNvPr name="Freeform 5" id="5"/>
          <p:cNvSpPr/>
          <p:nvPr/>
        </p:nvSpPr>
        <p:spPr>
          <a:xfrm flipH="false" flipV="false" rot="0">
            <a:off x="5634817" y="1315996"/>
            <a:ext cx="6156340" cy="8770676"/>
          </a:xfrm>
          <a:custGeom>
            <a:avLst/>
            <a:gdLst/>
            <a:ahLst/>
            <a:cxnLst/>
            <a:rect r="r" b="b" t="t" l="l"/>
            <a:pathLst>
              <a:path h="8770676" w="6156340">
                <a:moveTo>
                  <a:pt x="0" y="0"/>
                </a:moveTo>
                <a:lnTo>
                  <a:pt x="6156340" y="0"/>
                </a:lnTo>
                <a:lnTo>
                  <a:pt x="6156340" y="8770676"/>
                </a:lnTo>
                <a:lnTo>
                  <a:pt x="0" y="8770676"/>
                </a:lnTo>
                <a:lnTo>
                  <a:pt x="0" y="0"/>
                </a:lnTo>
                <a:close/>
              </a:path>
            </a:pathLst>
          </a:custGeom>
          <a:blipFill>
            <a:blip r:embed="rId3"/>
            <a:stretch>
              <a:fillRect l="0" t="0" r="0" b="0"/>
            </a:stretch>
          </a:blipFill>
        </p:spPr>
      </p:sp>
      <p:sp>
        <p:nvSpPr>
          <p:cNvPr name="Freeform 6" id="6"/>
          <p:cNvSpPr/>
          <p:nvPr/>
        </p:nvSpPr>
        <p:spPr>
          <a:xfrm flipH="false" flipV="false" rot="9927724">
            <a:off x="12549217" y="5984423"/>
            <a:ext cx="2376186" cy="946154"/>
          </a:xfrm>
          <a:custGeom>
            <a:avLst/>
            <a:gdLst/>
            <a:ahLst/>
            <a:cxnLst/>
            <a:rect r="r" b="b" t="t" l="l"/>
            <a:pathLst>
              <a:path h="946154" w="2376186">
                <a:moveTo>
                  <a:pt x="0" y="0"/>
                </a:moveTo>
                <a:lnTo>
                  <a:pt x="2376186" y="0"/>
                </a:lnTo>
                <a:lnTo>
                  <a:pt x="2376186" y="946154"/>
                </a:lnTo>
                <a:lnTo>
                  <a:pt x="0" y="9461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1170146">
            <a:off x="13871139" y="5047442"/>
            <a:ext cx="2578913" cy="1244935"/>
          </a:xfrm>
          <a:prstGeom prst="rect">
            <a:avLst/>
          </a:prstGeom>
        </p:spPr>
        <p:txBody>
          <a:bodyPr anchor="t" rtlCol="false" tIns="0" lIns="0" bIns="0" rIns="0">
            <a:spAutoFit/>
          </a:bodyPr>
          <a:lstStyle/>
          <a:p>
            <a:pPr algn="ctr">
              <a:lnSpc>
                <a:spcPts val="5035"/>
              </a:lnSpc>
            </a:pPr>
            <a:r>
              <a:rPr lang="en-US" sz="3596">
                <a:solidFill>
                  <a:srgbClr val="000000"/>
                </a:solidFill>
                <a:latin typeface="Canva Sans"/>
                <a:ea typeface="Canva Sans"/>
                <a:cs typeface="Canva Sans"/>
                <a:sym typeface="Canva Sans"/>
              </a:rPr>
              <a:t>Is this is good?</a:t>
            </a:r>
          </a:p>
        </p:txBody>
      </p:sp>
      <p:sp>
        <p:nvSpPr>
          <p:cNvPr name="TextBox 8" id="8"/>
          <p:cNvSpPr txBox="true"/>
          <p:nvPr/>
        </p:nvSpPr>
        <p:spPr>
          <a:xfrm rot="0">
            <a:off x="13860009" y="8000610"/>
            <a:ext cx="2578913" cy="613491"/>
          </a:xfrm>
          <a:prstGeom prst="rect">
            <a:avLst/>
          </a:prstGeom>
        </p:spPr>
        <p:txBody>
          <a:bodyPr anchor="t" rtlCol="false" tIns="0" lIns="0" bIns="0" rIns="0">
            <a:spAutoFit/>
          </a:bodyPr>
          <a:lstStyle/>
          <a:p>
            <a:pPr algn="ctr">
              <a:lnSpc>
                <a:spcPts val="5035"/>
              </a:lnSpc>
            </a:pPr>
            <a:r>
              <a:rPr lang="en-US" sz="3596" b="true">
                <a:solidFill>
                  <a:srgbClr val="000000"/>
                </a:solidFill>
                <a:latin typeface="Canva Sans Bold"/>
                <a:ea typeface="Canva Sans Bold"/>
                <a:cs typeface="Canva Sans Bold"/>
                <a:sym typeface="Canva Sans Bold"/>
              </a:rPr>
              <a:t>Close but...</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5BC4BD"/>
        </a:solidFill>
      </p:bgPr>
    </p:bg>
    <p:spTree>
      <p:nvGrpSpPr>
        <p:cNvPr id="1" name=""/>
        <p:cNvGrpSpPr/>
        <p:nvPr/>
      </p:nvGrpSpPr>
      <p:grpSpPr>
        <a:xfrm>
          <a:off x="0" y="0"/>
          <a:ext cx="0" cy="0"/>
          <a:chOff x="0" y="0"/>
          <a:chExt cx="0" cy="0"/>
        </a:xfrm>
      </p:grpSpPr>
      <p:grpSp>
        <p:nvGrpSpPr>
          <p:cNvPr name="Group 2" id="2"/>
          <p:cNvGrpSpPr/>
          <p:nvPr/>
        </p:nvGrpSpPr>
        <p:grpSpPr>
          <a:xfrm rot="0">
            <a:off x="2872247" y="-572504"/>
            <a:ext cx="11681480" cy="2124167"/>
            <a:chOff x="0" y="0"/>
            <a:chExt cx="15575307" cy="2832222"/>
          </a:xfrm>
        </p:grpSpPr>
        <p:sp>
          <p:nvSpPr>
            <p:cNvPr name="Freeform 3" id="3"/>
            <p:cNvSpPr/>
            <p:nvPr/>
          </p:nvSpPr>
          <p:spPr>
            <a:xfrm flipH="false" flipV="false" rot="0">
              <a:off x="0" y="0"/>
              <a:ext cx="15575307" cy="2832222"/>
            </a:xfrm>
            <a:custGeom>
              <a:avLst/>
              <a:gdLst/>
              <a:ahLst/>
              <a:cxnLst/>
              <a:rect r="r" b="b" t="t" l="l"/>
              <a:pathLst>
                <a:path h="2832222" w="15575307">
                  <a:moveTo>
                    <a:pt x="0" y="0"/>
                  </a:moveTo>
                  <a:lnTo>
                    <a:pt x="15575307" y="0"/>
                  </a:lnTo>
                  <a:lnTo>
                    <a:pt x="15575307" y="2832222"/>
                  </a:lnTo>
                  <a:lnTo>
                    <a:pt x="0" y="2832222"/>
                  </a:lnTo>
                  <a:close/>
                </a:path>
              </a:pathLst>
            </a:custGeom>
            <a:solidFill>
              <a:srgbClr val="000000">
                <a:alpha val="0"/>
              </a:srgbClr>
            </a:solidFill>
          </p:spPr>
        </p:sp>
        <p:sp>
          <p:nvSpPr>
            <p:cNvPr name="TextBox 4" id="4"/>
            <p:cNvSpPr txBox="true"/>
            <p:nvPr/>
          </p:nvSpPr>
          <p:spPr>
            <a:xfrm>
              <a:off x="0" y="57150"/>
              <a:ext cx="15575307" cy="2775072"/>
            </a:xfrm>
            <a:prstGeom prst="rect">
              <a:avLst/>
            </a:prstGeom>
          </p:spPr>
          <p:txBody>
            <a:bodyPr anchor="t" rtlCol="false" tIns="0" lIns="0" bIns="0" rIns="0"/>
            <a:lstStyle/>
            <a:p>
              <a:pPr algn="ctr">
                <a:lnSpc>
                  <a:spcPts val="7160"/>
                </a:lnSpc>
              </a:pPr>
              <a:r>
                <a:rPr lang="en-US" sz="7698">
                  <a:solidFill>
                    <a:srgbClr val="000000"/>
                  </a:solidFill>
                  <a:latin typeface="Pixellet TH"/>
                  <a:ea typeface="Pixellet TH"/>
                  <a:cs typeface="Pixellet TH"/>
                  <a:sym typeface="Pixellet TH"/>
                </a:rPr>
                <a:t>Epochs</a:t>
              </a:r>
            </a:p>
          </p:txBody>
        </p:sp>
      </p:grpSp>
      <p:sp>
        <p:nvSpPr>
          <p:cNvPr name="Freeform 5" id="5"/>
          <p:cNvSpPr/>
          <p:nvPr/>
        </p:nvSpPr>
        <p:spPr>
          <a:xfrm flipH="false" flipV="false" rot="9927724">
            <a:off x="12549217" y="5984423"/>
            <a:ext cx="2376186" cy="946154"/>
          </a:xfrm>
          <a:custGeom>
            <a:avLst/>
            <a:gdLst/>
            <a:ahLst/>
            <a:cxnLst/>
            <a:rect r="r" b="b" t="t" l="l"/>
            <a:pathLst>
              <a:path h="946154" w="2376186">
                <a:moveTo>
                  <a:pt x="0" y="0"/>
                </a:moveTo>
                <a:lnTo>
                  <a:pt x="2376186" y="0"/>
                </a:lnTo>
                <a:lnTo>
                  <a:pt x="2376186" y="946154"/>
                </a:lnTo>
                <a:lnTo>
                  <a:pt x="0" y="9461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6027000" y="1211710"/>
            <a:ext cx="6234000" cy="8979248"/>
          </a:xfrm>
          <a:custGeom>
            <a:avLst/>
            <a:gdLst/>
            <a:ahLst/>
            <a:cxnLst/>
            <a:rect r="r" b="b" t="t" l="l"/>
            <a:pathLst>
              <a:path h="8979248" w="6234000">
                <a:moveTo>
                  <a:pt x="0" y="0"/>
                </a:moveTo>
                <a:lnTo>
                  <a:pt x="6234000" y="0"/>
                </a:lnTo>
                <a:lnTo>
                  <a:pt x="6234000" y="8979248"/>
                </a:lnTo>
                <a:lnTo>
                  <a:pt x="0" y="8979248"/>
                </a:lnTo>
                <a:lnTo>
                  <a:pt x="0" y="0"/>
                </a:lnTo>
                <a:close/>
              </a:path>
            </a:pathLst>
          </a:custGeom>
          <a:blipFill>
            <a:blip r:embed="rId5"/>
            <a:stretch>
              <a:fillRect l="0" t="0" r="0" b="0"/>
            </a:stretch>
          </a:blipFill>
        </p:spPr>
      </p:sp>
      <p:sp>
        <p:nvSpPr>
          <p:cNvPr name="TextBox 7" id="7"/>
          <p:cNvSpPr txBox="true"/>
          <p:nvPr/>
        </p:nvSpPr>
        <p:spPr>
          <a:xfrm rot="1170146">
            <a:off x="13765175" y="5364846"/>
            <a:ext cx="2578913" cy="610126"/>
          </a:xfrm>
          <a:prstGeom prst="rect">
            <a:avLst/>
          </a:prstGeom>
        </p:spPr>
        <p:txBody>
          <a:bodyPr anchor="t" rtlCol="false" tIns="0" lIns="0" bIns="0" rIns="0">
            <a:spAutoFit/>
          </a:bodyPr>
          <a:lstStyle/>
          <a:p>
            <a:pPr algn="ctr">
              <a:lnSpc>
                <a:spcPts val="5035"/>
              </a:lnSpc>
            </a:pPr>
            <a:r>
              <a:rPr lang="en-US" sz="3596">
                <a:solidFill>
                  <a:srgbClr val="000000"/>
                </a:solidFill>
                <a:latin typeface="Canva Sans"/>
                <a:ea typeface="Canva Sans"/>
                <a:cs typeface="Canva Sans"/>
                <a:sym typeface="Canva Sans"/>
              </a:rPr>
              <a:t>This is good</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EE3975"/>
        </a:solidFill>
      </p:bgPr>
    </p:bg>
    <p:spTree>
      <p:nvGrpSpPr>
        <p:cNvPr id="1" name=""/>
        <p:cNvGrpSpPr/>
        <p:nvPr/>
      </p:nvGrpSpPr>
      <p:grpSpPr>
        <a:xfrm>
          <a:off x="0" y="0"/>
          <a:ext cx="0" cy="0"/>
          <a:chOff x="0" y="0"/>
          <a:chExt cx="0" cy="0"/>
        </a:xfrm>
      </p:grpSpPr>
      <p:sp>
        <p:nvSpPr>
          <p:cNvPr name="Freeform 2" id="2"/>
          <p:cNvSpPr/>
          <p:nvPr/>
        </p:nvSpPr>
        <p:spPr>
          <a:xfrm flipH="false" flipV="false" rot="0">
            <a:off x="10892995" y="2858511"/>
            <a:ext cx="8219349" cy="8219349"/>
          </a:xfrm>
          <a:custGeom>
            <a:avLst/>
            <a:gdLst/>
            <a:ahLst/>
            <a:cxnLst/>
            <a:rect r="r" b="b" t="t" l="l"/>
            <a:pathLst>
              <a:path h="8219349" w="8219349">
                <a:moveTo>
                  <a:pt x="0" y="0"/>
                </a:moveTo>
                <a:lnTo>
                  <a:pt x="8219349" y="0"/>
                </a:lnTo>
                <a:lnTo>
                  <a:pt x="8219349" y="8219349"/>
                </a:lnTo>
                <a:lnTo>
                  <a:pt x="0" y="8219349"/>
                </a:lnTo>
                <a:lnTo>
                  <a:pt x="0" y="0"/>
                </a:lnTo>
                <a:close/>
              </a:path>
            </a:pathLst>
          </a:custGeom>
          <a:blipFill>
            <a:blip r:embed="rId2">
              <a:extLst>
                <a:ext uri="{96DAC541-7B7A-43D3-8B79-37D633B846F1}">
                  <asvg:svgBlip xmlns:asvg="http://schemas.microsoft.com/office/drawing/2016/SVG/main" r:embed="rId3"/>
                </a:ext>
              </a:extLst>
            </a:blip>
            <a:stretch>
              <a:fillRect l="0" t="-57" r="0" b="-57"/>
            </a:stretch>
          </a:blipFill>
        </p:spPr>
      </p:sp>
      <p:sp>
        <p:nvSpPr>
          <p:cNvPr name="Freeform 3" id="3"/>
          <p:cNvSpPr/>
          <p:nvPr/>
        </p:nvSpPr>
        <p:spPr>
          <a:xfrm flipH="false" flipV="false" rot="-10800000">
            <a:off x="1404677" y="5886233"/>
            <a:ext cx="6864869" cy="3521106"/>
          </a:xfrm>
          <a:custGeom>
            <a:avLst/>
            <a:gdLst/>
            <a:ahLst/>
            <a:cxnLst/>
            <a:rect r="r" b="b" t="t" l="l"/>
            <a:pathLst>
              <a:path h="3521106" w="6864869">
                <a:moveTo>
                  <a:pt x="0" y="0"/>
                </a:moveTo>
                <a:lnTo>
                  <a:pt x="6864869" y="0"/>
                </a:lnTo>
                <a:lnTo>
                  <a:pt x="6864869" y="3521106"/>
                </a:lnTo>
                <a:lnTo>
                  <a:pt x="0" y="3521106"/>
                </a:lnTo>
                <a:lnTo>
                  <a:pt x="0" y="0"/>
                </a:lnTo>
                <a:close/>
              </a:path>
            </a:pathLst>
          </a:custGeom>
          <a:blipFill>
            <a:blip r:embed="rId4">
              <a:extLst>
                <a:ext uri="{96DAC541-7B7A-43D3-8B79-37D633B846F1}">
                  <asvg:svgBlip xmlns:asvg="http://schemas.microsoft.com/office/drawing/2016/SVG/main" r:embed="rId5"/>
                </a:ext>
              </a:extLst>
            </a:blip>
            <a:stretch>
              <a:fillRect l="-44" t="0" r="-44" b="0"/>
            </a:stretch>
          </a:blipFill>
        </p:spPr>
      </p:sp>
      <p:grpSp>
        <p:nvGrpSpPr>
          <p:cNvPr name="Group 4" id="4"/>
          <p:cNvGrpSpPr/>
          <p:nvPr/>
        </p:nvGrpSpPr>
        <p:grpSpPr>
          <a:xfrm rot="0">
            <a:off x="1028700" y="129448"/>
            <a:ext cx="5450702" cy="2541412"/>
            <a:chOff x="0" y="0"/>
            <a:chExt cx="10137701" cy="4726744"/>
          </a:xfrm>
        </p:grpSpPr>
        <p:sp>
          <p:nvSpPr>
            <p:cNvPr name="Freeform 5" id="5"/>
            <p:cNvSpPr/>
            <p:nvPr/>
          </p:nvSpPr>
          <p:spPr>
            <a:xfrm flipH="false" flipV="false" rot="0">
              <a:off x="0" y="0"/>
              <a:ext cx="10137701" cy="4726744"/>
            </a:xfrm>
            <a:custGeom>
              <a:avLst/>
              <a:gdLst/>
              <a:ahLst/>
              <a:cxnLst/>
              <a:rect r="r" b="b" t="t" l="l"/>
              <a:pathLst>
                <a:path h="4726744" w="10137701">
                  <a:moveTo>
                    <a:pt x="0" y="0"/>
                  </a:moveTo>
                  <a:lnTo>
                    <a:pt x="10137701" y="0"/>
                  </a:lnTo>
                  <a:lnTo>
                    <a:pt x="10137701" y="4726744"/>
                  </a:lnTo>
                  <a:lnTo>
                    <a:pt x="0" y="4726744"/>
                  </a:lnTo>
                  <a:close/>
                </a:path>
              </a:pathLst>
            </a:custGeom>
            <a:solidFill>
              <a:srgbClr val="000000">
                <a:alpha val="0"/>
              </a:srgbClr>
            </a:solidFill>
          </p:spPr>
        </p:sp>
        <p:sp>
          <p:nvSpPr>
            <p:cNvPr name="TextBox 6" id="6"/>
            <p:cNvSpPr txBox="true"/>
            <p:nvPr/>
          </p:nvSpPr>
          <p:spPr>
            <a:xfrm>
              <a:off x="0" y="38100"/>
              <a:ext cx="10137701" cy="4688644"/>
            </a:xfrm>
            <a:prstGeom prst="rect">
              <a:avLst/>
            </a:prstGeom>
          </p:spPr>
          <p:txBody>
            <a:bodyPr anchor="t" rtlCol="false" tIns="0" lIns="0" bIns="0" rIns="0"/>
            <a:lstStyle/>
            <a:p>
              <a:pPr algn="ctr">
                <a:lnSpc>
                  <a:spcPts val="8646"/>
                </a:lnSpc>
              </a:pPr>
              <a:r>
                <a:rPr lang="en-US" sz="9101">
                  <a:solidFill>
                    <a:srgbClr val="FFFFFF"/>
                  </a:solidFill>
                  <a:latin typeface="Pixellet TH"/>
                  <a:ea typeface="Pixellet TH"/>
                  <a:cs typeface="Pixellet TH"/>
                  <a:sym typeface="Pixellet TH"/>
                </a:rPr>
                <a:t>4. </a:t>
              </a:r>
            </a:p>
          </p:txBody>
        </p:sp>
      </p:grpSp>
      <p:sp>
        <p:nvSpPr>
          <p:cNvPr name="Freeform 7" id="7"/>
          <p:cNvSpPr/>
          <p:nvPr/>
        </p:nvSpPr>
        <p:spPr>
          <a:xfrm flipH="false" flipV="false" rot="0">
            <a:off x="2958649" y="3162046"/>
            <a:ext cx="12370701" cy="3962909"/>
          </a:xfrm>
          <a:custGeom>
            <a:avLst/>
            <a:gdLst/>
            <a:ahLst/>
            <a:cxnLst/>
            <a:rect r="r" b="b" t="t" l="l"/>
            <a:pathLst>
              <a:path h="3962909" w="12370701">
                <a:moveTo>
                  <a:pt x="0" y="0"/>
                </a:moveTo>
                <a:lnTo>
                  <a:pt x="12370702" y="0"/>
                </a:lnTo>
                <a:lnTo>
                  <a:pt x="12370702" y="3962908"/>
                </a:lnTo>
                <a:lnTo>
                  <a:pt x="0" y="3962908"/>
                </a:lnTo>
                <a:lnTo>
                  <a:pt x="0" y="0"/>
                </a:lnTo>
                <a:close/>
              </a:path>
            </a:pathLst>
          </a:custGeom>
          <a:blipFill>
            <a:blip r:embed="rId6"/>
            <a:stretch>
              <a:fillRect l="0" t="0" r="0" b="0"/>
            </a:stretch>
          </a:blipFill>
        </p:spPr>
      </p:sp>
      <p:sp>
        <p:nvSpPr>
          <p:cNvPr name="TextBox 8" id="8"/>
          <p:cNvSpPr txBox="true"/>
          <p:nvPr/>
        </p:nvSpPr>
        <p:spPr>
          <a:xfrm rot="0">
            <a:off x="6033306" y="531143"/>
            <a:ext cx="6221388" cy="1452271"/>
          </a:xfrm>
          <a:prstGeom prst="rect">
            <a:avLst/>
          </a:prstGeom>
        </p:spPr>
        <p:txBody>
          <a:bodyPr anchor="t" rtlCol="false" tIns="0" lIns="0" bIns="0" rIns="0">
            <a:spAutoFit/>
          </a:bodyPr>
          <a:lstStyle/>
          <a:p>
            <a:pPr algn="ctr">
              <a:lnSpc>
                <a:spcPts val="10778"/>
              </a:lnSpc>
              <a:spcBef>
                <a:spcPct val="0"/>
              </a:spcBef>
            </a:pPr>
            <a:r>
              <a:rPr lang="en-US" sz="7698">
                <a:solidFill>
                  <a:srgbClr val="FFFFFF"/>
                </a:solidFill>
                <a:latin typeface="Pixellet TH"/>
                <a:ea typeface="Pixellet TH"/>
                <a:cs typeface="Pixellet TH"/>
                <a:sym typeface="Pixellet TH"/>
              </a:rPr>
              <a:t>Why RMSE?</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5BC4BD"/>
        </a:solidFill>
      </p:bgPr>
    </p:bg>
    <p:spTree>
      <p:nvGrpSpPr>
        <p:cNvPr id="1" name=""/>
        <p:cNvGrpSpPr/>
        <p:nvPr/>
      </p:nvGrpSpPr>
      <p:grpSpPr>
        <a:xfrm>
          <a:off x="0" y="0"/>
          <a:ext cx="0" cy="0"/>
          <a:chOff x="0" y="0"/>
          <a:chExt cx="0" cy="0"/>
        </a:xfrm>
      </p:grpSpPr>
      <p:grpSp>
        <p:nvGrpSpPr>
          <p:cNvPr name="Group 2" id="2"/>
          <p:cNvGrpSpPr/>
          <p:nvPr/>
        </p:nvGrpSpPr>
        <p:grpSpPr>
          <a:xfrm rot="0">
            <a:off x="0" y="161925"/>
            <a:ext cx="18288000" cy="1658878"/>
            <a:chOff x="0" y="0"/>
            <a:chExt cx="24384000" cy="2211837"/>
          </a:xfrm>
        </p:grpSpPr>
        <p:sp>
          <p:nvSpPr>
            <p:cNvPr name="Freeform 3" id="3"/>
            <p:cNvSpPr/>
            <p:nvPr/>
          </p:nvSpPr>
          <p:spPr>
            <a:xfrm flipH="false" flipV="false" rot="0">
              <a:off x="0" y="0"/>
              <a:ext cx="24384000" cy="2211837"/>
            </a:xfrm>
            <a:custGeom>
              <a:avLst/>
              <a:gdLst/>
              <a:ahLst/>
              <a:cxnLst/>
              <a:rect r="r" b="b" t="t" l="l"/>
              <a:pathLst>
                <a:path h="2211837" w="24384000">
                  <a:moveTo>
                    <a:pt x="0" y="0"/>
                  </a:moveTo>
                  <a:lnTo>
                    <a:pt x="24384000" y="0"/>
                  </a:lnTo>
                  <a:lnTo>
                    <a:pt x="24384000" y="2211837"/>
                  </a:lnTo>
                  <a:lnTo>
                    <a:pt x="0" y="2211837"/>
                  </a:lnTo>
                  <a:close/>
                </a:path>
              </a:pathLst>
            </a:custGeom>
            <a:solidFill>
              <a:srgbClr val="000000">
                <a:alpha val="0"/>
              </a:srgbClr>
            </a:solidFill>
          </p:spPr>
        </p:sp>
        <p:sp>
          <p:nvSpPr>
            <p:cNvPr name="TextBox 4" id="4"/>
            <p:cNvSpPr txBox="true"/>
            <p:nvPr/>
          </p:nvSpPr>
          <p:spPr>
            <a:xfrm>
              <a:off x="0" y="-228600"/>
              <a:ext cx="24384000" cy="2440437"/>
            </a:xfrm>
            <a:prstGeom prst="rect">
              <a:avLst/>
            </a:prstGeom>
          </p:spPr>
          <p:txBody>
            <a:bodyPr anchor="t" rtlCol="false" tIns="0" lIns="0" bIns="0" rIns="0"/>
            <a:lstStyle/>
            <a:p>
              <a:pPr algn="ctr">
                <a:lnSpc>
                  <a:spcPts val="8400"/>
                </a:lnSpc>
              </a:pPr>
              <a:r>
                <a:rPr lang="en-US" sz="6000">
                  <a:solidFill>
                    <a:srgbClr val="000000"/>
                  </a:solidFill>
                  <a:latin typeface="Pixellet TH"/>
                  <a:ea typeface="Pixellet TH"/>
                  <a:cs typeface="Pixellet TH"/>
                  <a:sym typeface="Pixellet TH"/>
                </a:rPr>
                <a:t>Root Mean Square Error visualize</a:t>
              </a:r>
            </a:p>
          </p:txBody>
        </p:sp>
      </p:grpSp>
      <p:sp>
        <p:nvSpPr>
          <p:cNvPr name="Freeform 5" id="5"/>
          <p:cNvSpPr/>
          <p:nvPr/>
        </p:nvSpPr>
        <p:spPr>
          <a:xfrm flipH="false" flipV="false" rot="0">
            <a:off x="3454528" y="1820803"/>
            <a:ext cx="11378943" cy="7780352"/>
          </a:xfrm>
          <a:custGeom>
            <a:avLst/>
            <a:gdLst/>
            <a:ahLst/>
            <a:cxnLst/>
            <a:rect r="r" b="b" t="t" l="l"/>
            <a:pathLst>
              <a:path h="7780352" w="11378943">
                <a:moveTo>
                  <a:pt x="0" y="0"/>
                </a:moveTo>
                <a:lnTo>
                  <a:pt x="11378944" y="0"/>
                </a:lnTo>
                <a:lnTo>
                  <a:pt x="11378944" y="7780352"/>
                </a:lnTo>
                <a:lnTo>
                  <a:pt x="0" y="7780352"/>
                </a:lnTo>
                <a:lnTo>
                  <a:pt x="0" y="0"/>
                </a:lnTo>
                <a:close/>
              </a:path>
            </a:pathLst>
          </a:custGeom>
          <a:blipFill>
            <a:blip r:embed="rId2"/>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EE3975"/>
        </a:solidFill>
      </p:bgPr>
    </p:bg>
    <p:spTree>
      <p:nvGrpSpPr>
        <p:cNvPr id="1" name=""/>
        <p:cNvGrpSpPr/>
        <p:nvPr/>
      </p:nvGrpSpPr>
      <p:grpSpPr>
        <a:xfrm>
          <a:off x="0" y="0"/>
          <a:ext cx="0" cy="0"/>
          <a:chOff x="0" y="0"/>
          <a:chExt cx="0" cy="0"/>
        </a:xfrm>
      </p:grpSpPr>
      <p:sp>
        <p:nvSpPr>
          <p:cNvPr name="Freeform 2" id="2"/>
          <p:cNvSpPr/>
          <p:nvPr/>
        </p:nvSpPr>
        <p:spPr>
          <a:xfrm flipH="false" flipV="false" rot="0">
            <a:off x="1211329" y="3289665"/>
            <a:ext cx="7322554" cy="3135945"/>
          </a:xfrm>
          <a:custGeom>
            <a:avLst/>
            <a:gdLst/>
            <a:ahLst/>
            <a:cxnLst/>
            <a:rect r="r" b="b" t="t" l="l"/>
            <a:pathLst>
              <a:path h="3135945" w="7322554">
                <a:moveTo>
                  <a:pt x="0" y="0"/>
                </a:moveTo>
                <a:lnTo>
                  <a:pt x="7322554" y="0"/>
                </a:lnTo>
                <a:lnTo>
                  <a:pt x="7322554" y="3135945"/>
                </a:lnTo>
                <a:lnTo>
                  <a:pt x="0" y="31359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19901" y="3289665"/>
            <a:ext cx="7505410" cy="3243818"/>
          </a:xfrm>
          <a:custGeom>
            <a:avLst/>
            <a:gdLst/>
            <a:ahLst/>
            <a:cxnLst/>
            <a:rect r="r" b="b" t="t" l="l"/>
            <a:pathLst>
              <a:path h="3243818" w="7505410">
                <a:moveTo>
                  <a:pt x="0" y="0"/>
                </a:moveTo>
                <a:lnTo>
                  <a:pt x="7505410" y="0"/>
                </a:lnTo>
                <a:lnTo>
                  <a:pt x="7505410" y="3243817"/>
                </a:lnTo>
                <a:lnTo>
                  <a:pt x="0" y="32438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9673428" y="3267372"/>
            <a:ext cx="7322554" cy="3135945"/>
          </a:xfrm>
          <a:custGeom>
            <a:avLst/>
            <a:gdLst/>
            <a:ahLst/>
            <a:cxnLst/>
            <a:rect r="r" b="b" t="t" l="l"/>
            <a:pathLst>
              <a:path h="3135945" w="7322554">
                <a:moveTo>
                  <a:pt x="0" y="0"/>
                </a:moveTo>
                <a:lnTo>
                  <a:pt x="7322554" y="0"/>
                </a:lnTo>
                <a:lnTo>
                  <a:pt x="7322554" y="3135945"/>
                </a:lnTo>
                <a:lnTo>
                  <a:pt x="0" y="31359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679756" y="3181792"/>
            <a:ext cx="7505410" cy="3243818"/>
          </a:xfrm>
          <a:custGeom>
            <a:avLst/>
            <a:gdLst/>
            <a:ahLst/>
            <a:cxnLst/>
            <a:rect r="r" b="b" t="t" l="l"/>
            <a:pathLst>
              <a:path h="3243818" w="7505410">
                <a:moveTo>
                  <a:pt x="0" y="0"/>
                </a:moveTo>
                <a:lnTo>
                  <a:pt x="7505411" y="0"/>
                </a:lnTo>
                <a:lnTo>
                  <a:pt x="7505411" y="3243818"/>
                </a:lnTo>
                <a:lnTo>
                  <a:pt x="0" y="32438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211329" y="6665711"/>
            <a:ext cx="7322554" cy="3138821"/>
          </a:xfrm>
          <a:custGeom>
            <a:avLst/>
            <a:gdLst/>
            <a:ahLst/>
            <a:cxnLst/>
            <a:rect r="r" b="b" t="t" l="l"/>
            <a:pathLst>
              <a:path h="3138821" w="7322554">
                <a:moveTo>
                  <a:pt x="0" y="0"/>
                </a:moveTo>
                <a:lnTo>
                  <a:pt x="7322554" y="0"/>
                </a:lnTo>
                <a:lnTo>
                  <a:pt x="7322554" y="3138821"/>
                </a:lnTo>
                <a:lnTo>
                  <a:pt x="0" y="31388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988356" y="6643834"/>
            <a:ext cx="7768500" cy="3360501"/>
          </a:xfrm>
          <a:custGeom>
            <a:avLst/>
            <a:gdLst/>
            <a:ahLst/>
            <a:cxnLst/>
            <a:rect r="r" b="b" t="t" l="l"/>
            <a:pathLst>
              <a:path h="3360501" w="7768500">
                <a:moveTo>
                  <a:pt x="0" y="0"/>
                </a:moveTo>
                <a:lnTo>
                  <a:pt x="7768500" y="0"/>
                </a:lnTo>
                <a:lnTo>
                  <a:pt x="7768500" y="3360501"/>
                </a:lnTo>
                <a:lnTo>
                  <a:pt x="0" y="33605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9673428" y="6665711"/>
            <a:ext cx="7322554" cy="3138821"/>
          </a:xfrm>
          <a:custGeom>
            <a:avLst/>
            <a:gdLst/>
            <a:ahLst/>
            <a:cxnLst/>
            <a:rect r="r" b="b" t="t" l="l"/>
            <a:pathLst>
              <a:path h="3138821" w="7322554">
                <a:moveTo>
                  <a:pt x="0" y="0"/>
                </a:moveTo>
                <a:lnTo>
                  <a:pt x="7322554" y="0"/>
                </a:lnTo>
                <a:lnTo>
                  <a:pt x="7322554" y="3138821"/>
                </a:lnTo>
                <a:lnTo>
                  <a:pt x="0" y="31388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9679756" y="6580049"/>
            <a:ext cx="7505410" cy="3246694"/>
          </a:xfrm>
          <a:custGeom>
            <a:avLst/>
            <a:gdLst/>
            <a:ahLst/>
            <a:cxnLst/>
            <a:rect r="r" b="b" t="t" l="l"/>
            <a:pathLst>
              <a:path h="3246694" w="7505410">
                <a:moveTo>
                  <a:pt x="0" y="0"/>
                </a:moveTo>
                <a:lnTo>
                  <a:pt x="7505411" y="0"/>
                </a:lnTo>
                <a:lnTo>
                  <a:pt x="7505411" y="3246694"/>
                </a:lnTo>
                <a:lnTo>
                  <a:pt x="0" y="324669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0" id="10"/>
          <p:cNvGrpSpPr/>
          <p:nvPr/>
        </p:nvGrpSpPr>
        <p:grpSpPr>
          <a:xfrm rot="0">
            <a:off x="954567" y="-254995"/>
            <a:ext cx="16230600" cy="2073592"/>
            <a:chOff x="0" y="0"/>
            <a:chExt cx="21640800" cy="2764790"/>
          </a:xfrm>
        </p:grpSpPr>
        <p:sp>
          <p:nvSpPr>
            <p:cNvPr name="Freeform 11" id="11"/>
            <p:cNvSpPr/>
            <p:nvPr/>
          </p:nvSpPr>
          <p:spPr>
            <a:xfrm flipH="false" flipV="false" rot="0">
              <a:off x="0" y="0"/>
              <a:ext cx="21640800" cy="2764790"/>
            </a:xfrm>
            <a:custGeom>
              <a:avLst/>
              <a:gdLst/>
              <a:ahLst/>
              <a:cxnLst/>
              <a:rect r="r" b="b" t="t" l="l"/>
              <a:pathLst>
                <a:path h="2764790" w="21640800">
                  <a:moveTo>
                    <a:pt x="0" y="0"/>
                  </a:moveTo>
                  <a:lnTo>
                    <a:pt x="21640800" y="0"/>
                  </a:lnTo>
                  <a:lnTo>
                    <a:pt x="21640800" y="2764790"/>
                  </a:lnTo>
                  <a:lnTo>
                    <a:pt x="0" y="2764790"/>
                  </a:lnTo>
                  <a:close/>
                </a:path>
              </a:pathLst>
            </a:custGeom>
            <a:solidFill>
              <a:srgbClr val="000000">
                <a:alpha val="0"/>
              </a:srgbClr>
            </a:solidFill>
          </p:spPr>
        </p:sp>
        <p:sp>
          <p:nvSpPr>
            <p:cNvPr name="TextBox 12" id="12"/>
            <p:cNvSpPr txBox="true"/>
            <p:nvPr/>
          </p:nvSpPr>
          <p:spPr>
            <a:xfrm>
              <a:off x="0" y="-295275"/>
              <a:ext cx="21640800" cy="3060065"/>
            </a:xfrm>
            <a:prstGeom prst="rect">
              <a:avLst/>
            </a:prstGeom>
          </p:spPr>
          <p:txBody>
            <a:bodyPr anchor="t" rtlCol="false" tIns="0" lIns="0" bIns="0" rIns="0"/>
            <a:lstStyle/>
            <a:p>
              <a:pPr algn="ctr">
                <a:lnSpc>
                  <a:spcPts val="10500"/>
                </a:lnSpc>
              </a:pPr>
              <a:r>
                <a:rPr lang="en-US" sz="7500">
                  <a:solidFill>
                    <a:srgbClr val="000000"/>
                  </a:solidFill>
                  <a:latin typeface="Pixellet TH"/>
                  <a:ea typeface="Pixellet TH"/>
                  <a:cs typeface="Pixellet TH"/>
                  <a:sym typeface="Pixellet TH"/>
                </a:rPr>
                <a:t>COnclusion</a:t>
              </a:r>
            </a:p>
          </p:txBody>
        </p:sp>
      </p:grpSp>
      <p:grpSp>
        <p:nvGrpSpPr>
          <p:cNvPr name="Group 13" id="13"/>
          <p:cNvGrpSpPr/>
          <p:nvPr/>
        </p:nvGrpSpPr>
        <p:grpSpPr>
          <a:xfrm rot="0">
            <a:off x="2276445" y="1605722"/>
            <a:ext cx="14062088" cy="1309370"/>
            <a:chOff x="0" y="0"/>
            <a:chExt cx="18749451" cy="1745827"/>
          </a:xfrm>
        </p:grpSpPr>
        <p:sp>
          <p:nvSpPr>
            <p:cNvPr name="Freeform 14" id="14"/>
            <p:cNvSpPr/>
            <p:nvPr/>
          </p:nvSpPr>
          <p:spPr>
            <a:xfrm flipH="false" flipV="false" rot="0">
              <a:off x="0" y="0"/>
              <a:ext cx="18749451" cy="1745827"/>
            </a:xfrm>
            <a:custGeom>
              <a:avLst/>
              <a:gdLst/>
              <a:ahLst/>
              <a:cxnLst/>
              <a:rect r="r" b="b" t="t" l="l"/>
              <a:pathLst>
                <a:path h="1745827" w="18749451">
                  <a:moveTo>
                    <a:pt x="0" y="0"/>
                  </a:moveTo>
                  <a:lnTo>
                    <a:pt x="18749451" y="0"/>
                  </a:lnTo>
                  <a:lnTo>
                    <a:pt x="18749451" y="1745827"/>
                  </a:lnTo>
                  <a:lnTo>
                    <a:pt x="0" y="1745827"/>
                  </a:lnTo>
                  <a:close/>
                </a:path>
              </a:pathLst>
            </a:custGeom>
            <a:solidFill>
              <a:srgbClr val="000000">
                <a:alpha val="0"/>
              </a:srgbClr>
            </a:solidFill>
          </p:spPr>
        </p:sp>
        <p:sp>
          <p:nvSpPr>
            <p:cNvPr name="TextBox 15" id="15"/>
            <p:cNvSpPr txBox="true"/>
            <p:nvPr/>
          </p:nvSpPr>
          <p:spPr>
            <a:xfrm>
              <a:off x="0" y="-66675"/>
              <a:ext cx="18749451" cy="1812502"/>
            </a:xfrm>
            <a:prstGeom prst="rect">
              <a:avLst/>
            </a:prstGeom>
          </p:spPr>
          <p:txBody>
            <a:bodyPr anchor="t" rtlCol="false" tIns="0" lIns="0" bIns="0" rIns="0"/>
            <a:lstStyle/>
            <a:p>
              <a:pPr algn="ctr">
                <a:lnSpc>
                  <a:spcPts val="4900"/>
                </a:lnSpc>
              </a:pPr>
              <a:r>
                <a:rPr lang="en-US" sz="3500">
                  <a:solidFill>
                    <a:srgbClr val="FFFFFF"/>
                  </a:solidFill>
                  <a:latin typeface="Bitter"/>
                  <a:ea typeface="Bitter"/>
                  <a:cs typeface="Bitter"/>
                  <a:sym typeface="Bitter"/>
                </a:rPr>
                <a:t>The PyTorch neural network discovered </a:t>
              </a:r>
              <a:r>
                <a:rPr lang="en-US" sz="3500">
                  <a:solidFill>
                    <a:srgbClr val="42BEAF"/>
                  </a:solidFill>
                  <a:latin typeface="Bitter"/>
                  <a:ea typeface="Bitter"/>
                  <a:cs typeface="Bitter"/>
                  <a:sym typeface="Bitter"/>
                </a:rPr>
                <a:t>hidden</a:t>
              </a:r>
              <a:r>
                <a:rPr lang="en-US" sz="3500">
                  <a:solidFill>
                    <a:srgbClr val="FFFFFF"/>
                  </a:solidFill>
                  <a:latin typeface="Bitter"/>
                  <a:ea typeface="Bitter"/>
                  <a:cs typeface="Bitter"/>
                  <a:sym typeface="Bitter"/>
                </a:rPr>
                <a:t> patterns and successfully learned to predict video game user ratings!</a:t>
              </a:r>
            </a:p>
          </p:txBody>
        </p:sp>
      </p:grpSp>
      <p:grpSp>
        <p:nvGrpSpPr>
          <p:cNvPr name="Group 16" id="16"/>
          <p:cNvGrpSpPr/>
          <p:nvPr/>
        </p:nvGrpSpPr>
        <p:grpSpPr>
          <a:xfrm rot="0">
            <a:off x="1252080" y="3377046"/>
            <a:ext cx="7367716" cy="3288665"/>
            <a:chOff x="0" y="0"/>
            <a:chExt cx="9823622" cy="4384887"/>
          </a:xfrm>
        </p:grpSpPr>
        <p:sp>
          <p:nvSpPr>
            <p:cNvPr name="Freeform 17" id="17"/>
            <p:cNvSpPr/>
            <p:nvPr/>
          </p:nvSpPr>
          <p:spPr>
            <a:xfrm flipH="false" flipV="false" rot="0">
              <a:off x="0" y="0"/>
              <a:ext cx="9823621" cy="4384887"/>
            </a:xfrm>
            <a:custGeom>
              <a:avLst/>
              <a:gdLst/>
              <a:ahLst/>
              <a:cxnLst/>
              <a:rect r="r" b="b" t="t" l="l"/>
              <a:pathLst>
                <a:path h="4384887" w="9823621">
                  <a:moveTo>
                    <a:pt x="0" y="0"/>
                  </a:moveTo>
                  <a:lnTo>
                    <a:pt x="9823621" y="0"/>
                  </a:lnTo>
                  <a:lnTo>
                    <a:pt x="9823621" y="4384887"/>
                  </a:lnTo>
                  <a:lnTo>
                    <a:pt x="0" y="4384887"/>
                  </a:lnTo>
                  <a:close/>
                </a:path>
              </a:pathLst>
            </a:custGeom>
            <a:solidFill>
              <a:srgbClr val="000000">
                <a:alpha val="0"/>
              </a:srgbClr>
            </a:solidFill>
          </p:spPr>
        </p:sp>
        <p:sp>
          <p:nvSpPr>
            <p:cNvPr name="TextBox 18" id="18"/>
            <p:cNvSpPr txBox="true"/>
            <p:nvPr/>
          </p:nvSpPr>
          <p:spPr>
            <a:xfrm>
              <a:off x="0" y="-47625"/>
              <a:ext cx="9823622" cy="4432512"/>
            </a:xfrm>
            <a:prstGeom prst="rect">
              <a:avLst/>
            </a:prstGeom>
          </p:spPr>
          <p:txBody>
            <a:bodyPr anchor="t" rtlCol="false" tIns="0" lIns="0" bIns="0" rIns="0"/>
            <a:lstStyle/>
            <a:p>
              <a:pPr algn="l">
                <a:lnSpc>
                  <a:spcPts val="2800"/>
                </a:lnSpc>
              </a:pPr>
              <a:r>
                <a:rPr lang="en-US" sz="2000" u="sng">
                  <a:solidFill>
                    <a:srgbClr val="000000"/>
                  </a:solidFill>
                  <a:latin typeface="Bitter"/>
                  <a:ea typeface="Bitter"/>
                  <a:cs typeface="Bitter"/>
                  <a:sym typeface="Bitter"/>
                </a:rPr>
                <a:t>Key patterns it captured</a:t>
              </a:r>
              <a:r>
                <a:rPr lang="en-US" sz="2000">
                  <a:solidFill>
                    <a:srgbClr val="000000"/>
                  </a:solidFill>
                  <a:latin typeface="Bitter"/>
                  <a:ea typeface="Bitter"/>
                  <a:cs typeface="Bitter"/>
                  <a:sym typeface="Bitter"/>
                </a:rPr>
                <a:t>:</a:t>
              </a:r>
            </a:p>
            <a:p>
              <a:pPr algn="l" marL="431801" indent="-215900" lvl="1">
                <a:lnSpc>
                  <a:spcPts val="2800"/>
                </a:lnSpc>
                <a:buFont typeface="Arial"/>
                <a:buChar char="•"/>
              </a:pPr>
              <a:r>
                <a:rPr lang="en-US" b="true" sz="2000">
                  <a:solidFill>
                    <a:srgbClr val="000000"/>
                  </a:solidFill>
                  <a:latin typeface="Bitter Bold"/>
                  <a:ea typeface="Bitter Bold"/>
                  <a:cs typeface="Bitter Bold"/>
                  <a:sym typeface="Bitter Bold"/>
                </a:rPr>
                <a:t>Publisher Influence</a:t>
              </a:r>
              <a:r>
                <a:rPr lang="en-US" sz="2000">
                  <a:solidFill>
                    <a:srgbClr val="000000"/>
                  </a:solidFill>
                  <a:latin typeface="Bitter"/>
                  <a:ea typeface="Bitter"/>
                  <a:cs typeface="Bitter"/>
                  <a:sym typeface="Bitter"/>
                </a:rPr>
                <a:t>: Some companies consistently affect ratings.</a:t>
              </a:r>
            </a:p>
            <a:p>
              <a:pPr algn="l" marL="431801" indent="-215900" lvl="1">
                <a:lnSpc>
                  <a:spcPts val="2800"/>
                </a:lnSpc>
                <a:buFont typeface="Arial"/>
                <a:buChar char="•"/>
              </a:pPr>
              <a:r>
                <a:rPr lang="en-US" b="true" sz="2000">
                  <a:solidFill>
                    <a:srgbClr val="000000"/>
                  </a:solidFill>
                  <a:latin typeface="Bitter Bold"/>
                  <a:ea typeface="Bitter Bold"/>
                  <a:cs typeface="Bitter Bold"/>
                  <a:sym typeface="Bitter Bold"/>
                </a:rPr>
                <a:t>Genre Effects</a:t>
              </a:r>
              <a:r>
                <a:rPr lang="en-US" sz="2000">
                  <a:solidFill>
                    <a:srgbClr val="000000"/>
                  </a:solidFill>
                  <a:latin typeface="Bitter"/>
                  <a:ea typeface="Bitter"/>
                  <a:cs typeface="Bitter"/>
                  <a:sym typeface="Bitter"/>
                </a:rPr>
                <a:t>: Certain genres trend higher or lower.</a:t>
              </a:r>
            </a:p>
            <a:p>
              <a:pPr algn="l" marL="431801" indent="-215900" lvl="1">
                <a:lnSpc>
                  <a:spcPts val="2800"/>
                </a:lnSpc>
                <a:buFont typeface="Arial"/>
                <a:buChar char="•"/>
              </a:pPr>
              <a:r>
                <a:rPr lang="en-US" b="true" sz="2000">
                  <a:solidFill>
                    <a:srgbClr val="000000"/>
                  </a:solidFill>
                  <a:latin typeface="Bitter Bold"/>
                  <a:ea typeface="Bitter Bold"/>
                  <a:cs typeface="Bitter Bold"/>
                  <a:sym typeface="Bitter Bold"/>
                </a:rPr>
                <a:t>Release Year Trends</a:t>
              </a:r>
              <a:r>
                <a:rPr lang="en-US" sz="2000">
                  <a:solidFill>
                    <a:srgbClr val="000000"/>
                  </a:solidFill>
                  <a:latin typeface="Bitter"/>
                  <a:ea typeface="Bitter"/>
                  <a:cs typeface="Bitter"/>
                  <a:sym typeface="Bitter"/>
                </a:rPr>
                <a:t>: Older and newer games show distinct patterns.</a:t>
              </a:r>
            </a:p>
            <a:p>
              <a:pPr algn="l" marL="431801" indent="-215900" lvl="1">
                <a:lnSpc>
                  <a:spcPts val="2800"/>
                </a:lnSpc>
                <a:buFont typeface="Arial"/>
                <a:buChar char="•"/>
              </a:pPr>
              <a:r>
                <a:rPr lang="en-US" b="true" sz="2000">
                  <a:solidFill>
                    <a:srgbClr val="000000"/>
                  </a:solidFill>
                  <a:latin typeface="Bitter Bold"/>
                  <a:ea typeface="Bitter Bold"/>
                  <a:cs typeface="Bitter Bold"/>
                  <a:sym typeface="Bitter Bold"/>
                </a:rPr>
                <a:t>Other Features</a:t>
              </a:r>
              <a:r>
                <a:rPr lang="en-US" sz="2000">
                  <a:solidFill>
                    <a:srgbClr val="000000"/>
                  </a:solidFill>
                  <a:latin typeface="Bitter"/>
                  <a:ea typeface="Bitter"/>
                  <a:cs typeface="Bitter"/>
                  <a:sym typeface="Bitter"/>
                </a:rPr>
                <a:t>: Price, game length, and quality scores (graphics, soundtrack, story) matter too.</a:t>
              </a:r>
            </a:p>
            <a:p>
              <a:pPr algn="l">
                <a:lnSpc>
                  <a:spcPts val="2800"/>
                </a:lnSpc>
              </a:pPr>
            </a:p>
          </p:txBody>
        </p:sp>
      </p:grpSp>
      <p:grpSp>
        <p:nvGrpSpPr>
          <p:cNvPr name="Group 19" id="19"/>
          <p:cNvGrpSpPr/>
          <p:nvPr/>
        </p:nvGrpSpPr>
        <p:grpSpPr>
          <a:xfrm rot="0">
            <a:off x="1252080" y="6786939"/>
            <a:ext cx="7436563" cy="3338624"/>
            <a:chOff x="0" y="0"/>
            <a:chExt cx="9823622" cy="4410287"/>
          </a:xfrm>
        </p:grpSpPr>
        <p:sp>
          <p:nvSpPr>
            <p:cNvPr name="Freeform 20" id="20"/>
            <p:cNvSpPr/>
            <p:nvPr/>
          </p:nvSpPr>
          <p:spPr>
            <a:xfrm flipH="false" flipV="false" rot="0">
              <a:off x="0" y="0"/>
              <a:ext cx="9823621" cy="4410287"/>
            </a:xfrm>
            <a:custGeom>
              <a:avLst/>
              <a:gdLst/>
              <a:ahLst/>
              <a:cxnLst/>
              <a:rect r="r" b="b" t="t" l="l"/>
              <a:pathLst>
                <a:path h="4410287" w="9823621">
                  <a:moveTo>
                    <a:pt x="0" y="0"/>
                  </a:moveTo>
                  <a:lnTo>
                    <a:pt x="9823621" y="0"/>
                  </a:lnTo>
                  <a:lnTo>
                    <a:pt x="9823621" y="4410287"/>
                  </a:lnTo>
                  <a:lnTo>
                    <a:pt x="0" y="4410287"/>
                  </a:lnTo>
                  <a:close/>
                </a:path>
              </a:pathLst>
            </a:custGeom>
            <a:solidFill>
              <a:srgbClr val="000000">
                <a:alpha val="0"/>
              </a:srgbClr>
            </a:solidFill>
          </p:spPr>
        </p:sp>
        <p:sp>
          <p:nvSpPr>
            <p:cNvPr name="TextBox 21" id="21"/>
            <p:cNvSpPr txBox="true"/>
            <p:nvPr/>
          </p:nvSpPr>
          <p:spPr>
            <a:xfrm>
              <a:off x="0" y="-47625"/>
              <a:ext cx="9823622" cy="4457912"/>
            </a:xfrm>
            <a:prstGeom prst="rect">
              <a:avLst/>
            </a:prstGeom>
          </p:spPr>
          <p:txBody>
            <a:bodyPr anchor="t" rtlCol="false" tIns="0" lIns="0" bIns="0" rIns="0"/>
            <a:lstStyle/>
            <a:p>
              <a:pPr algn="l">
                <a:lnSpc>
                  <a:spcPts val="2800"/>
                </a:lnSpc>
              </a:pPr>
              <a:r>
                <a:rPr lang="en-US" sz="2000" u="sng">
                  <a:solidFill>
                    <a:srgbClr val="000000"/>
                  </a:solidFill>
                  <a:latin typeface="Bitter"/>
                  <a:ea typeface="Bitter"/>
                  <a:cs typeface="Bitter"/>
                  <a:sym typeface="Bitter"/>
                </a:rPr>
                <a:t>Training involved</a:t>
              </a:r>
              <a:r>
                <a:rPr lang="en-US" sz="2000">
                  <a:solidFill>
                    <a:srgbClr val="000000"/>
                  </a:solidFill>
                  <a:latin typeface="Bitter"/>
                  <a:ea typeface="Bitter"/>
                  <a:cs typeface="Bitter"/>
                  <a:sym typeface="Bitter"/>
                </a:rPr>
                <a:t>:</a:t>
              </a:r>
            </a:p>
            <a:p>
              <a:pPr algn="l" marL="431801" indent="-215900" lvl="1">
                <a:lnSpc>
                  <a:spcPts val="2800"/>
                </a:lnSpc>
                <a:buFont typeface="Arial"/>
                <a:buChar char="•"/>
              </a:pPr>
              <a:r>
                <a:rPr lang="en-US" b="true" sz="2000">
                  <a:solidFill>
                    <a:srgbClr val="000000"/>
                  </a:solidFill>
                  <a:latin typeface="Bitter Bold"/>
                  <a:ea typeface="Bitter Bold"/>
                  <a:cs typeface="Bitter Bold"/>
                  <a:sym typeface="Bitter Bold"/>
                </a:rPr>
                <a:t>Data Cleaning</a:t>
              </a:r>
              <a:r>
                <a:rPr lang="en-US" sz="2000">
                  <a:solidFill>
                    <a:srgbClr val="000000"/>
                  </a:solidFill>
                  <a:latin typeface="Bitter"/>
                  <a:ea typeface="Bitter"/>
                  <a:cs typeface="Bitter"/>
                  <a:sym typeface="Bitter"/>
                </a:rPr>
                <a:t>: Removing irrelevant fields.</a:t>
              </a:r>
            </a:p>
            <a:p>
              <a:pPr algn="l" marL="431801" indent="-215900" lvl="1">
                <a:lnSpc>
                  <a:spcPts val="2800"/>
                </a:lnSpc>
                <a:buFont typeface="Arial"/>
                <a:buChar char="•"/>
              </a:pPr>
              <a:r>
                <a:rPr lang="en-US" b="true" sz="2000">
                  <a:solidFill>
                    <a:srgbClr val="000000"/>
                  </a:solidFill>
                  <a:latin typeface="Bitter Bold"/>
                  <a:ea typeface="Bitter Bold"/>
                  <a:cs typeface="Bitter Bold"/>
                  <a:sym typeface="Bitter Bold"/>
                </a:rPr>
                <a:t>Feature Engineering</a:t>
              </a:r>
              <a:r>
                <a:rPr lang="en-US" sz="2000">
                  <a:solidFill>
                    <a:srgbClr val="000000"/>
                  </a:solidFill>
                  <a:latin typeface="Bitter"/>
                  <a:ea typeface="Bitter"/>
                  <a:cs typeface="Bitter"/>
                  <a:sym typeface="Bitter"/>
                </a:rPr>
                <a:t>: Organizing numerical and categorical inputs.</a:t>
              </a:r>
            </a:p>
            <a:p>
              <a:pPr algn="l" marL="431801" indent="-215900" lvl="1">
                <a:lnSpc>
                  <a:spcPts val="2800"/>
                </a:lnSpc>
                <a:buFont typeface="Arial"/>
                <a:buChar char="•"/>
              </a:pPr>
              <a:r>
                <a:rPr lang="en-US" b="true" sz="2000">
                  <a:solidFill>
                    <a:srgbClr val="000000"/>
                  </a:solidFill>
                  <a:latin typeface="Bitter Bold"/>
                  <a:ea typeface="Bitter Bold"/>
                  <a:cs typeface="Bitter Bold"/>
                  <a:sym typeface="Bitter Bold"/>
                </a:rPr>
                <a:t>Emb</a:t>
              </a:r>
              <a:r>
                <a:rPr lang="en-US" b="true" sz="2000">
                  <a:solidFill>
                    <a:srgbClr val="000000"/>
                  </a:solidFill>
                  <a:latin typeface="Bitter Bold"/>
                  <a:ea typeface="Bitter Bold"/>
                  <a:cs typeface="Bitter Bold"/>
                  <a:sym typeface="Bitter Bold"/>
                </a:rPr>
                <a:t>edding Layers</a:t>
              </a:r>
              <a:r>
                <a:rPr lang="en-US" sz="2000">
                  <a:solidFill>
                    <a:srgbClr val="000000"/>
                  </a:solidFill>
                  <a:latin typeface="Bitter"/>
                  <a:ea typeface="Bitter"/>
                  <a:cs typeface="Bitter"/>
                  <a:sym typeface="Bitter"/>
                </a:rPr>
                <a:t>: Efficiently encoding large categories.</a:t>
              </a:r>
            </a:p>
            <a:p>
              <a:pPr algn="l" marL="431801" indent="-215900" lvl="1">
                <a:lnSpc>
                  <a:spcPts val="2800"/>
                </a:lnSpc>
                <a:buFont typeface="Arial"/>
                <a:buChar char="•"/>
              </a:pPr>
              <a:r>
                <a:rPr lang="en-US" b="true" sz="2000">
                  <a:solidFill>
                    <a:srgbClr val="000000"/>
                  </a:solidFill>
                  <a:latin typeface="Bitter Bold"/>
                  <a:ea typeface="Bitter Bold"/>
                  <a:cs typeface="Bitter Bold"/>
                  <a:sym typeface="Bitter Bold"/>
                </a:rPr>
                <a:t>Mod</a:t>
              </a:r>
              <a:r>
                <a:rPr lang="en-US" b="true" sz="2000">
                  <a:solidFill>
                    <a:srgbClr val="000000"/>
                  </a:solidFill>
                  <a:latin typeface="Bitter Bold"/>
                  <a:ea typeface="Bitter Bold"/>
                  <a:cs typeface="Bitter Bold"/>
                  <a:sym typeface="Bitter Bold"/>
                </a:rPr>
                <a:t>el Training</a:t>
              </a:r>
              <a:r>
                <a:rPr lang="en-US" sz="2000">
                  <a:solidFill>
                    <a:srgbClr val="000000"/>
                  </a:solidFill>
                  <a:latin typeface="Bitter"/>
                  <a:ea typeface="Bitter"/>
                  <a:cs typeface="Bitter"/>
                  <a:sym typeface="Bitter"/>
                </a:rPr>
                <a:t>: 30 epochs with steady improvement.</a:t>
              </a:r>
            </a:p>
            <a:p>
              <a:pPr algn="l" marL="431801" indent="-215900" lvl="1">
                <a:lnSpc>
                  <a:spcPts val="2800"/>
                </a:lnSpc>
                <a:buFont typeface="Arial"/>
                <a:buChar char="•"/>
              </a:pPr>
              <a:r>
                <a:rPr lang="en-US" b="true" sz="2000">
                  <a:solidFill>
                    <a:srgbClr val="000000"/>
                  </a:solidFill>
                  <a:latin typeface="Bitter Bold"/>
                  <a:ea typeface="Bitter Bold"/>
                  <a:cs typeface="Bitter Bold"/>
                  <a:sym typeface="Bitter Bold"/>
                </a:rPr>
                <a:t>Loss</a:t>
              </a:r>
              <a:r>
                <a:rPr lang="en-US" b="true" sz="2000">
                  <a:solidFill>
                    <a:srgbClr val="000000"/>
                  </a:solidFill>
                  <a:latin typeface="Bitter Bold"/>
                  <a:ea typeface="Bitter Bold"/>
                  <a:cs typeface="Bitter Bold"/>
                  <a:sym typeface="Bitter Bold"/>
                </a:rPr>
                <a:t> Function</a:t>
              </a:r>
              <a:r>
                <a:rPr lang="en-US" sz="2000">
                  <a:solidFill>
                    <a:srgbClr val="000000"/>
                  </a:solidFill>
                  <a:latin typeface="Bitter"/>
                  <a:ea typeface="Bitter"/>
                  <a:cs typeface="Bitter"/>
                  <a:sym typeface="Bitter"/>
                </a:rPr>
                <a:t>: RMSE for clear, interpretable accuracy.</a:t>
              </a:r>
            </a:p>
            <a:p>
              <a:pPr algn="l">
                <a:lnSpc>
                  <a:spcPts val="2800"/>
                </a:lnSpc>
              </a:pPr>
            </a:p>
          </p:txBody>
        </p:sp>
      </p:grpSp>
      <p:grpSp>
        <p:nvGrpSpPr>
          <p:cNvPr name="Group 22" id="22"/>
          <p:cNvGrpSpPr/>
          <p:nvPr/>
        </p:nvGrpSpPr>
        <p:grpSpPr>
          <a:xfrm rot="0">
            <a:off x="11313505" y="3657716"/>
            <a:ext cx="4237913" cy="2730500"/>
            <a:chOff x="0" y="0"/>
            <a:chExt cx="9823622" cy="6329388"/>
          </a:xfrm>
        </p:grpSpPr>
        <p:sp>
          <p:nvSpPr>
            <p:cNvPr name="Freeform 23" id="23"/>
            <p:cNvSpPr/>
            <p:nvPr/>
          </p:nvSpPr>
          <p:spPr>
            <a:xfrm flipH="false" flipV="false" rot="0">
              <a:off x="0" y="0"/>
              <a:ext cx="9823621" cy="6329388"/>
            </a:xfrm>
            <a:custGeom>
              <a:avLst/>
              <a:gdLst/>
              <a:ahLst/>
              <a:cxnLst/>
              <a:rect r="r" b="b" t="t" l="l"/>
              <a:pathLst>
                <a:path h="6329388" w="9823621">
                  <a:moveTo>
                    <a:pt x="0" y="0"/>
                  </a:moveTo>
                  <a:lnTo>
                    <a:pt x="9823621" y="0"/>
                  </a:lnTo>
                  <a:lnTo>
                    <a:pt x="9823621" y="6329388"/>
                  </a:lnTo>
                  <a:lnTo>
                    <a:pt x="0" y="6329388"/>
                  </a:lnTo>
                  <a:close/>
                </a:path>
              </a:pathLst>
            </a:custGeom>
            <a:solidFill>
              <a:srgbClr val="000000">
                <a:alpha val="0"/>
              </a:srgbClr>
            </a:solidFill>
          </p:spPr>
        </p:sp>
        <p:sp>
          <p:nvSpPr>
            <p:cNvPr name="TextBox 24" id="24"/>
            <p:cNvSpPr txBox="true"/>
            <p:nvPr/>
          </p:nvSpPr>
          <p:spPr>
            <a:xfrm>
              <a:off x="0" y="-38100"/>
              <a:ext cx="9823622" cy="6367488"/>
            </a:xfrm>
            <a:prstGeom prst="rect">
              <a:avLst/>
            </a:prstGeom>
          </p:spPr>
          <p:txBody>
            <a:bodyPr anchor="t" rtlCol="false" tIns="0" lIns="0" bIns="0" rIns="0"/>
            <a:lstStyle/>
            <a:p>
              <a:pPr algn="l">
                <a:lnSpc>
                  <a:spcPts val="3499"/>
                </a:lnSpc>
              </a:pPr>
              <a:r>
                <a:rPr lang="en-US" sz="2499" u="sng">
                  <a:solidFill>
                    <a:srgbClr val="000000"/>
                  </a:solidFill>
                  <a:latin typeface="Bitter"/>
                  <a:ea typeface="Bitter"/>
                  <a:cs typeface="Bitter"/>
                  <a:sym typeface="Bitter"/>
                </a:rPr>
                <a:t>Final results</a:t>
              </a:r>
              <a:r>
                <a:rPr lang="en-US" sz="2499">
                  <a:solidFill>
                    <a:srgbClr val="000000"/>
                  </a:solidFill>
                  <a:latin typeface="Bitter"/>
                  <a:ea typeface="Bitter"/>
                  <a:cs typeface="Bitter"/>
                  <a:sym typeface="Bitter"/>
                </a:rPr>
                <a:t>:</a:t>
              </a:r>
            </a:p>
            <a:p>
              <a:pPr algn="l" marL="539749" indent="-269875" lvl="1">
                <a:lnSpc>
                  <a:spcPts val="3499"/>
                </a:lnSpc>
                <a:buFont typeface="Arial"/>
                <a:buChar char="•"/>
              </a:pPr>
              <a:r>
                <a:rPr lang="en-US" b="true" sz="2499">
                  <a:solidFill>
                    <a:srgbClr val="000000"/>
                  </a:solidFill>
                  <a:latin typeface="Bitter Bold"/>
                  <a:ea typeface="Bitter Bold"/>
                  <a:cs typeface="Bitter Bold"/>
                  <a:sym typeface="Bitter Bold"/>
                </a:rPr>
                <a:t>Training RMSE</a:t>
              </a:r>
              <a:r>
                <a:rPr lang="en-US" sz="2499">
                  <a:solidFill>
                    <a:srgbClr val="000000"/>
                  </a:solidFill>
                  <a:latin typeface="Bitter"/>
                  <a:ea typeface="Bitter"/>
                  <a:cs typeface="Bitter"/>
                  <a:sym typeface="Bitter"/>
                </a:rPr>
                <a:t>: ~1.2</a:t>
              </a:r>
            </a:p>
            <a:p>
              <a:pPr algn="l" marL="539749" indent="-269875" lvl="1">
                <a:lnSpc>
                  <a:spcPts val="3499"/>
                </a:lnSpc>
                <a:buFont typeface="Arial"/>
                <a:buChar char="•"/>
              </a:pPr>
              <a:r>
                <a:rPr lang="en-US" b="true" sz="2499">
                  <a:solidFill>
                    <a:srgbClr val="000000"/>
                  </a:solidFill>
                  <a:latin typeface="Bitter Bold"/>
                  <a:ea typeface="Bitter Bold"/>
                  <a:cs typeface="Bitter Bold"/>
                  <a:sym typeface="Bitter Bold"/>
                </a:rPr>
                <a:t>V</a:t>
              </a:r>
              <a:r>
                <a:rPr lang="en-US" b="true" sz="2499">
                  <a:solidFill>
                    <a:srgbClr val="000000"/>
                  </a:solidFill>
                  <a:latin typeface="Bitter Bold"/>
                  <a:ea typeface="Bitter Bold"/>
                  <a:cs typeface="Bitter Bold"/>
                  <a:sym typeface="Bitter Bold"/>
                </a:rPr>
                <a:t>alidation RMSE</a:t>
              </a:r>
              <a:r>
                <a:rPr lang="en-US" sz="2499">
                  <a:solidFill>
                    <a:srgbClr val="000000"/>
                  </a:solidFill>
                  <a:latin typeface="Bitter"/>
                  <a:ea typeface="Bitter"/>
                  <a:cs typeface="Bitter"/>
                  <a:sym typeface="Bitter"/>
                </a:rPr>
                <a:t>: ~1.2</a:t>
              </a:r>
            </a:p>
            <a:p>
              <a:pPr algn="l" marL="1079499" indent="-359833" lvl="2">
                <a:lnSpc>
                  <a:spcPts val="3499"/>
                </a:lnSpc>
                <a:buFont typeface="Arial"/>
                <a:buChar char="⚬"/>
              </a:pPr>
              <a:r>
                <a:rPr lang="en-US" sz="2499">
                  <a:solidFill>
                    <a:srgbClr val="000000"/>
                  </a:solidFill>
                  <a:latin typeface="Bitter"/>
                  <a:ea typeface="Bitter"/>
                  <a:cs typeface="Bitter"/>
                  <a:sym typeface="Bitter"/>
                </a:rPr>
                <a:t> (Starting from RMSE &gt; 28!)</a:t>
              </a:r>
            </a:p>
            <a:p>
              <a:pPr algn="ctr">
                <a:lnSpc>
                  <a:spcPts val="3499"/>
                </a:lnSpc>
              </a:pPr>
            </a:p>
          </p:txBody>
        </p:sp>
      </p:grpSp>
      <p:grpSp>
        <p:nvGrpSpPr>
          <p:cNvPr name="Group 25" id="25"/>
          <p:cNvGrpSpPr/>
          <p:nvPr/>
        </p:nvGrpSpPr>
        <p:grpSpPr>
          <a:xfrm rot="0">
            <a:off x="11314271" y="7066721"/>
            <a:ext cx="4237148" cy="2336800"/>
            <a:chOff x="0" y="0"/>
            <a:chExt cx="5649530" cy="3115733"/>
          </a:xfrm>
        </p:grpSpPr>
        <p:sp>
          <p:nvSpPr>
            <p:cNvPr name="Freeform 26" id="26"/>
            <p:cNvSpPr/>
            <p:nvPr/>
          </p:nvSpPr>
          <p:spPr>
            <a:xfrm flipH="false" flipV="false" rot="0">
              <a:off x="0" y="0"/>
              <a:ext cx="5649530" cy="3115733"/>
            </a:xfrm>
            <a:custGeom>
              <a:avLst/>
              <a:gdLst/>
              <a:ahLst/>
              <a:cxnLst/>
              <a:rect r="r" b="b" t="t" l="l"/>
              <a:pathLst>
                <a:path h="3115733" w="5649530">
                  <a:moveTo>
                    <a:pt x="0" y="0"/>
                  </a:moveTo>
                  <a:lnTo>
                    <a:pt x="5649530" y="0"/>
                  </a:lnTo>
                  <a:lnTo>
                    <a:pt x="5649530" y="3115733"/>
                  </a:lnTo>
                  <a:lnTo>
                    <a:pt x="0" y="3115733"/>
                  </a:lnTo>
                  <a:close/>
                </a:path>
              </a:pathLst>
            </a:custGeom>
            <a:solidFill>
              <a:srgbClr val="000000">
                <a:alpha val="0"/>
              </a:srgbClr>
            </a:solidFill>
          </p:spPr>
        </p:sp>
        <p:sp>
          <p:nvSpPr>
            <p:cNvPr name="TextBox 27" id="27"/>
            <p:cNvSpPr txBox="true"/>
            <p:nvPr/>
          </p:nvSpPr>
          <p:spPr>
            <a:xfrm>
              <a:off x="0" y="-38100"/>
              <a:ext cx="5649530" cy="3153833"/>
            </a:xfrm>
            <a:prstGeom prst="rect">
              <a:avLst/>
            </a:prstGeom>
          </p:spPr>
          <p:txBody>
            <a:bodyPr anchor="t" rtlCol="false" tIns="0" lIns="0" bIns="0" rIns="0"/>
            <a:lstStyle/>
            <a:p>
              <a:pPr algn="ctr">
                <a:lnSpc>
                  <a:spcPts val="3499"/>
                </a:lnSpc>
              </a:pPr>
              <a:r>
                <a:rPr lang="en-US" sz="2499">
                  <a:solidFill>
                    <a:srgbClr val="000000"/>
                  </a:solidFill>
                  <a:latin typeface="Bitter"/>
                  <a:ea typeface="Bitter"/>
                  <a:cs typeface="Bitter"/>
                  <a:sym typeface="Bitter"/>
                </a:rPr>
                <a:t>A custom </a:t>
              </a:r>
              <a:r>
                <a:rPr lang="en-US" sz="2499" b="true">
                  <a:solidFill>
                    <a:srgbClr val="000000"/>
                  </a:solidFill>
                  <a:latin typeface="Bitter Bold"/>
                  <a:ea typeface="Bitter Bold"/>
                  <a:cs typeface="Bitter Bold"/>
                  <a:sym typeface="Bitter Bold"/>
                </a:rPr>
                <a:t>RMSELoss</a:t>
              </a:r>
              <a:r>
                <a:rPr lang="en-US" sz="2499">
                  <a:solidFill>
                    <a:srgbClr val="000000"/>
                  </a:solidFill>
                  <a:latin typeface="Bitter"/>
                  <a:ea typeface="Bitter"/>
                  <a:cs typeface="Bitter"/>
                  <a:sym typeface="Bitter"/>
                </a:rPr>
                <a:t> class </a:t>
              </a:r>
              <a:r>
                <a:rPr lang="en-US" sz="2499" b="true">
                  <a:solidFill>
                    <a:srgbClr val="000000"/>
                  </a:solidFill>
                  <a:latin typeface="Bitter Bold"/>
                  <a:ea typeface="Bitter Bold"/>
                  <a:cs typeface="Bitter Bold"/>
                  <a:sym typeface="Bitter Bold"/>
                </a:rPr>
                <a:t>stabilized</a:t>
              </a:r>
              <a:r>
                <a:rPr lang="en-US" sz="2499">
                  <a:solidFill>
                    <a:srgbClr val="000000"/>
                  </a:solidFill>
                  <a:latin typeface="Bitter"/>
                  <a:ea typeface="Bitter"/>
                  <a:cs typeface="Bitter"/>
                  <a:sym typeface="Bitter"/>
                </a:rPr>
                <a:t> training, and the </a:t>
              </a:r>
              <a:r>
                <a:rPr lang="en-US" sz="2499" b="true">
                  <a:solidFill>
                    <a:srgbClr val="000000"/>
                  </a:solidFill>
                  <a:latin typeface="Bitter Bold"/>
                  <a:ea typeface="Bitter Bold"/>
                  <a:cs typeface="Bitter Bold"/>
                  <a:sym typeface="Bitter Bold"/>
                </a:rPr>
                <a:t>Predicted</a:t>
              </a:r>
              <a:r>
                <a:rPr lang="en-US" sz="2499">
                  <a:solidFill>
                    <a:srgbClr val="000000"/>
                  </a:solidFill>
                  <a:latin typeface="Bitter"/>
                  <a:ea typeface="Bitter"/>
                  <a:cs typeface="Bitter"/>
                  <a:sym typeface="Bitter"/>
                </a:rPr>
                <a:t> vs. </a:t>
              </a:r>
              <a:r>
                <a:rPr lang="en-US" sz="2499" b="true">
                  <a:solidFill>
                    <a:srgbClr val="000000"/>
                  </a:solidFill>
                  <a:latin typeface="Bitter Bold"/>
                  <a:ea typeface="Bitter Bold"/>
                  <a:cs typeface="Bitter Bold"/>
                  <a:sym typeface="Bitter Bold"/>
                </a:rPr>
                <a:t>Actual</a:t>
              </a:r>
              <a:r>
                <a:rPr lang="en-US" sz="2499">
                  <a:solidFill>
                    <a:srgbClr val="000000"/>
                  </a:solidFill>
                  <a:latin typeface="Bitter"/>
                  <a:ea typeface="Bitter"/>
                  <a:cs typeface="Bitter"/>
                  <a:sym typeface="Bitter"/>
                </a:rPr>
                <a:t> plot confirme</a:t>
              </a:r>
              <a:r>
                <a:rPr lang="en-US" sz="2499">
                  <a:solidFill>
                    <a:srgbClr val="000000"/>
                  </a:solidFill>
                  <a:latin typeface="Bitter"/>
                  <a:ea typeface="Bitter"/>
                  <a:cs typeface="Bitter"/>
                  <a:sym typeface="Bitter"/>
                </a:rPr>
                <a:t>d</a:t>
              </a:r>
              <a:r>
                <a:rPr lang="en-US" sz="2499">
                  <a:solidFill>
                    <a:srgbClr val="000000"/>
                  </a:solidFill>
                  <a:latin typeface="Bitter"/>
                  <a:ea typeface="Bitter"/>
                  <a:cs typeface="Bitter"/>
                  <a:sym typeface="Bitter"/>
                </a:rPr>
                <a:t> tight, </a:t>
              </a:r>
              <a:r>
                <a:rPr lang="en-US" sz="2499" b="true">
                  <a:solidFill>
                    <a:srgbClr val="000000"/>
                  </a:solidFill>
                  <a:latin typeface="Bitter Bold"/>
                  <a:ea typeface="Bitter Bold"/>
                  <a:cs typeface="Bitter Bold"/>
                  <a:sym typeface="Bitter Bold"/>
                </a:rPr>
                <a:t>consistent</a:t>
              </a:r>
              <a:r>
                <a:rPr lang="en-US" sz="2499">
                  <a:solidFill>
                    <a:srgbClr val="000000"/>
                  </a:solidFill>
                  <a:latin typeface="Bitter"/>
                  <a:ea typeface="Bitter"/>
                  <a:cs typeface="Bitter"/>
                  <a:sym typeface="Bitter"/>
                </a:rPr>
                <a:t> </a:t>
              </a:r>
              <a:r>
                <a:rPr lang="en-US" sz="2499" b="true">
                  <a:solidFill>
                    <a:srgbClr val="000000"/>
                  </a:solidFill>
                  <a:latin typeface="Bitter Bold"/>
                  <a:ea typeface="Bitter Bold"/>
                  <a:cs typeface="Bitter Bold"/>
                  <a:sym typeface="Bitter Bold"/>
                </a:rPr>
                <a:t>predictions</a:t>
              </a:r>
              <a:r>
                <a:rPr lang="en-US" sz="2499">
                  <a:solidFill>
                    <a:srgbClr val="000000"/>
                  </a:solidFill>
                  <a:latin typeface="Bitter"/>
                  <a:ea typeface="Bitter"/>
                  <a:cs typeface="Bitter"/>
                  <a:sym typeface="Bitter"/>
                </a:rPr>
                <a:t>.</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DAGl4q8bztc</dc:identifier>
  <dcterms:modified xsi:type="dcterms:W3CDTF">2011-08-01T06:04:30Z</dcterms:modified>
  <cp:revision>1</cp:revision>
  <dc:title>Pytorchcode.pptx</dc:title>
</cp:coreProperties>
</file>