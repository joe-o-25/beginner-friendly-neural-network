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8288000" cy="10287000"/>
  <p:notesSz cx="6858000" cy="9144000"/>
  <p:embeddedFontLst>
    <p:embeddedFont>
      <p:font typeface="Gagalin" charset="1" panose="00000500000000000000"/>
      <p:regular r:id="rId42"/>
    </p:embeddedFont>
    <p:embeddedFont>
      <p:font typeface="Montserrat Bold" charset="1" panose="00000800000000000000"/>
      <p:regular r:id="rId46"/>
    </p:embeddedFont>
    <p:embeddedFont>
      <p:font typeface="Anton" charset="1" panose="00000500000000000000"/>
      <p:regular r:id="rId48"/>
    </p:embeddedFont>
    <p:embeddedFont>
      <p:font typeface="Canva Sans Bold" charset="1" panose="020B0803030501040103"/>
      <p:regular r:id="rId50"/>
    </p:embeddedFont>
    <p:embeddedFont>
      <p:font typeface="Canva Sans" charset="1" panose="020B0503030501040103"/>
      <p:regular r:id="rId51"/>
    </p:embeddedFont>
    <p:embeddedFont>
      <p:font typeface="Montserrat" charset="1" panose="00000500000000000000"/>
      <p:regular r:id="rId61"/>
    </p:embeddedFont>
    <p:embeddedFont>
      <p:font typeface="Montserrat Bold Italics" charset="1" panose="00000800000000000000"/>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fonts/font42.fntdata" Type="http://schemas.openxmlformats.org/officeDocument/2006/relationships/font"/><Relationship Id="rId43" Target="notesMasters/notesMaster1.xml" Type="http://schemas.openxmlformats.org/officeDocument/2006/relationships/notesMaster"/><Relationship Id="rId44" Target="theme/theme2.xml" Type="http://schemas.openxmlformats.org/officeDocument/2006/relationships/theme"/><Relationship Id="rId45" Target="notesSlides/notesSlide1.xml" Type="http://schemas.openxmlformats.org/officeDocument/2006/relationships/notesSlide"/><Relationship Id="rId46" Target="fonts/font46.fntdata" Type="http://schemas.openxmlformats.org/officeDocument/2006/relationships/font"/><Relationship Id="rId47" Target="notesSlides/notesSlide2.xml" Type="http://schemas.openxmlformats.org/officeDocument/2006/relationships/notesSlide"/><Relationship Id="rId48" Target="fonts/font48.fntdata" Type="http://schemas.openxmlformats.org/officeDocument/2006/relationships/font"/><Relationship Id="rId49" Target="notesSlides/notesSlide3.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notesSlides/notesSlide4.xml" Type="http://schemas.openxmlformats.org/officeDocument/2006/relationships/notesSlide"/><Relationship Id="rId53" Target="notesSlides/notesSlide5.xml" Type="http://schemas.openxmlformats.org/officeDocument/2006/relationships/notesSlide"/><Relationship Id="rId54" Target="notesSlides/notesSlide6.xml" Type="http://schemas.openxmlformats.org/officeDocument/2006/relationships/notesSlide"/><Relationship Id="rId55" Target="notesSlides/notesSlide7.xml" Type="http://schemas.openxmlformats.org/officeDocument/2006/relationships/notesSlide"/><Relationship Id="rId56" Target="notesSlides/notesSlide8.xml" Type="http://schemas.openxmlformats.org/officeDocument/2006/relationships/notesSlide"/><Relationship Id="rId57" Target="notesSlides/notesSlide9.xml" Type="http://schemas.openxmlformats.org/officeDocument/2006/relationships/notesSlide"/><Relationship Id="rId58" Target="notesSlides/notesSlide10.xml" Type="http://schemas.openxmlformats.org/officeDocument/2006/relationships/notesSlide"/><Relationship Id="rId59" Target="notesSlides/notesSlide11.xml" Type="http://schemas.openxmlformats.org/officeDocument/2006/relationships/notesSlide"/><Relationship Id="rId6" Target="slides/slide1.xml" Type="http://schemas.openxmlformats.org/officeDocument/2006/relationships/slide"/><Relationship Id="rId60" Target="notesSlides/notesSlide12.xml" Type="http://schemas.openxmlformats.org/officeDocument/2006/relationships/notesSlide"/><Relationship Id="rId61" Target="fonts/font61.fntdata" Type="http://schemas.openxmlformats.org/officeDocument/2006/relationships/font"/><Relationship Id="rId62" Target="fonts/font62.fntdata" Type="http://schemas.openxmlformats.org/officeDocument/2006/relationships/font"/><Relationship Id="rId63" Target="notesSlides/notesSlide13.xml" Type="http://schemas.openxmlformats.org/officeDocument/2006/relationships/notesSlide"/><Relationship Id="rId64" Target="notesSlides/notesSlide14.xml" Type="http://schemas.openxmlformats.org/officeDocument/2006/relationships/notesSlide"/><Relationship Id="rId65" Target="notesSlides/notesSlide15.xml" Type="http://schemas.openxmlformats.org/officeDocument/2006/relationships/notesSlide"/><Relationship Id="rId66" Target="notesSlides/notesSlide16.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brain automatically knows how to process what these numbers are. Neural Networks are computational models that try to mirror this process of the brain. a neural network uses layers of artificial neurons—simple decision-making units—to analyze input and improve predictions over time.</a:t>
            </a:r>
          </a:p>
          <a:p>
            <a:r>
              <a:rPr lang="en-US"/>
              <a:t/>
            </a:r>
          </a:p>
          <a:p>
            <a:r>
              <a:rPr lang="en-US"/>
              <a:t>Neural networks aim to mimic hte brain to try and classify things like images words.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it comes to coding neural networks I would like to refer back to the image. Just thinking about it it would go something like this: We start with some sort of input data, which we want to move forward, (important to note that we only want it to move forward) into another layer of data, called the hidden layer. </a:t>
            </a:r>
          </a:p>
          <a:p>
            <a:r>
              <a:rPr lang="en-US"/>
              <a:t>We can have as many of these as we want, but for the purposes of this example just imagine there are three layers. The first layer feeds into the second, the second layer feeds into the third (Weights factor in somehow?) until we get to the output layer. Our code needs to pipe each layer into the next, accounting for the weights. All of this happens with matrix multiplication. Imagine each of these dots (inputs) as it's own matrix. We can multiply them together and get some sort of result. </a:t>
            </a:r>
          </a:p>
          <a:p>
            <a:r>
              <a:rPr lang="en-US"/>
              <a:t/>
            </a:r>
          </a:p>
          <a:p>
            <a:r>
              <a:rPr lang="en-US"/>
              <a:t>Pytorch is an open source machine learning module that contains all the tools necessary to create Neural networks. NumPy contains all the information like addition subtraction, multiplication etc. We can think of Pytorch similarly. it contains all the information needed for encoding, storing tensors, optimizing the algorithm, etc, and one of the biggest things is GPU acceleration, which allows it to handle the large matrix multiplication needed to create neural networs.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it comes to coding neural networks I would like to refer back to the image. Just thinking about it it would go something like this: We start with some sort of input data, which we want to move forward, (important to note that we only want it to move forward) into another layer of data, called the hidden layer. We can have as many of these as we want, but for the purposes of this example just imagine there are three layers. The first layer feeds into the second, the second layer feeds into the third (Weights factor in somehow?) until we get to the output layer. Our code needs to pipe each layer into the next, accounting for the weights. All of this happens with matrix multiplication. Imagine each of these dots (inputs) as it's own matrix. We can multiply them together and get some sort of result. </a:t>
            </a:r>
          </a:p>
          <a:p>
            <a:r>
              <a:rPr lang="en-US"/>
              <a:t/>
            </a:r>
          </a:p>
          <a:p>
            <a:r>
              <a:rPr lang="en-US"/>
              <a:t>Pytorch is an open source machine learning module that contains all the tools necessary to create Neural networks. NumPy contains all the information like addition subtraction, multiplication etc. We can think of Pytorch similarly. it contains all the information needed for encoding, storing tensors, optimizing the algorithm, etc, and one of the biggest things is GPU acceleration, which allows it to handle the large matrix multiplication needed to create neural networs.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it comes to coding neural networks I would like to refer back to the image. Just thinking about it it would go something like this: We start with some sort of input data, which we want to move forward, (important to note that we only want it to move forward) into another layer of data, called the hidden layer. We can have as many of these as we want, but for the purposes of this example just imagine there are three layers. The first layer feeds into the second, the second layer feeds into the third (Weights factor in somehow?) until we get to the output layer. Our code needs to pipe each layer into the next, accounting for the weights. All of this happens with matrix multiplication. Imagine each of these dots (inputs) as it's own matrix. We can multiply them together and get some sort of result. </a:t>
            </a:r>
          </a:p>
          <a:p>
            <a:r>
              <a:rPr lang="en-US"/>
              <a:t/>
            </a:r>
          </a:p>
          <a:p>
            <a:r>
              <a:rPr lang="en-US"/>
              <a:t>Pytorch is an open source machine learning module that contains all the tools necessary to create Neural networks. NumPy contains all the information like addition subtraction, multiplication etc. We can think of Pytorch similarly. it contains all the information needed for encoding, storing tensors, optimizing the algorithm, etc, and one of the biggest things is GPU acceleration, which allows it to handle the large matrix multiplication needed to create neural networs.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it comes to coding neural networks I would like to refer back to the image. Just thinking about it it would go something like this: We start with some sort of input data, which we want to move forward, (important to note that we only want it to move forward) into another layer of data, called the hidden layer. We can have as many of these as we want, but for the purposes of this example just imagine there are three layers. The first layer feeds into the second, the second layer feeds into the third (Weights factor in somehow?) until we get to the output layer. Our code needs to pipe each layer into the next, accounting for the weights. All of this happens with matrix multiplication. Imagine each of these dots (inputs) as it's own matrix. We can multiply them together and get some sort of result. </a:t>
            </a:r>
          </a:p>
          <a:p>
            <a:r>
              <a:rPr lang="en-US"/>
              <a:t/>
            </a:r>
          </a:p>
          <a:p>
            <a:r>
              <a:rPr lang="en-US"/>
              <a:t>Pytorch is an open source machine learning module that contains all the tools necessary to create Neural networks. NumPy contains all the information like addition subtraction, multiplication etc. We can think of Pytorch similarly. it contains all the information needed for encoding, storing tensors, optimizing the algorithm, etc, and one of the biggest things is GPU acceleration, which allows it to handle the large matrix multiplication needed to create neural networs.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Perceptrons take multiple inputs and produces a single binary output (0 or 1). The output is determined by whether the weighted input values meet a certain threshold. This is similar to confusion matrix prediction models, where values above 0.5 are considered ‘true’ and values below are considerd false. Basically perceptraons are capable of taking in information, applying proper weights, and then making decisions.</a:t>
            </a:r>
          </a:p>
          <a:p>
            <a:r>
              <a:rPr lang="en-US"/>
              <a:t/>
            </a:r>
          </a:p>
          <a:p>
            <a:r>
              <a:rPr lang="en-US"/>
              <a:t>Important to note that this acts as a binary classifier. it either predicts that something is or isn't one thing(yes no)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Perceptrons take multiple inputs and produces a sigle binary output (0 or 1). The output is determined by whether the weighted input values meet a certain threshold. This is similar to confusion matrix prediction models, where values above 0.5 are considered ‘true’ and values below are considerd false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Perceptrons take multiple inputs and produces a sigle binary output (0 or 1). The output is determined by whether the weighted input values meet a certain threshold. This is similar to confusion matrix prediction models, where values above 0.5 are considered ‘true’ and values below are considerd false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Perceptrons take multiple inputs and produces a sigle binary output (0 or 1). The output is determined by whether the weighted input values meet a certain threshold. This is similar to confusion matrix prediction models, where values above 0.5 are considered ‘true’ and values below are considerd false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Perceptrons take multiple inputs and produces a sigle binary output (0 or 1). The output is determined by whether the weighted input values meet a certain threshold. This is similar to confusion matrix prediction models, where values above 0.5 are considered ‘true’ and values below are considerd false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Perceptrons take multiple inputs and produces a sigle binary output (0 or 1). The output is determined by whether the weighted input values meet a certain threshold. This is similar to confusion matrix prediction models, where values above 0.5 are considered ‘true’ and values below are considerd false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sigmoid doesn't do just yes or no, it can output values from 0-1  giving a measurable confidence. Sigmoid is much more commonly used as it allows the neural networks to make smarter, probability-based decisions.</a:t>
            </a:r>
          </a:p>
          <a:p>
            <a:r>
              <a:rPr lang="en-US"/>
              <a:t/>
            </a:r>
          </a:p>
          <a:p>
            <a:r>
              <a:rPr lang="en-US"/>
              <a:t>Going back to the cheese example where John would only go if a certain threshold was met, the sigmoid function would  instead produce a percent chance that john would go to the festival if there were any factors. So if there was good weather it would be a 95% chance, but if he could get a friend and transportation, but it was bad weather, maybe it would only be 40%.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it comes to coding neural networks I would like to refer back to the image. Just thinking about it it would go something like this: We start with some sort of input data, which we want to move forward, (important to note that we only want it to move forward) into another layer of data, called the hidden layer. We can have as many of these as we want, but for the purposes of this example just imagine there are three layers. The first layer feeds into the second, the second layer feeds into the third (Weights factor in somehow?) until we get to the output layer. Our code needs to pipe each layer into the next, accounting for the weights. All of this happens with matrix multiplication. Imagine each of these dots (inputs) as it's own matrix. We can multiply them together and get some sort of result. </a:t>
            </a:r>
          </a:p>
          <a:p>
            <a:r>
              <a:rPr lang="en-US"/>
              <a:t/>
            </a:r>
          </a:p>
          <a:p>
            <a:r>
              <a:rPr lang="en-US"/>
              <a:t>Pytorch is an open source machine learning module that contains all the tools necessary to create Neural networks. NumPy contains all the information like addition subtraction, multiplication etc. We can think of Pytorch similarly. it contains all the information needed for encoding, storing tensors, optimizing the algorithm, etc, and one of the biggest things is GPU acceleration, which allows it to handle the large matrix multiplication needed to create neural networs.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Torch.nn - Main model where everything is stores. Almost everything in a Pytorch Neural Network comes from here</a:t>
            </a:r>
          </a:p>
          <a:p>
            <a:r>
              <a:rPr lang="en-US"/>
              <a:t/>
            </a:r>
          </a:p>
          <a:p>
            <a:r>
              <a:rPr lang="en-US"/>
              <a:t>Torch.nn.parameter - calculates the weights and biases. Updates via Gradient descent. Imagine that you are on a hil trying to get down. You can feel the gravity, and walk donwards. Similarly Gradient descent takes difference between predicitons and their true values and slowly works behind the scenes to walk down the hill, and bridge the gap between the the model predictions, and the true values </a:t>
            </a:r>
          </a:p>
          <a:p>
            <a:r>
              <a:rPr lang="en-US"/>
              <a:t/>
            </a:r>
          </a:p>
          <a:p>
            <a:r>
              <a:rPr lang="en-US"/>
              <a:t/>
            </a:r>
          </a:p>
          <a:p>
            <a:r>
              <a:rPr lang="en-US"/>
              <a:t>Torch.nn.Module - Skeleton of the model that allows you to essentially do all the things like define layers, parameters(your weights and biases) and how the data flows (def foward)</a:t>
            </a:r>
          </a:p>
          <a:p>
            <a:r>
              <a:rPr lang="en-US"/>
              <a:t/>
            </a:r>
          </a:p>
          <a:p>
            <a:r>
              <a:rPr lang="en-US"/>
              <a:t>torch.optim - Improves module by updating the weights after every prediction</a:t>
            </a:r>
          </a:p>
          <a:p>
            <a:r>
              <a:rPr lang="en-US"/>
              <a:t/>
            </a:r>
          </a:p>
          <a:p>
            <a:r>
              <a:rPr lang="en-US"/>
              <a:t>def foward() - makes the model flow foward like we need it 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Torch.nn - Main model where everything is stores. Almost everything in a PyTorch neural Network comes from here</a:t>
            </a:r>
          </a:p>
          <a:p>
            <a:r>
              <a:rPr lang="en-US"/>
              <a:t/>
            </a:r>
          </a:p>
          <a:p>
            <a:r>
              <a:rPr lang="en-US"/>
              <a:t>Torch.nn.parameter - calculates the weights and biases. Updates via Gradient descent. Imagine that you are on a hil trying to get down. You can feel the gravity, and walk donwards. Similarly Gradient descent takes difference between predicitons and their true values and slowly works behind the scenes to walk down the hill, and bridge the gap between the the model predictions, and the true values </a:t>
            </a:r>
          </a:p>
          <a:p>
            <a:r>
              <a:rPr lang="en-US"/>
              <a:t/>
            </a:r>
          </a:p>
          <a:p>
            <a:r>
              <a:rPr lang="en-US"/>
              <a:t/>
            </a:r>
          </a:p>
          <a:p>
            <a:r>
              <a:rPr lang="en-US"/>
              <a:t>Torch.nn.Module - Skeleton of the model that allows you to essentially do all the things like define layers, parameters(your weights and biases) and how the data flows (def foward)</a:t>
            </a:r>
          </a:p>
          <a:p>
            <a:r>
              <a:rPr lang="en-US"/>
              <a:t/>
            </a:r>
          </a:p>
          <a:p>
            <a:r>
              <a:rPr lang="en-US"/>
              <a:t>torch.optim - Improves module by updating the weights after every prediction</a:t>
            </a:r>
          </a:p>
          <a:p>
            <a:r>
              <a:rPr lang="en-US"/>
              <a:t/>
            </a:r>
          </a:p>
          <a:p>
            <a:r>
              <a:rPr lang="en-US"/>
              <a:t>def foward() - makes the model flow foward like we need it 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During each epoch, the model sees every piece of training data once. For each piece, it runs through all the layers, makes a prediction, calculates how wrong it is, and updates its weights. After going through all the data, that’s one epoch. Then it repeats this process for more epochs to keep improving</a:t>
            </a:r>
          </a:p>
          <a:p>
            <a:r>
              <a:rPr lang="en-US"/>
              <a:t/>
            </a:r>
          </a:p>
          <a:p>
            <a:r>
              <a:rPr lang="en-US"/>
              <a:t>Backpropagation is how the model figures out which weights to change, and by how much. It works backward from the error, calculating how each weight contributed to that error, so the model can improve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0.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0.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0.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0.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0.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0.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0.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0.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0.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0.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notesSlides/notesSlide12.xml" Type="http://schemas.openxmlformats.org/officeDocument/2006/relationships/notesSlide"/><Relationship Id="rId3" Target="../media/image10.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49.png" Type="http://schemas.openxmlformats.org/officeDocument/2006/relationships/image"/><Relationship Id="rId4" Target="../media/image5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5.png" Type="http://schemas.openxmlformats.org/officeDocument/2006/relationships/image"/><Relationship Id="rId4" Target="../media/image56.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57.png" Type="http://schemas.openxmlformats.org/officeDocument/2006/relationships/image"/><Relationship Id="rId6" Target="../media/image58.svg" Type="http://schemas.openxmlformats.org/officeDocument/2006/relationships/image"/><Relationship Id="rId7" Target="../media/image59.png" Type="http://schemas.openxmlformats.org/officeDocument/2006/relationships/image"/><Relationship Id="rId8" Target="../media/image6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svg" Type="http://schemas.openxmlformats.org/officeDocument/2006/relationships/image"/><Relationship Id="rId11" Target="../media/image65.png" Type="http://schemas.openxmlformats.org/officeDocument/2006/relationships/image"/><Relationship Id="rId12" Target="../media/image66.svg" Type="http://schemas.openxmlformats.org/officeDocument/2006/relationships/image"/><Relationship Id="rId2" Target="../media/image10.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61.png" Type="http://schemas.openxmlformats.org/officeDocument/2006/relationships/image"/><Relationship Id="rId8" Target="../media/image62.svg" Type="http://schemas.openxmlformats.org/officeDocument/2006/relationships/image"/><Relationship Id="rId9" Target="../media/image6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67.jpeg" Type="http://schemas.openxmlformats.org/officeDocument/2006/relationships/image"/><Relationship Id="rId8" Target="../media/image68.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61.png" Type="http://schemas.openxmlformats.org/officeDocument/2006/relationships/image"/><Relationship Id="rId8" Target="../media/image6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0.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9.png" Type="http://schemas.openxmlformats.org/officeDocument/2006/relationships/image"/><Relationship Id="rId2" Target="../notesSlides/notesSlide14.xml" Type="http://schemas.openxmlformats.org/officeDocument/2006/relationships/notesSlide"/><Relationship Id="rId3" Target="../media/image10.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9.png" Type="http://schemas.openxmlformats.org/officeDocument/2006/relationships/image"/><Relationship Id="rId2" Target="../notesSlides/notesSlide15.xml" Type="http://schemas.openxmlformats.org/officeDocument/2006/relationships/notesSlide"/><Relationship Id="rId3" Target="../media/image10.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7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https://colab.research.google.com/drive/17iUwJ_itqoWpGtnVj0XB8IdtyKwYlOeJ#scrollTo=WxJfF6C3X1Lv" TargetMode="External" Type="http://schemas.openxmlformats.org/officeDocument/2006/relationships/hyperlink"/></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1.png" Type="http://schemas.openxmlformats.org/officeDocument/2006/relationships/image"/><Relationship Id="rId8" Target="../media/image7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514350" y="-831533"/>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792097" y="474606"/>
            <a:ext cx="13993961" cy="9337788"/>
          </a:xfrm>
          <a:custGeom>
            <a:avLst/>
            <a:gdLst/>
            <a:ahLst/>
            <a:cxnLst/>
            <a:rect r="r" b="b" t="t" l="l"/>
            <a:pathLst>
              <a:path h="9337788" w="13993961">
                <a:moveTo>
                  <a:pt x="0" y="0"/>
                </a:moveTo>
                <a:lnTo>
                  <a:pt x="13993961" y="0"/>
                </a:lnTo>
                <a:lnTo>
                  <a:pt x="13993961" y="9337788"/>
                </a:lnTo>
                <a:lnTo>
                  <a:pt x="0" y="9337788"/>
                </a:lnTo>
                <a:lnTo>
                  <a:pt x="0" y="0"/>
                </a:lnTo>
                <a:close/>
              </a:path>
            </a:pathLst>
          </a:custGeom>
          <a:blipFill>
            <a:blip r:embed="rId3">
              <a:alphaModFix amt="31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557095" y="3250780"/>
            <a:ext cx="16362687" cy="3133725"/>
          </a:xfrm>
          <a:prstGeom prst="rect">
            <a:avLst/>
          </a:prstGeom>
        </p:spPr>
        <p:txBody>
          <a:bodyPr anchor="t" rtlCol="false" tIns="0" lIns="0" bIns="0" rIns="0">
            <a:spAutoFit/>
          </a:bodyPr>
          <a:lstStyle/>
          <a:p>
            <a:pPr algn="l">
              <a:lnSpc>
                <a:spcPts val="12000"/>
              </a:lnSpc>
            </a:pPr>
            <a:r>
              <a:rPr lang="en-US" sz="12000">
                <a:solidFill>
                  <a:srgbClr val="FFFFFF"/>
                </a:solidFill>
                <a:latin typeface="Gagalin"/>
                <a:ea typeface="Gagalin"/>
                <a:cs typeface="Gagalin"/>
                <a:sym typeface="Gagalin"/>
              </a:rPr>
              <a:t>NEURAL NETWORKS, </a:t>
            </a:r>
          </a:p>
          <a:p>
            <a:pPr algn="l">
              <a:lnSpc>
                <a:spcPts val="12000"/>
              </a:lnSpc>
            </a:pPr>
            <a:r>
              <a:rPr lang="en-US" sz="12000">
                <a:solidFill>
                  <a:srgbClr val="FFFFFF"/>
                </a:solidFill>
                <a:latin typeface="Gagalin"/>
                <a:ea typeface="Gagalin"/>
                <a:cs typeface="Gagalin"/>
                <a:sym typeface="Gagalin"/>
              </a:rPr>
              <a:t>HOW DO THEY WORK?</a:t>
            </a:r>
          </a:p>
        </p:txBody>
      </p:sp>
      <p:sp>
        <p:nvSpPr>
          <p:cNvPr name="Freeform 8" id="8"/>
          <p:cNvSpPr/>
          <p:nvPr/>
        </p:nvSpPr>
        <p:spPr>
          <a:xfrm flipH="false" flipV="false" rot="0">
            <a:off x="15398164" y="3031705"/>
            <a:ext cx="3057433" cy="2946254"/>
          </a:xfrm>
          <a:custGeom>
            <a:avLst/>
            <a:gdLst/>
            <a:ahLst/>
            <a:cxnLst/>
            <a:rect r="r" b="b" t="t" l="l"/>
            <a:pathLst>
              <a:path h="2946254" w="3057433">
                <a:moveTo>
                  <a:pt x="0" y="0"/>
                </a:moveTo>
                <a:lnTo>
                  <a:pt x="3057433" y="0"/>
                </a:lnTo>
                <a:lnTo>
                  <a:pt x="3057433" y="2946254"/>
                </a:lnTo>
                <a:lnTo>
                  <a:pt x="0" y="2946254"/>
                </a:lnTo>
                <a:lnTo>
                  <a:pt x="0" y="0"/>
                </a:lnTo>
                <a:close/>
              </a:path>
            </a:pathLst>
          </a:custGeom>
          <a:blipFill>
            <a:blip r:embed="rId5">
              <a:alphaModFix amt="51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826062" y="2110251"/>
            <a:ext cx="628344" cy="568937"/>
          </a:xfrm>
          <a:custGeom>
            <a:avLst/>
            <a:gdLst/>
            <a:ahLst/>
            <a:cxnLst/>
            <a:rect r="r" b="b" t="t" l="l"/>
            <a:pathLst>
              <a:path h="568937" w="628344">
                <a:moveTo>
                  <a:pt x="0" y="0"/>
                </a:moveTo>
                <a:lnTo>
                  <a:pt x="628344" y="0"/>
                </a:lnTo>
                <a:lnTo>
                  <a:pt x="628344" y="568937"/>
                </a:lnTo>
                <a:lnTo>
                  <a:pt x="0" y="5689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5883833" y="8492610"/>
            <a:ext cx="873452" cy="500250"/>
          </a:xfrm>
          <a:custGeom>
            <a:avLst/>
            <a:gdLst/>
            <a:ahLst/>
            <a:cxnLst/>
            <a:rect r="r" b="b" t="t" l="l"/>
            <a:pathLst>
              <a:path h="500250" w="873452">
                <a:moveTo>
                  <a:pt x="0" y="0"/>
                </a:moveTo>
                <a:lnTo>
                  <a:pt x="873452" y="0"/>
                </a:lnTo>
                <a:lnTo>
                  <a:pt x="873452" y="500249"/>
                </a:lnTo>
                <a:lnTo>
                  <a:pt x="0" y="50024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17596544" y="8492610"/>
            <a:ext cx="646477" cy="646477"/>
            <a:chOff x="0" y="0"/>
            <a:chExt cx="170265" cy="170265"/>
          </a:xfrm>
        </p:grpSpPr>
        <p:sp>
          <p:nvSpPr>
            <p:cNvPr name="Freeform 12" id="12"/>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13" id="13"/>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TextBox 14" id="14"/>
          <p:cNvSpPr txBox="true"/>
          <p:nvPr/>
        </p:nvSpPr>
        <p:spPr>
          <a:xfrm rot="0">
            <a:off x="3140234" y="6813130"/>
            <a:ext cx="8147922" cy="1035050"/>
          </a:xfrm>
          <a:prstGeom prst="rect">
            <a:avLst/>
          </a:prstGeom>
        </p:spPr>
        <p:txBody>
          <a:bodyPr anchor="t" rtlCol="false" tIns="0" lIns="0" bIns="0" rIns="0">
            <a:spAutoFit/>
          </a:bodyPr>
          <a:lstStyle/>
          <a:p>
            <a:pPr algn="l">
              <a:lnSpc>
                <a:spcPts val="3999"/>
              </a:lnSpc>
              <a:spcBef>
                <a:spcPct val="0"/>
              </a:spcBef>
            </a:pPr>
            <a:r>
              <a:rPr lang="en-US" sz="3999">
                <a:solidFill>
                  <a:srgbClr val="FFFFFF"/>
                </a:solidFill>
                <a:latin typeface="Gagalin"/>
                <a:ea typeface="Gagalin"/>
                <a:cs typeface="Gagalin"/>
                <a:sym typeface="Gagalin"/>
              </a:rPr>
              <a:t>BY JOE ORTIZ,  LEILA KANDIL,  LOIC SHYAKA NGABO, AND MAX VALLADOLID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514350" y="-831533"/>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378262" y="1028700"/>
            <a:ext cx="456656" cy="413481"/>
          </a:xfrm>
          <a:custGeom>
            <a:avLst/>
            <a:gdLst/>
            <a:ahLst/>
            <a:cxnLst/>
            <a:rect r="r" b="b" t="t" l="l"/>
            <a:pathLst>
              <a:path h="413481" w="456656">
                <a:moveTo>
                  <a:pt x="0" y="0"/>
                </a:moveTo>
                <a:lnTo>
                  <a:pt x="456656" y="0"/>
                </a:lnTo>
                <a:lnTo>
                  <a:pt x="456656" y="413481"/>
                </a:lnTo>
                <a:lnTo>
                  <a:pt x="0" y="413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8821646" y="4726918"/>
            <a:ext cx="7865916" cy="1604030"/>
          </a:xfrm>
          <a:custGeom>
            <a:avLst/>
            <a:gdLst/>
            <a:ahLst/>
            <a:cxnLst/>
            <a:rect r="r" b="b" t="t" l="l"/>
            <a:pathLst>
              <a:path h="1604030" w="7865916">
                <a:moveTo>
                  <a:pt x="0" y="0"/>
                </a:moveTo>
                <a:lnTo>
                  <a:pt x="7865916" y="0"/>
                </a:lnTo>
                <a:lnTo>
                  <a:pt x="7865916" y="1604030"/>
                </a:lnTo>
                <a:lnTo>
                  <a:pt x="0" y="1604030"/>
                </a:lnTo>
                <a:lnTo>
                  <a:pt x="0" y="0"/>
                </a:lnTo>
                <a:close/>
              </a:path>
            </a:pathLst>
          </a:custGeom>
          <a:blipFill>
            <a:blip r:embed="rId8"/>
            <a:stretch>
              <a:fillRect l="0" t="0" r="0" b="0"/>
            </a:stretch>
          </a:blipFill>
        </p:spPr>
      </p:sp>
      <p:sp>
        <p:nvSpPr>
          <p:cNvPr name="TextBox 12" id="12"/>
          <p:cNvSpPr txBox="true"/>
          <p:nvPr/>
        </p:nvSpPr>
        <p:spPr>
          <a:xfrm rot="0">
            <a:off x="1378262" y="1715290"/>
            <a:ext cx="14133911" cy="1116460"/>
          </a:xfrm>
          <a:prstGeom prst="rect">
            <a:avLst/>
          </a:prstGeom>
        </p:spPr>
        <p:txBody>
          <a:bodyPr anchor="t" rtlCol="false" tIns="0" lIns="0" bIns="0" rIns="0">
            <a:spAutoFit/>
          </a:bodyPr>
          <a:lstStyle/>
          <a:p>
            <a:pPr algn="l">
              <a:lnSpc>
                <a:spcPts val="8330"/>
              </a:lnSpc>
            </a:pPr>
            <a:r>
              <a:rPr lang="en-US" sz="8330">
                <a:solidFill>
                  <a:srgbClr val="FFFFFF"/>
                </a:solidFill>
                <a:latin typeface="Gagalin"/>
                <a:ea typeface="Gagalin"/>
                <a:cs typeface="Gagalin"/>
                <a:sym typeface="Gagalin"/>
              </a:rPr>
              <a:t>WHAT ARE NEURAL NETWORKS?</a:t>
            </a:r>
          </a:p>
        </p:txBody>
      </p:sp>
      <p:sp>
        <p:nvSpPr>
          <p:cNvPr name="TextBox 13" id="13"/>
          <p:cNvSpPr txBox="true"/>
          <p:nvPr/>
        </p:nvSpPr>
        <p:spPr>
          <a:xfrm rot="0">
            <a:off x="1028700" y="3713634"/>
            <a:ext cx="7433822" cy="4118229"/>
          </a:xfrm>
          <a:prstGeom prst="rect">
            <a:avLst/>
          </a:prstGeom>
        </p:spPr>
        <p:txBody>
          <a:bodyPr anchor="t" rtlCol="false" tIns="0" lIns="0" bIns="0" rIns="0">
            <a:spAutoFit/>
          </a:bodyPr>
          <a:lstStyle/>
          <a:p>
            <a:pPr algn="l">
              <a:lnSpc>
                <a:spcPts val="4067"/>
              </a:lnSpc>
            </a:pPr>
            <a:r>
              <a:rPr lang="en-US" sz="3600" b="true">
                <a:solidFill>
                  <a:srgbClr val="FFFFFF"/>
                </a:solidFill>
                <a:latin typeface="Montserrat Bold"/>
                <a:ea typeface="Montserrat Bold"/>
                <a:cs typeface="Montserrat Bold"/>
                <a:sym typeface="Montserrat Bold"/>
              </a:rPr>
              <a:t>Consider the following numbers</a:t>
            </a:r>
          </a:p>
          <a:p>
            <a:pPr algn="l">
              <a:lnSpc>
                <a:spcPts val="4067"/>
              </a:lnSpc>
            </a:pPr>
          </a:p>
          <a:p>
            <a:pPr algn="l">
              <a:lnSpc>
                <a:spcPts val="4067"/>
              </a:lnSpc>
            </a:pPr>
            <a:r>
              <a:rPr lang="en-US" sz="3600" b="true">
                <a:solidFill>
                  <a:srgbClr val="FFFFFF"/>
                </a:solidFill>
                <a:latin typeface="Montserrat Bold"/>
                <a:ea typeface="Montserrat Bold"/>
                <a:cs typeface="Montserrat Bold"/>
                <a:sym typeface="Montserrat Bold"/>
              </a:rPr>
              <a:t>We automatically understand what each number is.</a:t>
            </a:r>
          </a:p>
          <a:p>
            <a:pPr algn="l">
              <a:lnSpc>
                <a:spcPts val="4067"/>
              </a:lnSpc>
            </a:pPr>
          </a:p>
          <a:p>
            <a:pPr algn="l">
              <a:lnSpc>
                <a:spcPts val="4067"/>
              </a:lnSpc>
            </a:pPr>
            <a:r>
              <a:rPr lang="en-US" sz="3600" b="true">
                <a:solidFill>
                  <a:srgbClr val="FFFFFF"/>
                </a:solidFill>
                <a:latin typeface="Montserrat Bold"/>
                <a:ea typeface="Montserrat Bold"/>
                <a:cs typeface="Montserrat Bold"/>
                <a:sym typeface="Montserrat Bold"/>
              </a:rPr>
              <a:t>How could a learning module understand this same thing?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514350" y="-703009"/>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335123" y="821959"/>
            <a:ext cx="456656" cy="413481"/>
          </a:xfrm>
          <a:custGeom>
            <a:avLst/>
            <a:gdLst/>
            <a:ahLst/>
            <a:cxnLst/>
            <a:rect r="r" b="b" t="t" l="l"/>
            <a:pathLst>
              <a:path h="413481" w="456656">
                <a:moveTo>
                  <a:pt x="0" y="0"/>
                </a:moveTo>
                <a:lnTo>
                  <a:pt x="456656" y="0"/>
                </a:lnTo>
                <a:lnTo>
                  <a:pt x="456656" y="413482"/>
                </a:lnTo>
                <a:lnTo>
                  <a:pt x="0" y="413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642415" y="1387841"/>
            <a:ext cx="7787010" cy="2169070"/>
          </a:xfrm>
          <a:prstGeom prst="rect">
            <a:avLst/>
          </a:prstGeom>
        </p:spPr>
        <p:txBody>
          <a:bodyPr anchor="t" rtlCol="false" tIns="0" lIns="0" bIns="0" rIns="0">
            <a:spAutoFit/>
          </a:bodyPr>
          <a:lstStyle/>
          <a:p>
            <a:pPr algn="l">
              <a:lnSpc>
                <a:spcPts val="8330"/>
              </a:lnSpc>
            </a:pPr>
            <a:r>
              <a:rPr lang="en-US" sz="8330">
                <a:solidFill>
                  <a:srgbClr val="FFFFFF"/>
                </a:solidFill>
                <a:latin typeface="Anton"/>
                <a:ea typeface="Anton"/>
                <a:cs typeface="Anton"/>
                <a:sym typeface="Anton"/>
              </a:rPr>
              <a:t>HOW NEURAL NETWORKS WORK</a:t>
            </a:r>
          </a:p>
        </p:txBody>
      </p:sp>
      <p:sp>
        <p:nvSpPr>
          <p:cNvPr name="Freeform 12" id="12"/>
          <p:cNvSpPr/>
          <p:nvPr/>
        </p:nvSpPr>
        <p:spPr>
          <a:xfrm flipH="false" flipV="false" rot="0">
            <a:off x="8429425" y="2671246"/>
            <a:ext cx="9813596" cy="5458813"/>
          </a:xfrm>
          <a:custGeom>
            <a:avLst/>
            <a:gdLst/>
            <a:ahLst/>
            <a:cxnLst/>
            <a:rect r="r" b="b" t="t" l="l"/>
            <a:pathLst>
              <a:path h="5458813" w="9813596">
                <a:moveTo>
                  <a:pt x="0" y="0"/>
                </a:moveTo>
                <a:lnTo>
                  <a:pt x="9813595" y="0"/>
                </a:lnTo>
                <a:lnTo>
                  <a:pt x="9813595" y="5458813"/>
                </a:lnTo>
                <a:lnTo>
                  <a:pt x="0" y="5458813"/>
                </a:lnTo>
                <a:lnTo>
                  <a:pt x="0" y="0"/>
                </a:lnTo>
                <a:close/>
              </a:path>
            </a:pathLst>
          </a:custGeom>
          <a:blipFill>
            <a:blip r:embed="rId8"/>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514350" y="-703009"/>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378262" y="1028700"/>
            <a:ext cx="456656" cy="413481"/>
          </a:xfrm>
          <a:custGeom>
            <a:avLst/>
            <a:gdLst/>
            <a:ahLst/>
            <a:cxnLst/>
            <a:rect r="r" b="b" t="t" l="l"/>
            <a:pathLst>
              <a:path h="413481" w="456656">
                <a:moveTo>
                  <a:pt x="0" y="0"/>
                </a:moveTo>
                <a:lnTo>
                  <a:pt x="456656" y="0"/>
                </a:lnTo>
                <a:lnTo>
                  <a:pt x="456656" y="413481"/>
                </a:lnTo>
                <a:lnTo>
                  <a:pt x="0" y="413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8429425" y="2671246"/>
            <a:ext cx="9813596" cy="5458813"/>
          </a:xfrm>
          <a:custGeom>
            <a:avLst/>
            <a:gdLst/>
            <a:ahLst/>
            <a:cxnLst/>
            <a:rect r="r" b="b" t="t" l="l"/>
            <a:pathLst>
              <a:path h="5458813" w="9813596">
                <a:moveTo>
                  <a:pt x="0" y="0"/>
                </a:moveTo>
                <a:lnTo>
                  <a:pt x="9813595" y="0"/>
                </a:lnTo>
                <a:lnTo>
                  <a:pt x="9813595" y="5458813"/>
                </a:lnTo>
                <a:lnTo>
                  <a:pt x="0" y="5458813"/>
                </a:lnTo>
                <a:lnTo>
                  <a:pt x="0" y="0"/>
                </a:lnTo>
                <a:close/>
              </a:path>
            </a:pathLst>
          </a:custGeom>
          <a:blipFill>
            <a:blip r:embed="rId8"/>
            <a:stretch>
              <a:fillRect l="0" t="0" r="0" b="0"/>
            </a:stretch>
          </a:blipFill>
        </p:spPr>
      </p:sp>
      <p:sp>
        <p:nvSpPr>
          <p:cNvPr name="TextBox 12" id="12"/>
          <p:cNvSpPr txBox="true"/>
          <p:nvPr/>
        </p:nvSpPr>
        <p:spPr>
          <a:xfrm rot="0">
            <a:off x="7547187" y="675795"/>
            <a:ext cx="3428107"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Input Data</a:t>
            </a:r>
          </a:p>
        </p:txBody>
      </p:sp>
      <p:sp>
        <p:nvSpPr>
          <p:cNvPr name="AutoShape 13" id="13"/>
          <p:cNvSpPr/>
          <p:nvPr/>
        </p:nvSpPr>
        <p:spPr>
          <a:xfrm>
            <a:off x="9261240" y="1562890"/>
            <a:ext cx="449771" cy="2600921"/>
          </a:xfrm>
          <a:prstGeom prst="line">
            <a:avLst/>
          </a:prstGeom>
          <a:ln cap="flat" w="76200">
            <a:solidFill>
              <a:srgbClr val="FF0000"/>
            </a:solidFill>
            <a:prstDash val="solid"/>
            <a:headEnd type="none" len="sm" w="sm"/>
            <a:tailEnd type="none" len="sm" w="sm"/>
          </a:ln>
        </p:spPr>
      </p:sp>
      <p:sp>
        <p:nvSpPr>
          <p:cNvPr name="TextBox 14" id="14"/>
          <p:cNvSpPr txBox="true"/>
          <p:nvPr/>
        </p:nvSpPr>
        <p:spPr>
          <a:xfrm rot="0">
            <a:off x="359031" y="3759392"/>
            <a:ext cx="8070394" cy="537845"/>
          </a:xfrm>
          <a:prstGeom prst="rect">
            <a:avLst/>
          </a:prstGeom>
        </p:spPr>
        <p:txBody>
          <a:bodyPr anchor="t" rtlCol="false" tIns="0" lIns="0" bIns="0" rIns="0">
            <a:spAutoFit/>
          </a:bodyPr>
          <a:lstStyle/>
          <a:p>
            <a:pPr algn="ctr">
              <a:lnSpc>
                <a:spcPts val="4479"/>
              </a:lnSpc>
            </a:pPr>
            <a:r>
              <a:rPr lang="en-US" sz="3199">
                <a:solidFill>
                  <a:srgbClr val="FFFFFF"/>
                </a:solidFill>
                <a:latin typeface="Canva Sans"/>
                <a:ea typeface="Canva Sans"/>
                <a:cs typeface="Canva Sans"/>
                <a:sym typeface="Canva Sans"/>
              </a:rPr>
              <a:t>Input data - like an image or sentence</a:t>
            </a:r>
          </a:p>
        </p:txBody>
      </p:sp>
      <p:sp>
        <p:nvSpPr>
          <p:cNvPr name="TextBox 15" id="15"/>
          <p:cNvSpPr txBox="true"/>
          <p:nvPr/>
        </p:nvSpPr>
        <p:spPr>
          <a:xfrm rot="0">
            <a:off x="642415" y="1387841"/>
            <a:ext cx="7787010" cy="2169070"/>
          </a:xfrm>
          <a:prstGeom prst="rect">
            <a:avLst/>
          </a:prstGeom>
        </p:spPr>
        <p:txBody>
          <a:bodyPr anchor="t" rtlCol="false" tIns="0" lIns="0" bIns="0" rIns="0">
            <a:spAutoFit/>
          </a:bodyPr>
          <a:lstStyle/>
          <a:p>
            <a:pPr algn="l">
              <a:lnSpc>
                <a:spcPts val="8330"/>
              </a:lnSpc>
            </a:pPr>
            <a:r>
              <a:rPr lang="en-US" sz="8330">
                <a:solidFill>
                  <a:srgbClr val="FFFFFF"/>
                </a:solidFill>
                <a:latin typeface="Anton"/>
                <a:ea typeface="Anton"/>
                <a:cs typeface="Anton"/>
                <a:sym typeface="Anton"/>
              </a:rPr>
              <a:t>HOW NEURAL NETWORKS WORK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514350" y="-703009"/>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429425" y="2671246"/>
            <a:ext cx="9813596" cy="5458813"/>
          </a:xfrm>
          <a:custGeom>
            <a:avLst/>
            <a:gdLst/>
            <a:ahLst/>
            <a:cxnLst/>
            <a:rect r="r" b="b" t="t" l="l"/>
            <a:pathLst>
              <a:path h="5458813" w="9813596">
                <a:moveTo>
                  <a:pt x="0" y="0"/>
                </a:moveTo>
                <a:lnTo>
                  <a:pt x="9813595" y="0"/>
                </a:lnTo>
                <a:lnTo>
                  <a:pt x="9813595" y="5458813"/>
                </a:lnTo>
                <a:lnTo>
                  <a:pt x="0" y="5458813"/>
                </a:lnTo>
                <a:lnTo>
                  <a:pt x="0" y="0"/>
                </a:lnTo>
                <a:close/>
              </a:path>
            </a:pathLst>
          </a:custGeom>
          <a:blipFill>
            <a:blip r:embed="rId6"/>
            <a:stretch>
              <a:fillRect l="0" t="0" r="0" b="0"/>
            </a:stretch>
          </a:blipFill>
        </p:spPr>
      </p:sp>
      <p:sp>
        <p:nvSpPr>
          <p:cNvPr name="TextBox 11" id="11"/>
          <p:cNvSpPr txBox="true"/>
          <p:nvPr/>
        </p:nvSpPr>
        <p:spPr>
          <a:xfrm rot="0">
            <a:off x="7547187" y="675795"/>
            <a:ext cx="3428107"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Input Data</a:t>
            </a:r>
          </a:p>
        </p:txBody>
      </p:sp>
      <p:sp>
        <p:nvSpPr>
          <p:cNvPr name="AutoShape 12" id="12"/>
          <p:cNvSpPr/>
          <p:nvPr/>
        </p:nvSpPr>
        <p:spPr>
          <a:xfrm>
            <a:off x="9261240" y="1562890"/>
            <a:ext cx="449771" cy="2600921"/>
          </a:xfrm>
          <a:prstGeom prst="line">
            <a:avLst/>
          </a:prstGeom>
          <a:ln cap="flat" w="76200">
            <a:solidFill>
              <a:srgbClr val="FF0000"/>
            </a:solidFill>
            <a:prstDash val="solid"/>
            <a:headEnd type="none" len="sm" w="sm"/>
            <a:tailEnd type="none" len="sm" w="sm"/>
          </a:ln>
        </p:spPr>
      </p:sp>
      <p:sp>
        <p:nvSpPr>
          <p:cNvPr name="TextBox 13" id="13"/>
          <p:cNvSpPr txBox="true"/>
          <p:nvPr/>
        </p:nvSpPr>
        <p:spPr>
          <a:xfrm rot="0">
            <a:off x="7547187" y="8647914"/>
            <a:ext cx="2572742"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Weights</a:t>
            </a:r>
          </a:p>
        </p:txBody>
      </p:sp>
      <p:sp>
        <p:nvSpPr>
          <p:cNvPr name="AutoShape 14" id="14"/>
          <p:cNvSpPr/>
          <p:nvPr/>
        </p:nvSpPr>
        <p:spPr>
          <a:xfrm flipV="true">
            <a:off x="8833558" y="6688213"/>
            <a:ext cx="1683187" cy="2054951"/>
          </a:xfrm>
          <a:prstGeom prst="line">
            <a:avLst/>
          </a:prstGeom>
          <a:ln cap="flat" w="76200">
            <a:solidFill>
              <a:srgbClr val="FF0000"/>
            </a:solidFill>
            <a:prstDash val="solid"/>
            <a:headEnd type="none" len="sm" w="sm"/>
            <a:tailEnd type="none" len="sm" w="sm"/>
          </a:ln>
        </p:spPr>
      </p:sp>
      <p:sp>
        <p:nvSpPr>
          <p:cNvPr name="TextBox 15" id="15"/>
          <p:cNvSpPr txBox="true"/>
          <p:nvPr/>
        </p:nvSpPr>
        <p:spPr>
          <a:xfrm rot="0">
            <a:off x="359031" y="3759392"/>
            <a:ext cx="8070394" cy="2785745"/>
          </a:xfrm>
          <a:prstGeom prst="rect">
            <a:avLst/>
          </a:prstGeom>
        </p:spPr>
        <p:txBody>
          <a:bodyPr anchor="t" rtlCol="false" tIns="0" lIns="0" bIns="0" rIns="0">
            <a:spAutoFit/>
          </a:bodyPr>
          <a:lstStyle/>
          <a:p>
            <a:pPr algn="ctr">
              <a:lnSpc>
                <a:spcPts val="4479"/>
              </a:lnSpc>
            </a:pPr>
            <a:r>
              <a:rPr lang="en-US" sz="3199">
                <a:solidFill>
                  <a:srgbClr val="FFFFFF"/>
                </a:solidFill>
                <a:latin typeface="Canva Sans"/>
                <a:ea typeface="Canva Sans"/>
                <a:cs typeface="Canva Sans"/>
                <a:sym typeface="Canva Sans"/>
              </a:rPr>
              <a:t>Input data - like an image or sentence</a:t>
            </a:r>
          </a:p>
          <a:p>
            <a:pPr algn="ctr">
              <a:lnSpc>
                <a:spcPts val="4479"/>
              </a:lnSpc>
            </a:pPr>
          </a:p>
          <a:p>
            <a:pPr algn="ctr">
              <a:lnSpc>
                <a:spcPts val="4479"/>
              </a:lnSpc>
            </a:pPr>
            <a:r>
              <a:rPr lang="en-US" sz="3199">
                <a:solidFill>
                  <a:srgbClr val="FFFFFF"/>
                </a:solidFill>
                <a:latin typeface="Canva Sans"/>
                <a:ea typeface="Canva Sans"/>
                <a:cs typeface="Canva Sans"/>
                <a:sym typeface="Canva Sans"/>
              </a:rPr>
              <a:t>Each layer passes information to the next, applying weights</a:t>
            </a:r>
          </a:p>
          <a:p>
            <a:pPr algn="ctr">
              <a:lnSpc>
                <a:spcPts val="4479"/>
              </a:lnSpc>
            </a:pPr>
          </a:p>
        </p:txBody>
      </p:sp>
      <p:sp>
        <p:nvSpPr>
          <p:cNvPr name="TextBox 16" id="16"/>
          <p:cNvSpPr txBox="true"/>
          <p:nvPr/>
        </p:nvSpPr>
        <p:spPr>
          <a:xfrm rot="0">
            <a:off x="642415" y="1387841"/>
            <a:ext cx="7787010" cy="2169070"/>
          </a:xfrm>
          <a:prstGeom prst="rect">
            <a:avLst/>
          </a:prstGeom>
        </p:spPr>
        <p:txBody>
          <a:bodyPr anchor="t" rtlCol="false" tIns="0" lIns="0" bIns="0" rIns="0">
            <a:spAutoFit/>
          </a:bodyPr>
          <a:lstStyle/>
          <a:p>
            <a:pPr algn="l">
              <a:lnSpc>
                <a:spcPts val="8330"/>
              </a:lnSpc>
            </a:pPr>
            <a:r>
              <a:rPr lang="en-US" sz="8330">
                <a:solidFill>
                  <a:srgbClr val="FFFFFF"/>
                </a:solidFill>
                <a:latin typeface="Anton"/>
                <a:ea typeface="Anton"/>
                <a:cs typeface="Anton"/>
                <a:sym typeface="Anton"/>
              </a:rPr>
              <a:t>HOW NEURAL NETWORKS WORK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514350" y="-703009"/>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429425" y="2671246"/>
            <a:ext cx="9813596" cy="5458813"/>
          </a:xfrm>
          <a:custGeom>
            <a:avLst/>
            <a:gdLst/>
            <a:ahLst/>
            <a:cxnLst/>
            <a:rect r="r" b="b" t="t" l="l"/>
            <a:pathLst>
              <a:path h="5458813" w="9813596">
                <a:moveTo>
                  <a:pt x="0" y="0"/>
                </a:moveTo>
                <a:lnTo>
                  <a:pt x="9813595" y="0"/>
                </a:lnTo>
                <a:lnTo>
                  <a:pt x="9813595" y="5458813"/>
                </a:lnTo>
                <a:lnTo>
                  <a:pt x="0" y="5458813"/>
                </a:lnTo>
                <a:lnTo>
                  <a:pt x="0" y="0"/>
                </a:lnTo>
                <a:close/>
              </a:path>
            </a:pathLst>
          </a:custGeom>
          <a:blipFill>
            <a:blip r:embed="rId6"/>
            <a:stretch>
              <a:fillRect l="0" t="0" r="0" b="0"/>
            </a:stretch>
          </a:blipFill>
        </p:spPr>
      </p:sp>
      <p:sp>
        <p:nvSpPr>
          <p:cNvPr name="TextBox 11" id="11"/>
          <p:cNvSpPr txBox="true"/>
          <p:nvPr/>
        </p:nvSpPr>
        <p:spPr>
          <a:xfrm rot="0">
            <a:off x="7547187" y="675795"/>
            <a:ext cx="3428107"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Input Data</a:t>
            </a:r>
          </a:p>
        </p:txBody>
      </p:sp>
      <p:sp>
        <p:nvSpPr>
          <p:cNvPr name="AutoShape 12" id="12"/>
          <p:cNvSpPr/>
          <p:nvPr/>
        </p:nvSpPr>
        <p:spPr>
          <a:xfrm>
            <a:off x="9261240" y="1562890"/>
            <a:ext cx="449771" cy="2600921"/>
          </a:xfrm>
          <a:prstGeom prst="line">
            <a:avLst/>
          </a:prstGeom>
          <a:ln cap="flat" w="76200">
            <a:solidFill>
              <a:srgbClr val="FF0000"/>
            </a:solidFill>
            <a:prstDash val="solid"/>
            <a:headEnd type="none" len="sm" w="sm"/>
            <a:tailEnd type="none" len="sm" w="sm"/>
          </a:ln>
        </p:spPr>
      </p:sp>
      <p:sp>
        <p:nvSpPr>
          <p:cNvPr name="TextBox 13" id="13"/>
          <p:cNvSpPr txBox="true"/>
          <p:nvPr/>
        </p:nvSpPr>
        <p:spPr>
          <a:xfrm rot="0">
            <a:off x="7547187" y="8647914"/>
            <a:ext cx="2572742"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Weights</a:t>
            </a:r>
          </a:p>
        </p:txBody>
      </p:sp>
      <p:sp>
        <p:nvSpPr>
          <p:cNvPr name="AutoShape 14" id="14"/>
          <p:cNvSpPr/>
          <p:nvPr/>
        </p:nvSpPr>
        <p:spPr>
          <a:xfrm flipV="true">
            <a:off x="8833558" y="6688213"/>
            <a:ext cx="1683187" cy="2054951"/>
          </a:xfrm>
          <a:prstGeom prst="line">
            <a:avLst/>
          </a:prstGeom>
          <a:ln cap="flat" w="76200">
            <a:solidFill>
              <a:srgbClr val="FF0000"/>
            </a:solidFill>
            <a:prstDash val="solid"/>
            <a:headEnd type="none" len="sm" w="sm"/>
            <a:tailEnd type="none" len="sm" w="sm"/>
          </a:ln>
        </p:spPr>
      </p:sp>
      <p:sp>
        <p:nvSpPr>
          <p:cNvPr name="TextBox 15" id="15"/>
          <p:cNvSpPr txBox="true"/>
          <p:nvPr/>
        </p:nvSpPr>
        <p:spPr>
          <a:xfrm rot="0">
            <a:off x="12560092" y="537527"/>
            <a:ext cx="336976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New Layer</a:t>
            </a:r>
          </a:p>
        </p:txBody>
      </p:sp>
      <p:sp>
        <p:nvSpPr>
          <p:cNvPr name="AutoShape 16" id="16"/>
          <p:cNvSpPr/>
          <p:nvPr/>
        </p:nvSpPr>
        <p:spPr>
          <a:xfrm flipV="true">
            <a:off x="11452272" y="1424623"/>
            <a:ext cx="2792703" cy="2121851"/>
          </a:xfrm>
          <a:prstGeom prst="line">
            <a:avLst/>
          </a:prstGeom>
          <a:ln cap="flat" w="76200">
            <a:solidFill>
              <a:srgbClr val="FF0000"/>
            </a:solidFill>
            <a:prstDash val="solid"/>
            <a:headEnd type="none" len="sm" w="sm"/>
            <a:tailEnd type="none" len="sm" w="sm"/>
          </a:ln>
        </p:spPr>
      </p:sp>
      <p:sp>
        <p:nvSpPr>
          <p:cNvPr name="TextBox 17" id="17"/>
          <p:cNvSpPr txBox="true"/>
          <p:nvPr/>
        </p:nvSpPr>
        <p:spPr>
          <a:xfrm rot="0">
            <a:off x="359031" y="3759392"/>
            <a:ext cx="8070394" cy="3347720"/>
          </a:xfrm>
          <a:prstGeom prst="rect">
            <a:avLst/>
          </a:prstGeom>
        </p:spPr>
        <p:txBody>
          <a:bodyPr anchor="t" rtlCol="false" tIns="0" lIns="0" bIns="0" rIns="0">
            <a:spAutoFit/>
          </a:bodyPr>
          <a:lstStyle/>
          <a:p>
            <a:pPr algn="ctr">
              <a:lnSpc>
                <a:spcPts val="4479"/>
              </a:lnSpc>
            </a:pPr>
            <a:r>
              <a:rPr lang="en-US" sz="3199">
                <a:solidFill>
                  <a:srgbClr val="FFFFFF"/>
                </a:solidFill>
                <a:latin typeface="Canva Sans"/>
                <a:ea typeface="Canva Sans"/>
                <a:cs typeface="Canva Sans"/>
                <a:sym typeface="Canva Sans"/>
              </a:rPr>
              <a:t>Input data - like an image or sentence</a:t>
            </a:r>
          </a:p>
          <a:p>
            <a:pPr algn="ctr">
              <a:lnSpc>
                <a:spcPts val="4479"/>
              </a:lnSpc>
            </a:pPr>
          </a:p>
          <a:p>
            <a:pPr algn="ctr">
              <a:lnSpc>
                <a:spcPts val="4479"/>
              </a:lnSpc>
            </a:pPr>
            <a:r>
              <a:rPr lang="en-US" sz="3199">
                <a:solidFill>
                  <a:srgbClr val="FFFFFF"/>
                </a:solidFill>
                <a:latin typeface="Canva Sans"/>
                <a:ea typeface="Canva Sans"/>
                <a:cs typeface="Canva Sans"/>
                <a:sym typeface="Canva Sans"/>
              </a:rPr>
              <a:t>Each layer passes information to the next, applying weights</a:t>
            </a:r>
          </a:p>
          <a:p>
            <a:pPr algn="ctr">
              <a:lnSpc>
                <a:spcPts val="4479"/>
              </a:lnSpc>
            </a:pPr>
          </a:p>
          <a:p>
            <a:pPr algn="ctr">
              <a:lnSpc>
                <a:spcPts val="4479"/>
              </a:lnSpc>
            </a:pPr>
            <a:r>
              <a:rPr lang="en-US" sz="3199">
                <a:solidFill>
                  <a:srgbClr val="FFFFFF"/>
                </a:solidFill>
                <a:latin typeface="Canva Sans"/>
                <a:ea typeface="Canva Sans"/>
                <a:cs typeface="Canva Sans"/>
                <a:sym typeface="Canva Sans"/>
              </a:rPr>
              <a:t>Input goes to first hidden layer</a:t>
            </a:r>
          </a:p>
        </p:txBody>
      </p:sp>
      <p:sp>
        <p:nvSpPr>
          <p:cNvPr name="TextBox 18" id="18"/>
          <p:cNvSpPr txBox="true"/>
          <p:nvPr/>
        </p:nvSpPr>
        <p:spPr>
          <a:xfrm rot="0">
            <a:off x="642415" y="1387841"/>
            <a:ext cx="7787010" cy="2169070"/>
          </a:xfrm>
          <a:prstGeom prst="rect">
            <a:avLst/>
          </a:prstGeom>
        </p:spPr>
        <p:txBody>
          <a:bodyPr anchor="t" rtlCol="false" tIns="0" lIns="0" bIns="0" rIns="0">
            <a:spAutoFit/>
          </a:bodyPr>
          <a:lstStyle/>
          <a:p>
            <a:pPr algn="l">
              <a:lnSpc>
                <a:spcPts val="8330"/>
              </a:lnSpc>
            </a:pPr>
            <a:r>
              <a:rPr lang="en-US" sz="8330">
                <a:solidFill>
                  <a:srgbClr val="FFFFFF"/>
                </a:solidFill>
                <a:latin typeface="Anton"/>
                <a:ea typeface="Anton"/>
                <a:cs typeface="Anton"/>
                <a:sym typeface="Anton"/>
              </a:rPr>
              <a:t>HOW NEURAL NETWORKS WORK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17596544" y="8492610"/>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753253" y="2821252"/>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952500" y="-841698"/>
            <a:ext cx="14105066" cy="11970396"/>
            <a:chOff x="0" y="0"/>
            <a:chExt cx="3714915" cy="3152697"/>
          </a:xfrm>
        </p:grpSpPr>
        <p:sp>
          <p:nvSpPr>
            <p:cNvPr name="Freeform 9" id="9"/>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10" id="10"/>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079992" y="5143500"/>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3618158" y="2821252"/>
            <a:ext cx="11051685" cy="5525842"/>
          </a:xfrm>
          <a:custGeom>
            <a:avLst/>
            <a:gdLst/>
            <a:ahLst/>
            <a:cxnLst/>
            <a:rect r="r" b="b" t="t" l="l"/>
            <a:pathLst>
              <a:path h="5525842" w="11051685">
                <a:moveTo>
                  <a:pt x="0" y="0"/>
                </a:moveTo>
                <a:lnTo>
                  <a:pt x="11051684" y="0"/>
                </a:lnTo>
                <a:lnTo>
                  <a:pt x="11051684" y="5525842"/>
                </a:lnTo>
                <a:lnTo>
                  <a:pt x="0" y="5525842"/>
                </a:lnTo>
                <a:lnTo>
                  <a:pt x="0" y="0"/>
                </a:lnTo>
                <a:close/>
              </a:path>
            </a:pathLst>
          </a:custGeom>
          <a:blipFill>
            <a:blip r:embed="rId8"/>
            <a:stretch>
              <a:fillRect l="0" t="0" r="0" b="0"/>
            </a:stretch>
          </a:blipFill>
        </p:spPr>
      </p:sp>
      <p:sp>
        <p:nvSpPr>
          <p:cNvPr name="TextBox 13" id="13"/>
          <p:cNvSpPr txBox="true"/>
          <p:nvPr/>
        </p:nvSpPr>
        <p:spPr>
          <a:xfrm rot="0">
            <a:off x="4069310" y="152400"/>
            <a:ext cx="10149379" cy="1116460"/>
          </a:xfrm>
          <a:prstGeom prst="rect">
            <a:avLst/>
          </a:prstGeom>
        </p:spPr>
        <p:txBody>
          <a:bodyPr anchor="t" rtlCol="false" tIns="0" lIns="0" bIns="0" rIns="0">
            <a:spAutoFit/>
          </a:bodyPr>
          <a:lstStyle/>
          <a:p>
            <a:pPr algn="ctr">
              <a:lnSpc>
                <a:spcPts val="8330"/>
              </a:lnSpc>
            </a:pPr>
            <a:r>
              <a:rPr lang="en-US" sz="8330">
                <a:solidFill>
                  <a:srgbClr val="FFFFFF"/>
                </a:solidFill>
                <a:latin typeface="Gagalin"/>
                <a:ea typeface="Gagalin"/>
                <a:cs typeface="Gagalin"/>
                <a:sym typeface="Gagalin"/>
              </a:rPr>
              <a:t>PERCEPTRON </a:t>
            </a:r>
          </a:p>
        </p:txBody>
      </p:sp>
      <p:sp>
        <p:nvSpPr>
          <p:cNvPr name="TextBox 14" id="14"/>
          <p:cNvSpPr txBox="true"/>
          <p:nvPr/>
        </p:nvSpPr>
        <p:spPr>
          <a:xfrm rot="0">
            <a:off x="3618158" y="1763167"/>
            <a:ext cx="11051685" cy="580390"/>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A perceptron is the simpliest type of artificial neuron</a:t>
            </a:r>
          </a:p>
        </p:txBody>
      </p:sp>
      <p:grpSp>
        <p:nvGrpSpPr>
          <p:cNvPr name="Group 15" id="15"/>
          <p:cNvGrpSpPr/>
          <p:nvPr/>
        </p:nvGrpSpPr>
        <p:grpSpPr>
          <a:xfrm rot="0">
            <a:off x="4069310" y="3025316"/>
            <a:ext cx="1114806" cy="5321778"/>
            <a:chOff x="0" y="0"/>
            <a:chExt cx="293611" cy="1401621"/>
          </a:xfrm>
        </p:grpSpPr>
        <p:sp>
          <p:nvSpPr>
            <p:cNvPr name="Freeform 16" id="16"/>
            <p:cNvSpPr/>
            <p:nvPr/>
          </p:nvSpPr>
          <p:spPr>
            <a:xfrm flipH="false" flipV="false" rot="0">
              <a:off x="0" y="0"/>
              <a:ext cx="293611" cy="1401621"/>
            </a:xfrm>
            <a:custGeom>
              <a:avLst/>
              <a:gdLst/>
              <a:ahLst/>
              <a:cxnLst/>
              <a:rect r="r" b="b" t="t" l="l"/>
              <a:pathLst>
                <a:path h="1401621" w="293611">
                  <a:moveTo>
                    <a:pt x="0" y="0"/>
                  </a:moveTo>
                  <a:lnTo>
                    <a:pt x="293611" y="0"/>
                  </a:lnTo>
                  <a:lnTo>
                    <a:pt x="293611" y="1401621"/>
                  </a:lnTo>
                  <a:lnTo>
                    <a:pt x="0" y="1401621"/>
                  </a:lnTo>
                  <a:close/>
                </a:path>
              </a:pathLst>
            </a:custGeom>
            <a:solidFill>
              <a:srgbClr val="000000">
                <a:alpha val="0"/>
              </a:srgbClr>
            </a:solidFill>
            <a:ln w="95250" cap="sq">
              <a:solidFill>
                <a:srgbClr val="FF0000"/>
              </a:solidFill>
              <a:prstDash val="solid"/>
              <a:miter/>
            </a:ln>
          </p:spPr>
        </p:sp>
        <p:sp>
          <p:nvSpPr>
            <p:cNvPr name="TextBox 17" id="17"/>
            <p:cNvSpPr txBox="true"/>
            <p:nvPr/>
          </p:nvSpPr>
          <p:spPr>
            <a:xfrm>
              <a:off x="0" y="38100"/>
              <a:ext cx="293611" cy="1363521"/>
            </a:xfrm>
            <a:prstGeom prst="rect">
              <a:avLst/>
            </a:prstGeom>
          </p:spPr>
          <p:txBody>
            <a:bodyPr anchor="ctr" rtlCol="false" tIns="50800" lIns="50800" bIns="50800" rIns="50800"/>
            <a:lstStyle/>
            <a:p>
              <a:pPr algn="ctr">
                <a:lnSpc>
                  <a:spcPts val="2163"/>
                </a:lnSpc>
              </a:pPr>
            </a:p>
          </p:txBody>
        </p:sp>
      </p:grpSp>
      <p:sp>
        <p:nvSpPr>
          <p:cNvPr name="TextBox 18" id="18"/>
          <p:cNvSpPr txBox="true"/>
          <p:nvPr/>
        </p:nvSpPr>
        <p:spPr>
          <a:xfrm rot="0">
            <a:off x="678561" y="3622895"/>
            <a:ext cx="1856059" cy="580390"/>
          </a:xfrm>
          <a:prstGeom prst="rect">
            <a:avLst/>
          </a:prstGeom>
        </p:spPr>
        <p:txBody>
          <a:bodyPr anchor="t" rtlCol="false" tIns="0" lIns="0" bIns="0" rIns="0">
            <a:spAutoFit/>
          </a:bodyPr>
          <a:lstStyle/>
          <a:p>
            <a:pPr algn="ctr">
              <a:lnSpc>
                <a:spcPts val="4759"/>
              </a:lnSpc>
            </a:pPr>
            <a:r>
              <a:rPr lang="en-US" sz="3399" b="true">
                <a:solidFill>
                  <a:srgbClr val="FFFFFF"/>
                </a:solidFill>
                <a:latin typeface="Canva Sans Bold"/>
                <a:ea typeface="Canva Sans Bold"/>
                <a:cs typeface="Canva Sans Bold"/>
                <a:sym typeface="Canva Sans Bold"/>
              </a:rPr>
              <a:t>Binary</a:t>
            </a:r>
          </a:p>
        </p:txBody>
      </p:sp>
      <p:grpSp>
        <p:nvGrpSpPr>
          <p:cNvPr name="Group 19" id="19"/>
          <p:cNvGrpSpPr/>
          <p:nvPr/>
        </p:nvGrpSpPr>
        <p:grpSpPr>
          <a:xfrm rot="-5400000">
            <a:off x="12839851" y="4517428"/>
            <a:ext cx="1114806" cy="2545177"/>
            <a:chOff x="0" y="0"/>
            <a:chExt cx="293611" cy="670335"/>
          </a:xfrm>
        </p:grpSpPr>
        <p:sp>
          <p:nvSpPr>
            <p:cNvPr name="Freeform 20" id="20"/>
            <p:cNvSpPr/>
            <p:nvPr/>
          </p:nvSpPr>
          <p:spPr>
            <a:xfrm flipH="false" flipV="false" rot="0">
              <a:off x="0" y="0"/>
              <a:ext cx="293611" cy="670335"/>
            </a:xfrm>
            <a:custGeom>
              <a:avLst/>
              <a:gdLst/>
              <a:ahLst/>
              <a:cxnLst/>
              <a:rect r="r" b="b" t="t" l="l"/>
              <a:pathLst>
                <a:path h="670335" w="293611">
                  <a:moveTo>
                    <a:pt x="0" y="0"/>
                  </a:moveTo>
                  <a:lnTo>
                    <a:pt x="293611" y="0"/>
                  </a:lnTo>
                  <a:lnTo>
                    <a:pt x="293611" y="670335"/>
                  </a:lnTo>
                  <a:lnTo>
                    <a:pt x="0" y="670335"/>
                  </a:lnTo>
                  <a:close/>
                </a:path>
              </a:pathLst>
            </a:custGeom>
            <a:solidFill>
              <a:srgbClr val="000000">
                <a:alpha val="0"/>
              </a:srgbClr>
            </a:solidFill>
            <a:ln w="95250" cap="sq">
              <a:solidFill>
                <a:srgbClr val="FF0000"/>
              </a:solidFill>
              <a:prstDash val="solid"/>
              <a:miter/>
            </a:ln>
          </p:spPr>
        </p:sp>
        <p:sp>
          <p:nvSpPr>
            <p:cNvPr name="TextBox 21" id="21"/>
            <p:cNvSpPr txBox="true"/>
            <p:nvPr/>
          </p:nvSpPr>
          <p:spPr>
            <a:xfrm>
              <a:off x="0" y="38100"/>
              <a:ext cx="293611" cy="632235"/>
            </a:xfrm>
            <a:prstGeom prst="rect">
              <a:avLst/>
            </a:prstGeom>
          </p:spPr>
          <p:txBody>
            <a:bodyPr anchor="ctr" rtlCol="false" tIns="50800" lIns="50800" bIns="50800" rIns="50800"/>
            <a:lstStyle/>
            <a:p>
              <a:pPr algn="ctr">
                <a:lnSpc>
                  <a:spcPts val="2163"/>
                </a:lnSpc>
              </a:pPr>
            </a:p>
          </p:txBody>
        </p:sp>
      </p:grpSp>
      <p:sp>
        <p:nvSpPr>
          <p:cNvPr name="TextBox 22" id="22"/>
          <p:cNvSpPr txBox="true"/>
          <p:nvPr/>
        </p:nvSpPr>
        <p:spPr>
          <a:xfrm rot="0">
            <a:off x="15117372" y="3879752"/>
            <a:ext cx="1856059" cy="580390"/>
          </a:xfrm>
          <a:prstGeom prst="rect">
            <a:avLst/>
          </a:prstGeom>
        </p:spPr>
        <p:txBody>
          <a:bodyPr anchor="t" rtlCol="false" tIns="0" lIns="0" bIns="0" rIns="0">
            <a:spAutoFit/>
          </a:bodyPr>
          <a:lstStyle/>
          <a:p>
            <a:pPr algn="ctr">
              <a:lnSpc>
                <a:spcPts val="4759"/>
              </a:lnSpc>
            </a:pPr>
            <a:r>
              <a:rPr lang="en-US" sz="3399" b="true">
                <a:solidFill>
                  <a:srgbClr val="FFFFFF"/>
                </a:solidFill>
                <a:latin typeface="Canva Sans Bold"/>
                <a:ea typeface="Canva Sans Bold"/>
                <a:cs typeface="Canva Sans Bold"/>
                <a:sym typeface="Canva Sans Bold"/>
              </a:rPr>
              <a:t>Binary</a:t>
            </a:r>
          </a:p>
        </p:txBody>
      </p:sp>
      <p:sp>
        <p:nvSpPr>
          <p:cNvPr name="AutoShape 23" id="23"/>
          <p:cNvSpPr/>
          <p:nvPr/>
        </p:nvSpPr>
        <p:spPr>
          <a:xfrm>
            <a:off x="2534620" y="3946427"/>
            <a:ext cx="1534690" cy="1739778"/>
          </a:xfrm>
          <a:prstGeom prst="line">
            <a:avLst/>
          </a:prstGeom>
          <a:ln cap="flat" w="76200">
            <a:solidFill>
              <a:srgbClr val="FF0000"/>
            </a:solidFill>
            <a:prstDash val="solid"/>
            <a:headEnd type="none" len="sm" w="sm"/>
            <a:tailEnd type="none" len="sm" w="sm"/>
          </a:ln>
        </p:spPr>
      </p:sp>
      <p:sp>
        <p:nvSpPr>
          <p:cNvPr name="AutoShape 24" id="24"/>
          <p:cNvSpPr/>
          <p:nvPr/>
        </p:nvSpPr>
        <p:spPr>
          <a:xfrm flipH="true">
            <a:off x="13397254" y="4460142"/>
            <a:ext cx="2648147" cy="772472"/>
          </a:xfrm>
          <a:prstGeom prst="line">
            <a:avLst/>
          </a:prstGeom>
          <a:ln cap="flat" w="76200">
            <a:solidFill>
              <a:srgbClr val="FF0000"/>
            </a:solidFill>
            <a:prstDash val="solid"/>
            <a:headEnd type="none" len="sm" w="sm"/>
            <a:tailEnd type="none" len="sm" w="sm"/>
          </a:ln>
        </p:spPr>
      </p:sp>
      <p:sp>
        <p:nvSpPr>
          <p:cNvPr name="TextBox 25" id="25"/>
          <p:cNvSpPr txBox="true"/>
          <p:nvPr/>
        </p:nvSpPr>
        <p:spPr>
          <a:xfrm rot="0">
            <a:off x="6717641" y="3401093"/>
            <a:ext cx="1856059"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Weights</a:t>
            </a:r>
          </a:p>
        </p:txBody>
      </p:sp>
      <p:sp>
        <p:nvSpPr>
          <p:cNvPr name="AutoShape 26" id="26"/>
          <p:cNvSpPr/>
          <p:nvPr/>
        </p:nvSpPr>
        <p:spPr>
          <a:xfrm flipH="true">
            <a:off x="6717641" y="4023185"/>
            <a:ext cx="960382" cy="2883461"/>
          </a:xfrm>
          <a:prstGeom prst="line">
            <a:avLst/>
          </a:prstGeom>
          <a:ln cap="flat" w="76200">
            <a:solidFill>
              <a:srgbClr val="FF0000"/>
            </a:solidFill>
            <a:prstDash val="solid"/>
            <a:headEnd type="none" len="sm" w="sm"/>
            <a:tailEnd type="none" len="sm" w="sm"/>
          </a:ln>
        </p:spPr>
      </p:sp>
      <p:sp>
        <p:nvSpPr>
          <p:cNvPr name="AutoShape 27" id="27"/>
          <p:cNvSpPr/>
          <p:nvPr/>
        </p:nvSpPr>
        <p:spPr>
          <a:xfrm flipH="true">
            <a:off x="6100033" y="3981483"/>
            <a:ext cx="1545638" cy="1857122"/>
          </a:xfrm>
          <a:prstGeom prst="line">
            <a:avLst/>
          </a:prstGeom>
          <a:ln cap="flat" w="76200">
            <a:solidFill>
              <a:srgbClr val="FF0000"/>
            </a:solidFill>
            <a:prstDash val="solid"/>
            <a:headEnd type="none" len="sm" w="sm"/>
            <a:tailEnd type="none" len="sm" w="sm"/>
          </a:ln>
        </p:spPr>
      </p:sp>
      <p:sp>
        <p:nvSpPr>
          <p:cNvPr name="AutoShape 28" id="28"/>
          <p:cNvSpPr/>
          <p:nvPr/>
        </p:nvSpPr>
        <p:spPr>
          <a:xfrm flipH="true">
            <a:off x="6442525" y="3981483"/>
            <a:ext cx="1051370" cy="478659"/>
          </a:xfrm>
          <a:prstGeom prst="line">
            <a:avLst/>
          </a:prstGeom>
          <a:ln cap="flat" w="76200">
            <a:solidFill>
              <a:srgbClr val="FF0000"/>
            </a:solidFill>
            <a:prstDash val="solid"/>
            <a:headEnd type="none" len="sm" w="sm"/>
            <a:tailEnd type="none" len="sm" w="sm"/>
          </a:ln>
        </p:spPr>
      </p:sp>
      <p:sp>
        <p:nvSpPr>
          <p:cNvPr name="TextBox 29" id="29"/>
          <p:cNvSpPr txBox="true"/>
          <p:nvPr/>
        </p:nvSpPr>
        <p:spPr>
          <a:xfrm rot="0">
            <a:off x="7320293" y="8934767"/>
            <a:ext cx="3647415" cy="580390"/>
          </a:xfrm>
          <a:prstGeom prst="rect">
            <a:avLst/>
          </a:prstGeom>
        </p:spPr>
        <p:txBody>
          <a:bodyPr anchor="t" rtlCol="false" tIns="0" lIns="0" bIns="0" rIns="0">
            <a:spAutoFit/>
          </a:bodyPr>
          <a:lstStyle/>
          <a:p>
            <a:pPr algn="ctr">
              <a:lnSpc>
                <a:spcPts val="4759"/>
              </a:lnSpc>
            </a:pPr>
            <a:r>
              <a:rPr lang="en-US" sz="3399" b="true">
                <a:solidFill>
                  <a:srgbClr val="FFFFFF"/>
                </a:solidFill>
                <a:latin typeface="Canva Sans Bold"/>
                <a:ea typeface="Canva Sans Bold"/>
                <a:cs typeface="Canva Sans Bold"/>
                <a:sym typeface="Canva Sans Bold"/>
              </a:rPr>
              <a:t>Threshold</a:t>
            </a:r>
          </a:p>
        </p:txBody>
      </p:sp>
      <p:sp>
        <p:nvSpPr>
          <p:cNvPr name="AutoShape 30" id="30"/>
          <p:cNvSpPr/>
          <p:nvPr/>
        </p:nvSpPr>
        <p:spPr>
          <a:xfrm>
            <a:off x="9144000" y="5838605"/>
            <a:ext cx="0" cy="3162837"/>
          </a:xfrm>
          <a:prstGeom prst="line">
            <a:avLst/>
          </a:prstGeom>
          <a:ln cap="flat" w="76200">
            <a:solidFill>
              <a:srgbClr val="FF000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952500" y="-841698"/>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753253" y="2821252"/>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079992" y="5143500"/>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902213" y="3612531"/>
            <a:ext cx="4500706" cy="3555485"/>
          </a:xfrm>
          <a:custGeom>
            <a:avLst/>
            <a:gdLst/>
            <a:ahLst/>
            <a:cxnLst/>
            <a:rect r="r" b="b" t="t" l="l"/>
            <a:pathLst>
              <a:path h="3555485" w="4500706">
                <a:moveTo>
                  <a:pt x="0" y="0"/>
                </a:moveTo>
                <a:lnTo>
                  <a:pt x="4500706" y="0"/>
                </a:lnTo>
                <a:lnTo>
                  <a:pt x="4500706" y="3555485"/>
                </a:lnTo>
                <a:lnTo>
                  <a:pt x="0" y="35554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4069310" y="635233"/>
            <a:ext cx="10149379" cy="2173735"/>
          </a:xfrm>
          <a:prstGeom prst="rect">
            <a:avLst/>
          </a:prstGeom>
        </p:spPr>
        <p:txBody>
          <a:bodyPr anchor="t" rtlCol="false" tIns="0" lIns="0" bIns="0" rIns="0">
            <a:spAutoFit/>
          </a:bodyPr>
          <a:lstStyle/>
          <a:p>
            <a:pPr algn="ctr">
              <a:lnSpc>
                <a:spcPts val="8330"/>
              </a:lnSpc>
            </a:pPr>
            <a:r>
              <a:rPr lang="en-US" sz="8330">
                <a:solidFill>
                  <a:srgbClr val="FFFFFF"/>
                </a:solidFill>
                <a:latin typeface="Gagalin"/>
                <a:ea typeface="Gagalin"/>
                <a:cs typeface="Gagalin"/>
                <a:sym typeface="Gagalin"/>
              </a:rPr>
              <a:t>PERCEPTRONS EXPLAINED</a:t>
            </a:r>
          </a:p>
        </p:txBody>
      </p:sp>
      <p:sp>
        <p:nvSpPr>
          <p:cNvPr name="TextBox 14" id="14"/>
          <p:cNvSpPr txBox="true"/>
          <p:nvPr/>
        </p:nvSpPr>
        <p:spPr>
          <a:xfrm rot="0">
            <a:off x="1898577" y="2724124"/>
            <a:ext cx="8402912" cy="3437255"/>
          </a:xfrm>
          <a:prstGeom prst="rect">
            <a:avLst/>
          </a:prstGeom>
        </p:spPr>
        <p:txBody>
          <a:bodyPr anchor="t" rtlCol="false" tIns="0" lIns="0" bIns="0" rIns="0">
            <a:spAutoFit/>
          </a:bodyPr>
          <a:lstStyle/>
          <a:p>
            <a:pPr algn="ctr">
              <a:lnSpc>
                <a:spcPts val="7279"/>
              </a:lnSpc>
            </a:pPr>
          </a:p>
          <a:p>
            <a:pPr algn="ctr">
              <a:lnSpc>
                <a:spcPts val="3359"/>
              </a:lnSpc>
            </a:pPr>
            <a:r>
              <a:rPr lang="en-US" b="true" sz="2400">
                <a:solidFill>
                  <a:srgbClr val="FFFFFF"/>
                </a:solidFill>
                <a:latin typeface="Canva Sans Bold"/>
                <a:ea typeface="Canva Sans Bold"/>
                <a:cs typeface="Canva Sans Bold"/>
                <a:sym typeface="Canva Sans Bold"/>
              </a:rPr>
              <a:t>John wants to go to a cheese festival, and there are 3 factors that would impact his decision. </a:t>
            </a:r>
          </a:p>
          <a:p>
            <a:pPr algn="ctr">
              <a:lnSpc>
                <a:spcPts val="3359"/>
              </a:lnSpc>
            </a:pPr>
          </a:p>
          <a:p>
            <a:pPr algn="just" marL="518160" indent="-259080" lvl="1">
              <a:lnSpc>
                <a:spcPts val="3359"/>
              </a:lnSpc>
              <a:buAutoNum type="arabicPeriod" startAt="1"/>
            </a:pPr>
            <a:r>
              <a:rPr lang="en-US" b="true" sz="2400">
                <a:solidFill>
                  <a:srgbClr val="FFFFFF"/>
                </a:solidFill>
                <a:latin typeface="Canva Sans Bold"/>
                <a:ea typeface="Canva Sans Bold"/>
                <a:cs typeface="Canva Sans Bold"/>
                <a:sym typeface="Canva Sans Bold"/>
              </a:rPr>
              <a:t>Public transport because </a:t>
            </a:r>
            <a:r>
              <a:rPr lang="en-US" b="true" sz="2400">
                <a:solidFill>
                  <a:srgbClr val="FFFFFF"/>
                </a:solidFill>
                <a:latin typeface="Canva Sans Bold"/>
                <a:ea typeface="Canva Sans Bold"/>
                <a:cs typeface="Canva Sans Bold"/>
                <a:sym typeface="Canva Sans Bold"/>
              </a:rPr>
              <a:t>John doesn’t have a car</a:t>
            </a:r>
          </a:p>
          <a:p>
            <a:pPr algn="just" marL="518160" indent="-259080" lvl="1">
              <a:lnSpc>
                <a:spcPts val="3359"/>
              </a:lnSpc>
              <a:buAutoNum type="arabicPeriod" startAt="1"/>
            </a:pPr>
            <a:r>
              <a:rPr lang="en-US" b="true" sz="2400">
                <a:solidFill>
                  <a:srgbClr val="FFFFFF"/>
                </a:solidFill>
                <a:latin typeface="Canva Sans Bold"/>
                <a:ea typeface="Canva Sans Bold"/>
                <a:cs typeface="Canva Sans Bold"/>
                <a:sym typeface="Canva Sans Bold"/>
              </a:rPr>
              <a:t>T</a:t>
            </a:r>
            <a:r>
              <a:rPr lang="en-US" b="true" sz="2400">
                <a:solidFill>
                  <a:srgbClr val="FFFFFF"/>
                </a:solidFill>
                <a:latin typeface="Canva Sans Bold"/>
                <a:ea typeface="Canva Sans Bold"/>
                <a:cs typeface="Canva Sans Bold"/>
                <a:sym typeface="Canva Sans Bold"/>
              </a:rPr>
              <a:t>he Weather</a:t>
            </a:r>
          </a:p>
          <a:p>
            <a:pPr algn="just" marL="518160" indent="-259080" lvl="1">
              <a:lnSpc>
                <a:spcPts val="3359"/>
              </a:lnSpc>
              <a:buAutoNum type="arabicPeriod" startAt="1"/>
            </a:pPr>
            <a:r>
              <a:rPr lang="en-US" b="true" sz="2400">
                <a:solidFill>
                  <a:srgbClr val="FFFFFF"/>
                </a:solidFill>
                <a:latin typeface="Canva Sans Bold"/>
                <a:ea typeface="Canva Sans Bold"/>
                <a:cs typeface="Canva Sans Bold"/>
                <a:sym typeface="Canva Sans Bold"/>
              </a:rPr>
              <a:t> Whether John has a friend to go with him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952500" y="-841698"/>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753253" y="2821252"/>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079992" y="5143500"/>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069310" y="635233"/>
            <a:ext cx="10149379" cy="1116460"/>
          </a:xfrm>
          <a:prstGeom prst="rect">
            <a:avLst/>
          </a:prstGeom>
        </p:spPr>
        <p:txBody>
          <a:bodyPr anchor="t" rtlCol="false" tIns="0" lIns="0" bIns="0" rIns="0">
            <a:spAutoFit/>
          </a:bodyPr>
          <a:lstStyle/>
          <a:p>
            <a:pPr algn="ctr">
              <a:lnSpc>
                <a:spcPts val="8330"/>
              </a:lnSpc>
            </a:pPr>
            <a:r>
              <a:rPr lang="en-US" sz="8330">
                <a:solidFill>
                  <a:srgbClr val="FFFFFF"/>
                </a:solidFill>
                <a:latin typeface="Gagalin"/>
                <a:ea typeface="Gagalin"/>
                <a:cs typeface="Gagalin"/>
                <a:sym typeface="Gagalin"/>
              </a:rPr>
              <a:t>CHEESE FESTIVAL</a:t>
            </a:r>
          </a:p>
        </p:txBody>
      </p:sp>
      <p:sp>
        <p:nvSpPr>
          <p:cNvPr name="TextBox 13" id="13"/>
          <p:cNvSpPr txBox="true"/>
          <p:nvPr/>
        </p:nvSpPr>
        <p:spPr>
          <a:xfrm rot="0">
            <a:off x="0" y="2726002"/>
            <a:ext cx="11351801" cy="3522980"/>
          </a:xfrm>
          <a:prstGeom prst="rect">
            <a:avLst/>
          </a:prstGeom>
        </p:spPr>
        <p:txBody>
          <a:bodyPr anchor="t" rtlCol="false" tIns="0" lIns="0" bIns="0" rIns="0">
            <a:spAutoFit/>
          </a:bodyPr>
          <a:lstStyle/>
          <a:p>
            <a:pPr algn="ctr">
              <a:lnSpc>
                <a:spcPts val="7279"/>
              </a:lnSpc>
            </a:pPr>
          </a:p>
          <a:p>
            <a:pPr algn="ctr">
              <a:lnSpc>
                <a:spcPts val="7279"/>
              </a:lnSpc>
            </a:pPr>
          </a:p>
          <a:p>
            <a:pPr algn="ctr">
              <a:lnSpc>
                <a:spcPts val="3359"/>
              </a:lnSpc>
            </a:pPr>
            <a:r>
              <a:rPr lang="en-US" b="true" sz="2400">
                <a:solidFill>
                  <a:srgbClr val="FFFFFF"/>
                </a:solidFill>
                <a:latin typeface="Canva Sans Bold"/>
                <a:ea typeface="Canva Sans Bold"/>
                <a:cs typeface="Canva Sans Bold"/>
                <a:sym typeface="Canva Sans Bold"/>
              </a:rPr>
              <a:t>The Idea is that each of these factors contributes to the decision john makes. </a:t>
            </a:r>
          </a:p>
          <a:p>
            <a:pPr algn="ctr">
              <a:lnSpc>
                <a:spcPts val="3359"/>
              </a:lnSpc>
            </a:pPr>
          </a:p>
          <a:p>
            <a:pPr algn="ctr">
              <a:lnSpc>
                <a:spcPts val="3359"/>
              </a:lnSpc>
            </a:pPr>
            <a:r>
              <a:rPr lang="en-US" b="true" sz="2400">
                <a:solidFill>
                  <a:srgbClr val="FFFFFF"/>
                </a:solidFill>
                <a:latin typeface="Canva Sans Bold"/>
                <a:ea typeface="Canva Sans Bold"/>
                <a:cs typeface="Canva Sans Bold"/>
                <a:sym typeface="Canva Sans Bold"/>
              </a:rPr>
              <a:t>BUT they have different weights</a:t>
            </a:r>
          </a:p>
        </p:txBody>
      </p:sp>
      <p:sp>
        <p:nvSpPr>
          <p:cNvPr name="Freeform 14" id="14"/>
          <p:cNvSpPr/>
          <p:nvPr/>
        </p:nvSpPr>
        <p:spPr>
          <a:xfrm flipH="false" flipV="false" rot="0">
            <a:off x="10902213" y="3612531"/>
            <a:ext cx="4500706" cy="3555485"/>
          </a:xfrm>
          <a:custGeom>
            <a:avLst/>
            <a:gdLst/>
            <a:ahLst/>
            <a:cxnLst/>
            <a:rect r="r" b="b" t="t" l="l"/>
            <a:pathLst>
              <a:path h="3555485" w="4500706">
                <a:moveTo>
                  <a:pt x="0" y="0"/>
                </a:moveTo>
                <a:lnTo>
                  <a:pt x="4500706" y="0"/>
                </a:lnTo>
                <a:lnTo>
                  <a:pt x="4500706" y="3555485"/>
                </a:lnTo>
                <a:lnTo>
                  <a:pt x="0" y="35554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942975" y="-841698"/>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753253" y="2821252"/>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079992" y="5143500"/>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069310" y="635233"/>
            <a:ext cx="10149379" cy="1116460"/>
          </a:xfrm>
          <a:prstGeom prst="rect">
            <a:avLst/>
          </a:prstGeom>
        </p:spPr>
        <p:txBody>
          <a:bodyPr anchor="t" rtlCol="false" tIns="0" lIns="0" bIns="0" rIns="0">
            <a:spAutoFit/>
          </a:bodyPr>
          <a:lstStyle/>
          <a:p>
            <a:pPr algn="ctr">
              <a:lnSpc>
                <a:spcPts val="8330"/>
              </a:lnSpc>
            </a:pPr>
            <a:r>
              <a:rPr lang="en-US" sz="8330">
                <a:solidFill>
                  <a:srgbClr val="FFFFFF"/>
                </a:solidFill>
                <a:latin typeface="Gagalin"/>
                <a:ea typeface="Gagalin"/>
                <a:cs typeface="Gagalin"/>
                <a:sym typeface="Gagalin"/>
              </a:rPr>
              <a:t>CHEESE FESTIVAL</a:t>
            </a:r>
          </a:p>
        </p:txBody>
      </p:sp>
      <p:sp>
        <p:nvSpPr>
          <p:cNvPr name="TextBox 13" id="13"/>
          <p:cNvSpPr txBox="true"/>
          <p:nvPr/>
        </p:nvSpPr>
        <p:spPr>
          <a:xfrm rot="0">
            <a:off x="322657" y="2330654"/>
            <a:ext cx="8138621" cy="4780280"/>
          </a:xfrm>
          <a:prstGeom prst="rect">
            <a:avLst/>
          </a:prstGeom>
        </p:spPr>
        <p:txBody>
          <a:bodyPr anchor="t" rtlCol="false" tIns="0" lIns="0" bIns="0" rIns="0">
            <a:spAutoFit/>
          </a:bodyPr>
          <a:lstStyle/>
          <a:p>
            <a:pPr algn="ctr">
              <a:lnSpc>
                <a:spcPts val="7279"/>
              </a:lnSpc>
            </a:pPr>
          </a:p>
          <a:p>
            <a:pPr algn="ctr">
              <a:lnSpc>
                <a:spcPts val="7279"/>
              </a:lnSpc>
            </a:pPr>
          </a:p>
          <a:p>
            <a:pPr algn="ctr">
              <a:lnSpc>
                <a:spcPts val="3359"/>
              </a:lnSpc>
            </a:pPr>
            <a:r>
              <a:rPr lang="en-US" b="true" sz="2400">
                <a:solidFill>
                  <a:srgbClr val="FFFFFF"/>
                </a:solidFill>
                <a:latin typeface="Canva Sans Bold"/>
                <a:ea typeface="Canva Sans Bold"/>
                <a:cs typeface="Canva Sans Bold"/>
                <a:sym typeface="Canva Sans Bold"/>
              </a:rPr>
              <a:t>The Idea is that each of these factors contributes to the decision john makes. </a:t>
            </a:r>
          </a:p>
          <a:p>
            <a:pPr algn="ctr">
              <a:lnSpc>
                <a:spcPts val="3359"/>
              </a:lnSpc>
            </a:pPr>
          </a:p>
          <a:p>
            <a:pPr algn="ctr">
              <a:lnSpc>
                <a:spcPts val="3359"/>
              </a:lnSpc>
            </a:pPr>
            <a:r>
              <a:rPr lang="en-US" b="true" sz="2400">
                <a:solidFill>
                  <a:srgbClr val="FFFFFF"/>
                </a:solidFill>
                <a:latin typeface="Canva Sans Bold"/>
                <a:ea typeface="Canva Sans Bold"/>
                <a:cs typeface="Canva Sans Bold"/>
                <a:sym typeface="Canva Sans Bold"/>
              </a:rPr>
              <a:t>BUT they have different wieghts</a:t>
            </a:r>
          </a:p>
          <a:p>
            <a:pPr algn="ctr">
              <a:lnSpc>
                <a:spcPts val="3359"/>
              </a:lnSpc>
            </a:pPr>
          </a:p>
          <a:p>
            <a:pPr algn="ctr">
              <a:lnSpc>
                <a:spcPts val="3359"/>
              </a:lnSpc>
            </a:pPr>
          </a:p>
          <a:p>
            <a:pPr algn="ctr">
              <a:lnSpc>
                <a:spcPts val="3359"/>
              </a:lnSpc>
            </a:pPr>
          </a:p>
        </p:txBody>
      </p:sp>
      <p:sp>
        <p:nvSpPr>
          <p:cNvPr name="Freeform 14" id="14"/>
          <p:cNvSpPr/>
          <p:nvPr/>
        </p:nvSpPr>
        <p:spPr>
          <a:xfrm flipH="false" flipV="false" rot="0">
            <a:off x="10152957" y="5990997"/>
            <a:ext cx="6534605" cy="3267303"/>
          </a:xfrm>
          <a:custGeom>
            <a:avLst/>
            <a:gdLst/>
            <a:ahLst/>
            <a:cxnLst/>
            <a:rect r="r" b="b" t="t" l="l"/>
            <a:pathLst>
              <a:path h="3267303" w="6534605">
                <a:moveTo>
                  <a:pt x="0" y="0"/>
                </a:moveTo>
                <a:lnTo>
                  <a:pt x="6534605" y="0"/>
                </a:lnTo>
                <a:lnTo>
                  <a:pt x="6534605" y="3267303"/>
                </a:lnTo>
                <a:lnTo>
                  <a:pt x="0" y="3267303"/>
                </a:lnTo>
                <a:lnTo>
                  <a:pt x="0" y="0"/>
                </a:lnTo>
                <a:close/>
              </a:path>
            </a:pathLst>
          </a:custGeom>
          <a:blipFill>
            <a:blip r:embed="rId8"/>
            <a:stretch>
              <a:fillRect l="0" t="0" r="0" b="0"/>
            </a:stretch>
          </a:blipFill>
        </p:spPr>
      </p:sp>
      <p:sp>
        <p:nvSpPr>
          <p:cNvPr name="TextBox 15" id="15"/>
          <p:cNvSpPr txBox="true"/>
          <p:nvPr/>
        </p:nvSpPr>
        <p:spPr>
          <a:xfrm rot="0">
            <a:off x="4053426" y="6195505"/>
            <a:ext cx="9366834" cy="3396990"/>
          </a:xfrm>
          <a:prstGeom prst="rect">
            <a:avLst/>
          </a:prstGeom>
        </p:spPr>
        <p:txBody>
          <a:bodyPr anchor="t" rtlCol="false" tIns="0" lIns="0" bIns="0" rIns="0">
            <a:spAutoFit/>
          </a:bodyPr>
          <a:lstStyle/>
          <a:p>
            <a:pPr algn="ctr">
              <a:lnSpc>
                <a:spcPts val="3383"/>
              </a:lnSpc>
            </a:pPr>
            <a:r>
              <a:rPr lang="en-US" sz="2416">
                <a:solidFill>
                  <a:srgbClr val="FFFFFF"/>
                </a:solidFill>
                <a:latin typeface="Canva Sans"/>
                <a:ea typeface="Canva Sans"/>
                <a:cs typeface="Canva Sans"/>
                <a:sym typeface="Canva Sans"/>
              </a:rPr>
              <a:t>We</a:t>
            </a:r>
            <a:r>
              <a:rPr lang="en-US" sz="2416">
                <a:solidFill>
                  <a:srgbClr val="FFFFFF"/>
                </a:solidFill>
                <a:latin typeface="Canva Sans"/>
                <a:ea typeface="Canva Sans"/>
                <a:cs typeface="Canva Sans"/>
                <a:sym typeface="Canva Sans"/>
              </a:rPr>
              <a:t>ather</a:t>
            </a:r>
          </a:p>
          <a:p>
            <a:pPr algn="ctr">
              <a:lnSpc>
                <a:spcPts val="3383"/>
              </a:lnSpc>
            </a:pPr>
          </a:p>
          <a:p>
            <a:pPr algn="ctr">
              <a:lnSpc>
                <a:spcPts val="3383"/>
              </a:lnSpc>
            </a:pPr>
          </a:p>
          <a:p>
            <a:pPr algn="ctr">
              <a:lnSpc>
                <a:spcPts val="3383"/>
              </a:lnSpc>
            </a:pPr>
            <a:r>
              <a:rPr lang="en-US" sz="2416">
                <a:solidFill>
                  <a:srgbClr val="FFFFFF"/>
                </a:solidFill>
                <a:latin typeface="Canva Sans"/>
                <a:ea typeface="Canva Sans"/>
                <a:cs typeface="Canva Sans"/>
                <a:sym typeface="Canva Sans"/>
              </a:rPr>
              <a:t>Company</a:t>
            </a:r>
          </a:p>
          <a:p>
            <a:pPr algn="ctr">
              <a:lnSpc>
                <a:spcPts val="3383"/>
              </a:lnSpc>
            </a:pPr>
          </a:p>
          <a:p>
            <a:pPr algn="ctr">
              <a:lnSpc>
                <a:spcPts val="3383"/>
              </a:lnSpc>
            </a:pPr>
          </a:p>
          <a:p>
            <a:pPr algn="ctr">
              <a:lnSpc>
                <a:spcPts val="3383"/>
              </a:lnSpc>
            </a:pPr>
            <a:r>
              <a:rPr lang="en-US" sz="2416">
                <a:solidFill>
                  <a:srgbClr val="FFFFFF"/>
                </a:solidFill>
                <a:latin typeface="Canva Sans"/>
                <a:ea typeface="Canva Sans"/>
                <a:cs typeface="Canva Sans"/>
                <a:sym typeface="Canva Sans"/>
              </a:rPr>
              <a:t>Transportation</a:t>
            </a:r>
          </a:p>
          <a:p>
            <a:pPr algn="ctr">
              <a:lnSpc>
                <a:spcPts val="3383"/>
              </a:lnSpc>
            </a:pPr>
          </a:p>
        </p:txBody>
      </p:sp>
      <p:sp>
        <p:nvSpPr>
          <p:cNvPr name="TextBox 16" id="16"/>
          <p:cNvSpPr txBox="true"/>
          <p:nvPr/>
        </p:nvSpPr>
        <p:spPr>
          <a:xfrm rot="0">
            <a:off x="11737797" y="6369858"/>
            <a:ext cx="494407"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x6</a:t>
            </a:r>
          </a:p>
        </p:txBody>
      </p:sp>
      <p:sp>
        <p:nvSpPr>
          <p:cNvPr name="TextBox 17" id="17"/>
          <p:cNvSpPr txBox="true"/>
          <p:nvPr/>
        </p:nvSpPr>
        <p:spPr>
          <a:xfrm rot="0">
            <a:off x="11279203" y="7044259"/>
            <a:ext cx="453727"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x2</a:t>
            </a:r>
          </a:p>
        </p:txBody>
      </p:sp>
      <p:sp>
        <p:nvSpPr>
          <p:cNvPr name="TextBox 18" id="18"/>
          <p:cNvSpPr txBox="true"/>
          <p:nvPr/>
        </p:nvSpPr>
        <p:spPr>
          <a:xfrm rot="0">
            <a:off x="11392416" y="7912219"/>
            <a:ext cx="453727"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x2</a:t>
            </a:r>
          </a:p>
        </p:txBody>
      </p:sp>
      <p:grpSp>
        <p:nvGrpSpPr>
          <p:cNvPr name="Group 19" id="19"/>
          <p:cNvGrpSpPr/>
          <p:nvPr/>
        </p:nvGrpSpPr>
        <p:grpSpPr>
          <a:xfrm rot="0">
            <a:off x="10340924" y="5990997"/>
            <a:ext cx="781428" cy="3267303"/>
            <a:chOff x="0" y="0"/>
            <a:chExt cx="205808" cy="860524"/>
          </a:xfrm>
        </p:grpSpPr>
        <p:sp>
          <p:nvSpPr>
            <p:cNvPr name="Freeform 20" id="20"/>
            <p:cNvSpPr/>
            <p:nvPr/>
          </p:nvSpPr>
          <p:spPr>
            <a:xfrm flipH="false" flipV="false" rot="0">
              <a:off x="0" y="0"/>
              <a:ext cx="205808" cy="860524"/>
            </a:xfrm>
            <a:custGeom>
              <a:avLst/>
              <a:gdLst/>
              <a:ahLst/>
              <a:cxnLst/>
              <a:rect r="r" b="b" t="t" l="l"/>
              <a:pathLst>
                <a:path h="860524" w="205808">
                  <a:moveTo>
                    <a:pt x="0" y="0"/>
                  </a:moveTo>
                  <a:lnTo>
                    <a:pt x="205808" y="0"/>
                  </a:lnTo>
                  <a:lnTo>
                    <a:pt x="205808" y="860524"/>
                  </a:lnTo>
                  <a:lnTo>
                    <a:pt x="0" y="860524"/>
                  </a:lnTo>
                  <a:close/>
                </a:path>
              </a:pathLst>
            </a:custGeom>
            <a:solidFill>
              <a:srgbClr val="000000">
                <a:alpha val="0"/>
              </a:srgbClr>
            </a:solidFill>
            <a:ln w="95250" cap="sq">
              <a:solidFill>
                <a:srgbClr val="FF0000"/>
              </a:solidFill>
              <a:prstDash val="solid"/>
              <a:miter/>
            </a:ln>
          </p:spPr>
        </p:sp>
        <p:sp>
          <p:nvSpPr>
            <p:cNvPr name="TextBox 21" id="21"/>
            <p:cNvSpPr txBox="true"/>
            <p:nvPr/>
          </p:nvSpPr>
          <p:spPr>
            <a:xfrm>
              <a:off x="0" y="38100"/>
              <a:ext cx="205808" cy="822424"/>
            </a:xfrm>
            <a:prstGeom prst="rect">
              <a:avLst/>
            </a:prstGeom>
          </p:spPr>
          <p:txBody>
            <a:bodyPr anchor="ctr" rtlCol="false" tIns="50800" lIns="50800" bIns="50800" rIns="50800"/>
            <a:lstStyle/>
            <a:p>
              <a:pPr algn="ctr">
                <a:lnSpc>
                  <a:spcPts val="2163"/>
                </a:lnSpc>
              </a:pPr>
            </a:p>
          </p:txBody>
        </p:sp>
      </p:grpSp>
      <p:sp>
        <p:nvSpPr>
          <p:cNvPr name="AutoShape 22" id="22"/>
          <p:cNvSpPr/>
          <p:nvPr/>
        </p:nvSpPr>
        <p:spPr>
          <a:xfrm>
            <a:off x="10152957" y="4659817"/>
            <a:ext cx="546091" cy="1331181"/>
          </a:xfrm>
          <a:prstGeom prst="line">
            <a:avLst/>
          </a:prstGeom>
          <a:ln cap="flat" w="38100">
            <a:solidFill>
              <a:srgbClr val="FFFFFF"/>
            </a:solidFill>
            <a:prstDash val="solid"/>
            <a:headEnd type="none" len="sm" w="sm"/>
            <a:tailEnd type="none" len="sm" w="sm"/>
          </a:ln>
        </p:spPr>
      </p:sp>
      <p:sp>
        <p:nvSpPr>
          <p:cNvPr name="TextBox 23" id="23"/>
          <p:cNvSpPr txBox="true"/>
          <p:nvPr/>
        </p:nvSpPr>
        <p:spPr>
          <a:xfrm rot="0">
            <a:off x="9480452" y="4043165"/>
            <a:ext cx="1345009" cy="580390"/>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Binary</a:t>
            </a:r>
          </a:p>
        </p:txBody>
      </p:sp>
      <p:sp>
        <p:nvSpPr>
          <p:cNvPr name="TextBox 24" id="24"/>
          <p:cNvSpPr txBox="true"/>
          <p:nvPr/>
        </p:nvSpPr>
        <p:spPr>
          <a:xfrm rot="0">
            <a:off x="11428407" y="2976596"/>
            <a:ext cx="432484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Threshold = 5</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942975" y="-841698"/>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753253" y="2821252"/>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079992" y="5143500"/>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069310" y="635233"/>
            <a:ext cx="10149379" cy="1116460"/>
          </a:xfrm>
          <a:prstGeom prst="rect">
            <a:avLst/>
          </a:prstGeom>
        </p:spPr>
        <p:txBody>
          <a:bodyPr anchor="t" rtlCol="false" tIns="0" lIns="0" bIns="0" rIns="0">
            <a:spAutoFit/>
          </a:bodyPr>
          <a:lstStyle/>
          <a:p>
            <a:pPr algn="ctr">
              <a:lnSpc>
                <a:spcPts val="8330"/>
              </a:lnSpc>
            </a:pPr>
            <a:r>
              <a:rPr lang="en-US" sz="8330">
                <a:solidFill>
                  <a:srgbClr val="FFFFFF"/>
                </a:solidFill>
                <a:latin typeface="Gagalin"/>
                <a:ea typeface="Gagalin"/>
                <a:cs typeface="Gagalin"/>
                <a:sym typeface="Gagalin"/>
              </a:rPr>
              <a:t>CHEESE FESTIVAL</a:t>
            </a:r>
          </a:p>
        </p:txBody>
      </p:sp>
      <p:sp>
        <p:nvSpPr>
          <p:cNvPr name="TextBox 13" id="13"/>
          <p:cNvSpPr txBox="true"/>
          <p:nvPr/>
        </p:nvSpPr>
        <p:spPr>
          <a:xfrm rot="0">
            <a:off x="0" y="1928933"/>
            <a:ext cx="8138621" cy="4780280"/>
          </a:xfrm>
          <a:prstGeom prst="rect">
            <a:avLst/>
          </a:prstGeom>
        </p:spPr>
        <p:txBody>
          <a:bodyPr anchor="t" rtlCol="false" tIns="0" lIns="0" bIns="0" rIns="0">
            <a:spAutoFit/>
          </a:bodyPr>
          <a:lstStyle/>
          <a:p>
            <a:pPr algn="ctr">
              <a:lnSpc>
                <a:spcPts val="7279"/>
              </a:lnSpc>
            </a:pPr>
          </a:p>
          <a:p>
            <a:pPr algn="ctr">
              <a:lnSpc>
                <a:spcPts val="7279"/>
              </a:lnSpc>
            </a:pPr>
          </a:p>
          <a:p>
            <a:pPr algn="ctr">
              <a:lnSpc>
                <a:spcPts val="3359"/>
              </a:lnSpc>
            </a:pPr>
            <a:r>
              <a:rPr lang="en-US" b="true" sz="2400">
                <a:solidFill>
                  <a:srgbClr val="FFFFFF"/>
                </a:solidFill>
                <a:latin typeface="Canva Sans Bold"/>
                <a:ea typeface="Canva Sans Bold"/>
                <a:cs typeface="Canva Sans Bold"/>
                <a:sym typeface="Canva Sans Bold"/>
              </a:rPr>
              <a:t>The Idea is that each of these factors contributes to the decision john makes. </a:t>
            </a:r>
          </a:p>
          <a:p>
            <a:pPr algn="ctr">
              <a:lnSpc>
                <a:spcPts val="3359"/>
              </a:lnSpc>
            </a:pPr>
          </a:p>
          <a:p>
            <a:pPr algn="ctr">
              <a:lnSpc>
                <a:spcPts val="3359"/>
              </a:lnSpc>
            </a:pPr>
            <a:r>
              <a:rPr lang="en-US" b="true" sz="2400">
                <a:solidFill>
                  <a:srgbClr val="FFFFFF"/>
                </a:solidFill>
                <a:latin typeface="Canva Sans Bold"/>
                <a:ea typeface="Canva Sans Bold"/>
                <a:cs typeface="Canva Sans Bold"/>
                <a:sym typeface="Canva Sans Bold"/>
              </a:rPr>
              <a:t>BUT they have different wieghts</a:t>
            </a:r>
          </a:p>
          <a:p>
            <a:pPr algn="ctr">
              <a:lnSpc>
                <a:spcPts val="3359"/>
              </a:lnSpc>
            </a:pPr>
          </a:p>
          <a:p>
            <a:pPr algn="ctr">
              <a:lnSpc>
                <a:spcPts val="3359"/>
              </a:lnSpc>
            </a:pPr>
          </a:p>
          <a:p>
            <a:pPr algn="ctr">
              <a:lnSpc>
                <a:spcPts val="3359"/>
              </a:lnSpc>
            </a:pPr>
          </a:p>
        </p:txBody>
      </p:sp>
      <p:sp>
        <p:nvSpPr>
          <p:cNvPr name="Freeform 14" id="14"/>
          <p:cNvSpPr/>
          <p:nvPr/>
        </p:nvSpPr>
        <p:spPr>
          <a:xfrm flipH="false" flipV="false" rot="0">
            <a:off x="10152957" y="5990997"/>
            <a:ext cx="6534605" cy="3267303"/>
          </a:xfrm>
          <a:custGeom>
            <a:avLst/>
            <a:gdLst/>
            <a:ahLst/>
            <a:cxnLst/>
            <a:rect r="r" b="b" t="t" l="l"/>
            <a:pathLst>
              <a:path h="3267303" w="6534605">
                <a:moveTo>
                  <a:pt x="0" y="0"/>
                </a:moveTo>
                <a:lnTo>
                  <a:pt x="6534605" y="0"/>
                </a:lnTo>
                <a:lnTo>
                  <a:pt x="6534605" y="3267303"/>
                </a:lnTo>
                <a:lnTo>
                  <a:pt x="0" y="3267303"/>
                </a:lnTo>
                <a:lnTo>
                  <a:pt x="0" y="0"/>
                </a:lnTo>
                <a:close/>
              </a:path>
            </a:pathLst>
          </a:custGeom>
          <a:blipFill>
            <a:blip r:embed="rId8"/>
            <a:stretch>
              <a:fillRect l="0" t="0" r="0" b="0"/>
            </a:stretch>
          </a:blipFill>
        </p:spPr>
      </p:sp>
      <p:sp>
        <p:nvSpPr>
          <p:cNvPr name="TextBox 15" id="15"/>
          <p:cNvSpPr txBox="true"/>
          <p:nvPr/>
        </p:nvSpPr>
        <p:spPr>
          <a:xfrm rot="0">
            <a:off x="4053426" y="6147880"/>
            <a:ext cx="9366834" cy="3431111"/>
          </a:xfrm>
          <a:prstGeom prst="rect">
            <a:avLst/>
          </a:prstGeom>
        </p:spPr>
        <p:txBody>
          <a:bodyPr anchor="t" rtlCol="false" tIns="0" lIns="0" bIns="0" rIns="0">
            <a:spAutoFit/>
          </a:bodyPr>
          <a:lstStyle/>
          <a:p>
            <a:pPr algn="ctr">
              <a:lnSpc>
                <a:spcPts val="6883"/>
              </a:lnSpc>
            </a:pPr>
            <a:r>
              <a:rPr lang="en-US" sz="4916" b="true">
                <a:solidFill>
                  <a:srgbClr val="FFFFFF"/>
                </a:solidFill>
                <a:latin typeface="Canva Sans Bold"/>
                <a:ea typeface="Canva Sans Bold"/>
                <a:cs typeface="Canva Sans Bold"/>
                <a:sym typeface="Canva Sans Bold"/>
              </a:rPr>
              <a:t>We</a:t>
            </a:r>
            <a:r>
              <a:rPr lang="en-US" b="true" sz="4916">
                <a:solidFill>
                  <a:srgbClr val="FFFFFF"/>
                </a:solidFill>
                <a:latin typeface="Canva Sans Bold"/>
                <a:ea typeface="Canva Sans Bold"/>
                <a:cs typeface="Canva Sans Bold"/>
                <a:sym typeface="Canva Sans Bold"/>
              </a:rPr>
              <a:t>ather</a:t>
            </a:r>
          </a:p>
          <a:p>
            <a:pPr algn="ctr">
              <a:lnSpc>
                <a:spcPts val="3383"/>
              </a:lnSpc>
            </a:pPr>
          </a:p>
          <a:p>
            <a:pPr algn="ctr">
              <a:lnSpc>
                <a:spcPts val="3383"/>
              </a:lnSpc>
            </a:pPr>
            <a:r>
              <a:rPr lang="en-US" sz="2416">
                <a:solidFill>
                  <a:srgbClr val="FFFFFF"/>
                </a:solidFill>
                <a:latin typeface="Canva Sans"/>
                <a:ea typeface="Canva Sans"/>
                <a:cs typeface="Canva Sans"/>
                <a:sym typeface="Canva Sans"/>
              </a:rPr>
              <a:t>Company</a:t>
            </a:r>
          </a:p>
          <a:p>
            <a:pPr algn="ctr">
              <a:lnSpc>
                <a:spcPts val="3383"/>
              </a:lnSpc>
            </a:pPr>
          </a:p>
          <a:p>
            <a:pPr algn="ctr">
              <a:lnSpc>
                <a:spcPts val="3383"/>
              </a:lnSpc>
            </a:pPr>
          </a:p>
          <a:p>
            <a:pPr algn="ctr">
              <a:lnSpc>
                <a:spcPts val="3383"/>
              </a:lnSpc>
            </a:pPr>
            <a:r>
              <a:rPr lang="en-US" sz="2416">
                <a:solidFill>
                  <a:srgbClr val="FFFFFF"/>
                </a:solidFill>
                <a:latin typeface="Canva Sans"/>
                <a:ea typeface="Canva Sans"/>
                <a:cs typeface="Canva Sans"/>
                <a:sym typeface="Canva Sans"/>
              </a:rPr>
              <a:t>Transportation</a:t>
            </a:r>
          </a:p>
          <a:p>
            <a:pPr algn="ctr">
              <a:lnSpc>
                <a:spcPts val="3383"/>
              </a:lnSpc>
            </a:pPr>
          </a:p>
        </p:txBody>
      </p:sp>
      <p:sp>
        <p:nvSpPr>
          <p:cNvPr name="TextBox 16" id="16"/>
          <p:cNvSpPr txBox="true"/>
          <p:nvPr/>
        </p:nvSpPr>
        <p:spPr>
          <a:xfrm rot="0">
            <a:off x="11737797" y="6369858"/>
            <a:ext cx="494407"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x6</a:t>
            </a:r>
          </a:p>
        </p:txBody>
      </p:sp>
      <p:sp>
        <p:nvSpPr>
          <p:cNvPr name="TextBox 17" id="17"/>
          <p:cNvSpPr txBox="true"/>
          <p:nvPr/>
        </p:nvSpPr>
        <p:spPr>
          <a:xfrm rot="0">
            <a:off x="11279203" y="7044259"/>
            <a:ext cx="453727"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x2</a:t>
            </a:r>
          </a:p>
        </p:txBody>
      </p:sp>
      <p:sp>
        <p:nvSpPr>
          <p:cNvPr name="TextBox 18" id="18"/>
          <p:cNvSpPr txBox="true"/>
          <p:nvPr/>
        </p:nvSpPr>
        <p:spPr>
          <a:xfrm rot="0">
            <a:off x="11392416" y="7912219"/>
            <a:ext cx="453727"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x2</a:t>
            </a:r>
          </a:p>
        </p:txBody>
      </p:sp>
      <p:grpSp>
        <p:nvGrpSpPr>
          <p:cNvPr name="Group 19" id="19"/>
          <p:cNvGrpSpPr/>
          <p:nvPr/>
        </p:nvGrpSpPr>
        <p:grpSpPr>
          <a:xfrm rot="0">
            <a:off x="10340924" y="5990997"/>
            <a:ext cx="781428" cy="3267303"/>
            <a:chOff x="0" y="0"/>
            <a:chExt cx="205808" cy="860524"/>
          </a:xfrm>
        </p:grpSpPr>
        <p:sp>
          <p:nvSpPr>
            <p:cNvPr name="Freeform 20" id="20"/>
            <p:cNvSpPr/>
            <p:nvPr/>
          </p:nvSpPr>
          <p:spPr>
            <a:xfrm flipH="false" flipV="false" rot="0">
              <a:off x="0" y="0"/>
              <a:ext cx="205808" cy="860524"/>
            </a:xfrm>
            <a:custGeom>
              <a:avLst/>
              <a:gdLst/>
              <a:ahLst/>
              <a:cxnLst/>
              <a:rect r="r" b="b" t="t" l="l"/>
              <a:pathLst>
                <a:path h="860524" w="205808">
                  <a:moveTo>
                    <a:pt x="0" y="0"/>
                  </a:moveTo>
                  <a:lnTo>
                    <a:pt x="205808" y="0"/>
                  </a:lnTo>
                  <a:lnTo>
                    <a:pt x="205808" y="860524"/>
                  </a:lnTo>
                  <a:lnTo>
                    <a:pt x="0" y="860524"/>
                  </a:lnTo>
                  <a:close/>
                </a:path>
              </a:pathLst>
            </a:custGeom>
            <a:solidFill>
              <a:srgbClr val="000000">
                <a:alpha val="0"/>
              </a:srgbClr>
            </a:solidFill>
            <a:ln w="95250" cap="sq">
              <a:solidFill>
                <a:srgbClr val="FF0000"/>
              </a:solidFill>
              <a:prstDash val="solid"/>
              <a:miter/>
            </a:ln>
          </p:spPr>
        </p:sp>
        <p:sp>
          <p:nvSpPr>
            <p:cNvPr name="TextBox 21" id="21"/>
            <p:cNvSpPr txBox="true"/>
            <p:nvPr/>
          </p:nvSpPr>
          <p:spPr>
            <a:xfrm>
              <a:off x="0" y="38100"/>
              <a:ext cx="205808" cy="822424"/>
            </a:xfrm>
            <a:prstGeom prst="rect">
              <a:avLst/>
            </a:prstGeom>
          </p:spPr>
          <p:txBody>
            <a:bodyPr anchor="ctr" rtlCol="false" tIns="50800" lIns="50800" bIns="50800" rIns="50800"/>
            <a:lstStyle/>
            <a:p>
              <a:pPr algn="ctr">
                <a:lnSpc>
                  <a:spcPts val="2163"/>
                </a:lnSpc>
              </a:pPr>
            </a:p>
          </p:txBody>
        </p:sp>
      </p:grpSp>
      <p:sp>
        <p:nvSpPr>
          <p:cNvPr name="AutoShape 22" id="22"/>
          <p:cNvSpPr/>
          <p:nvPr/>
        </p:nvSpPr>
        <p:spPr>
          <a:xfrm>
            <a:off x="10152957" y="4659817"/>
            <a:ext cx="546091" cy="1331181"/>
          </a:xfrm>
          <a:prstGeom prst="line">
            <a:avLst/>
          </a:prstGeom>
          <a:ln cap="flat" w="38100">
            <a:solidFill>
              <a:srgbClr val="FFFFFF"/>
            </a:solidFill>
            <a:prstDash val="solid"/>
            <a:headEnd type="none" len="sm" w="sm"/>
            <a:tailEnd type="none" len="sm" w="sm"/>
          </a:ln>
        </p:spPr>
      </p:sp>
      <p:sp>
        <p:nvSpPr>
          <p:cNvPr name="TextBox 23" id="23"/>
          <p:cNvSpPr txBox="true"/>
          <p:nvPr/>
        </p:nvSpPr>
        <p:spPr>
          <a:xfrm rot="0">
            <a:off x="9480452" y="4043165"/>
            <a:ext cx="1345009" cy="580390"/>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Binary</a:t>
            </a:r>
          </a:p>
        </p:txBody>
      </p:sp>
      <p:sp>
        <p:nvSpPr>
          <p:cNvPr name="TextBox 24" id="24"/>
          <p:cNvSpPr txBox="true"/>
          <p:nvPr/>
        </p:nvSpPr>
        <p:spPr>
          <a:xfrm rot="0">
            <a:off x="11428407" y="2976596"/>
            <a:ext cx="432484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Threshold = 5</a:t>
            </a:r>
          </a:p>
        </p:txBody>
      </p:sp>
      <p:sp>
        <p:nvSpPr>
          <p:cNvPr name="TextBox 25" id="25"/>
          <p:cNvSpPr txBox="true"/>
          <p:nvPr/>
        </p:nvSpPr>
        <p:spPr>
          <a:xfrm rot="0">
            <a:off x="13270438" y="7398504"/>
            <a:ext cx="277713"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6</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942975" y="-841698"/>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753253" y="2821252"/>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079992" y="5143500"/>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069310" y="635233"/>
            <a:ext cx="10149379" cy="1116460"/>
          </a:xfrm>
          <a:prstGeom prst="rect">
            <a:avLst/>
          </a:prstGeom>
        </p:spPr>
        <p:txBody>
          <a:bodyPr anchor="t" rtlCol="false" tIns="0" lIns="0" bIns="0" rIns="0">
            <a:spAutoFit/>
          </a:bodyPr>
          <a:lstStyle/>
          <a:p>
            <a:pPr algn="ctr">
              <a:lnSpc>
                <a:spcPts val="8330"/>
              </a:lnSpc>
            </a:pPr>
            <a:r>
              <a:rPr lang="en-US" sz="8330">
                <a:solidFill>
                  <a:srgbClr val="FFFFFF"/>
                </a:solidFill>
                <a:latin typeface="Gagalin"/>
                <a:ea typeface="Gagalin"/>
                <a:cs typeface="Gagalin"/>
                <a:sym typeface="Gagalin"/>
              </a:rPr>
              <a:t>CHEESE FESTIVAL</a:t>
            </a:r>
          </a:p>
        </p:txBody>
      </p:sp>
      <p:sp>
        <p:nvSpPr>
          <p:cNvPr name="TextBox 13" id="13"/>
          <p:cNvSpPr txBox="true"/>
          <p:nvPr/>
        </p:nvSpPr>
        <p:spPr>
          <a:xfrm rot="0">
            <a:off x="0" y="1928933"/>
            <a:ext cx="8138621" cy="4780280"/>
          </a:xfrm>
          <a:prstGeom prst="rect">
            <a:avLst/>
          </a:prstGeom>
        </p:spPr>
        <p:txBody>
          <a:bodyPr anchor="t" rtlCol="false" tIns="0" lIns="0" bIns="0" rIns="0">
            <a:spAutoFit/>
          </a:bodyPr>
          <a:lstStyle/>
          <a:p>
            <a:pPr algn="ctr">
              <a:lnSpc>
                <a:spcPts val="7279"/>
              </a:lnSpc>
            </a:pPr>
          </a:p>
          <a:p>
            <a:pPr algn="ctr">
              <a:lnSpc>
                <a:spcPts val="7279"/>
              </a:lnSpc>
            </a:pPr>
          </a:p>
          <a:p>
            <a:pPr algn="ctr">
              <a:lnSpc>
                <a:spcPts val="3359"/>
              </a:lnSpc>
            </a:pPr>
            <a:r>
              <a:rPr lang="en-US" b="true" sz="2400">
                <a:solidFill>
                  <a:srgbClr val="FFFFFF"/>
                </a:solidFill>
                <a:latin typeface="Canva Sans Bold"/>
                <a:ea typeface="Canva Sans Bold"/>
                <a:cs typeface="Canva Sans Bold"/>
                <a:sym typeface="Canva Sans Bold"/>
              </a:rPr>
              <a:t>The Idea is that each of these factors contributes to the decision john makes. </a:t>
            </a:r>
          </a:p>
          <a:p>
            <a:pPr algn="ctr">
              <a:lnSpc>
                <a:spcPts val="3359"/>
              </a:lnSpc>
            </a:pPr>
          </a:p>
          <a:p>
            <a:pPr algn="ctr">
              <a:lnSpc>
                <a:spcPts val="3359"/>
              </a:lnSpc>
            </a:pPr>
            <a:r>
              <a:rPr lang="en-US" b="true" sz="2400">
                <a:solidFill>
                  <a:srgbClr val="FFFFFF"/>
                </a:solidFill>
                <a:latin typeface="Canva Sans Bold"/>
                <a:ea typeface="Canva Sans Bold"/>
                <a:cs typeface="Canva Sans Bold"/>
                <a:sym typeface="Canva Sans Bold"/>
              </a:rPr>
              <a:t>BUT they have different wieghts</a:t>
            </a:r>
          </a:p>
          <a:p>
            <a:pPr algn="ctr">
              <a:lnSpc>
                <a:spcPts val="3359"/>
              </a:lnSpc>
            </a:pPr>
          </a:p>
          <a:p>
            <a:pPr algn="ctr">
              <a:lnSpc>
                <a:spcPts val="3359"/>
              </a:lnSpc>
            </a:pPr>
          </a:p>
          <a:p>
            <a:pPr algn="ctr">
              <a:lnSpc>
                <a:spcPts val="3359"/>
              </a:lnSpc>
            </a:pPr>
          </a:p>
        </p:txBody>
      </p:sp>
      <p:sp>
        <p:nvSpPr>
          <p:cNvPr name="Freeform 14" id="14"/>
          <p:cNvSpPr/>
          <p:nvPr/>
        </p:nvSpPr>
        <p:spPr>
          <a:xfrm flipH="false" flipV="false" rot="0">
            <a:off x="10152957" y="5990997"/>
            <a:ext cx="6534605" cy="3267303"/>
          </a:xfrm>
          <a:custGeom>
            <a:avLst/>
            <a:gdLst/>
            <a:ahLst/>
            <a:cxnLst/>
            <a:rect r="r" b="b" t="t" l="l"/>
            <a:pathLst>
              <a:path h="3267303" w="6534605">
                <a:moveTo>
                  <a:pt x="0" y="0"/>
                </a:moveTo>
                <a:lnTo>
                  <a:pt x="6534605" y="0"/>
                </a:lnTo>
                <a:lnTo>
                  <a:pt x="6534605" y="3267303"/>
                </a:lnTo>
                <a:lnTo>
                  <a:pt x="0" y="3267303"/>
                </a:lnTo>
                <a:lnTo>
                  <a:pt x="0" y="0"/>
                </a:lnTo>
                <a:close/>
              </a:path>
            </a:pathLst>
          </a:custGeom>
          <a:blipFill>
            <a:blip r:embed="rId8"/>
            <a:stretch>
              <a:fillRect l="0" t="0" r="0" b="0"/>
            </a:stretch>
          </a:blipFill>
        </p:spPr>
      </p:sp>
      <p:sp>
        <p:nvSpPr>
          <p:cNvPr name="TextBox 15" id="15"/>
          <p:cNvSpPr txBox="true"/>
          <p:nvPr/>
        </p:nvSpPr>
        <p:spPr>
          <a:xfrm rot="0">
            <a:off x="3635443" y="6195505"/>
            <a:ext cx="9784817" cy="3510485"/>
          </a:xfrm>
          <a:prstGeom prst="rect">
            <a:avLst/>
          </a:prstGeom>
        </p:spPr>
        <p:txBody>
          <a:bodyPr anchor="t" rtlCol="false" tIns="0" lIns="0" bIns="0" rIns="0">
            <a:spAutoFit/>
          </a:bodyPr>
          <a:lstStyle/>
          <a:p>
            <a:pPr algn="ctr">
              <a:lnSpc>
                <a:spcPts val="3383"/>
              </a:lnSpc>
            </a:pPr>
            <a:r>
              <a:rPr lang="en-US" sz="2416">
                <a:solidFill>
                  <a:srgbClr val="FFFFFF"/>
                </a:solidFill>
                <a:latin typeface="Canva Sans"/>
                <a:ea typeface="Canva Sans"/>
                <a:cs typeface="Canva Sans"/>
                <a:sym typeface="Canva Sans"/>
              </a:rPr>
              <a:t>We</a:t>
            </a:r>
            <a:r>
              <a:rPr lang="en-US" sz="2416">
                <a:solidFill>
                  <a:srgbClr val="FFFFFF"/>
                </a:solidFill>
                <a:latin typeface="Canva Sans"/>
                <a:ea typeface="Canva Sans"/>
                <a:cs typeface="Canva Sans"/>
                <a:sym typeface="Canva Sans"/>
              </a:rPr>
              <a:t>ather</a:t>
            </a:r>
          </a:p>
          <a:p>
            <a:pPr algn="ctr">
              <a:lnSpc>
                <a:spcPts val="3383"/>
              </a:lnSpc>
            </a:pPr>
          </a:p>
          <a:p>
            <a:pPr algn="ctr">
              <a:lnSpc>
                <a:spcPts val="4480"/>
              </a:lnSpc>
            </a:pPr>
            <a:r>
              <a:rPr lang="en-US" b="true" sz="3200">
                <a:solidFill>
                  <a:srgbClr val="FFFFFF"/>
                </a:solidFill>
                <a:latin typeface="Canva Sans Bold"/>
                <a:ea typeface="Canva Sans Bold"/>
                <a:cs typeface="Canva Sans Bold"/>
                <a:sym typeface="Canva Sans Bold"/>
              </a:rPr>
              <a:t>Company</a:t>
            </a:r>
          </a:p>
          <a:p>
            <a:pPr algn="ctr">
              <a:lnSpc>
                <a:spcPts val="4480"/>
              </a:lnSpc>
            </a:pPr>
          </a:p>
          <a:p>
            <a:pPr algn="ctr">
              <a:lnSpc>
                <a:spcPts val="4480"/>
              </a:lnSpc>
            </a:pPr>
          </a:p>
          <a:p>
            <a:pPr algn="ctr">
              <a:lnSpc>
                <a:spcPts val="4480"/>
              </a:lnSpc>
            </a:pPr>
            <a:r>
              <a:rPr lang="en-US" b="true" sz="3200">
                <a:solidFill>
                  <a:srgbClr val="FFFFFF"/>
                </a:solidFill>
                <a:latin typeface="Canva Sans Bold"/>
                <a:ea typeface="Canva Sans Bold"/>
                <a:cs typeface="Canva Sans Bold"/>
                <a:sym typeface="Canva Sans Bold"/>
              </a:rPr>
              <a:t>Transportation</a:t>
            </a:r>
          </a:p>
          <a:p>
            <a:pPr algn="ctr">
              <a:lnSpc>
                <a:spcPts val="3383"/>
              </a:lnSpc>
            </a:pPr>
          </a:p>
        </p:txBody>
      </p:sp>
      <p:sp>
        <p:nvSpPr>
          <p:cNvPr name="TextBox 16" id="16"/>
          <p:cNvSpPr txBox="true"/>
          <p:nvPr/>
        </p:nvSpPr>
        <p:spPr>
          <a:xfrm rot="0">
            <a:off x="11737797" y="6369858"/>
            <a:ext cx="494407"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x6</a:t>
            </a:r>
          </a:p>
        </p:txBody>
      </p:sp>
      <p:sp>
        <p:nvSpPr>
          <p:cNvPr name="TextBox 17" id="17"/>
          <p:cNvSpPr txBox="true"/>
          <p:nvPr/>
        </p:nvSpPr>
        <p:spPr>
          <a:xfrm rot="0">
            <a:off x="11279203" y="7044259"/>
            <a:ext cx="453727"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x2</a:t>
            </a:r>
          </a:p>
        </p:txBody>
      </p:sp>
      <p:sp>
        <p:nvSpPr>
          <p:cNvPr name="TextBox 18" id="18"/>
          <p:cNvSpPr txBox="true"/>
          <p:nvPr/>
        </p:nvSpPr>
        <p:spPr>
          <a:xfrm rot="0">
            <a:off x="11392416" y="7912219"/>
            <a:ext cx="453727"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x2</a:t>
            </a:r>
          </a:p>
        </p:txBody>
      </p:sp>
      <p:grpSp>
        <p:nvGrpSpPr>
          <p:cNvPr name="Group 19" id="19"/>
          <p:cNvGrpSpPr/>
          <p:nvPr/>
        </p:nvGrpSpPr>
        <p:grpSpPr>
          <a:xfrm rot="0">
            <a:off x="10340924" y="5990997"/>
            <a:ext cx="781428" cy="3267303"/>
            <a:chOff x="0" y="0"/>
            <a:chExt cx="205808" cy="860524"/>
          </a:xfrm>
        </p:grpSpPr>
        <p:sp>
          <p:nvSpPr>
            <p:cNvPr name="Freeform 20" id="20"/>
            <p:cNvSpPr/>
            <p:nvPr/>
          </p:nvSpPr>
          <p:spPr>
            <a:xfrm flipH="false" flipV="false" rot="0">
              <a:off x="0" y="0"/>
              <a:ext cx="205808" cy="860524"/>
            </a:xfrm>
            <a:custGeom>
              <a:avLst/>
              <a:gdLst/>
              <a:ahLst/>
              <a:cxnLst/>
              <a:rect r="r" b="b" t="t" l="l"/>
              <a:pathLst>
                <a:path h="860524" w="205808">
                  <a:moveTo>
                    <a:pt x="0" y="0"/>
                  </a:moveTo>
                  <a:lnTo>
                    <a:pt x="205808" y="0"/>
                  </a:lnTo>
                  <a:lnTo>
                    <a:pt x="205808" y="860524"/>
                  </a:lnTo>
                  <a:lnTo>
                    <a:pt x="0" y="860524"/>
                  </a:lnTo>
                  <a:close/>
                </a:path>
              </a:pathLst>
            </a:custGeom>
            <a:solidFill>
              <a:srgbClr val="000000">
                <a:alpha val="0"/>
              </a:srgbClr>
            </a:solidFill>
            <a:ln w="95250" cap="sq">
              <a:solidFill>
                <a:srgbClr val="FF0000"/>
              </a:solidFill>
              <a:prstDash val="solid"/>
              <a:miter/>
            </a:ln>
          </p:spPr>
        </p:sp>
        <p:sp>
          <p:nvSpPr>
            <p:cNvPr name="TextBox 21" id="21"/>
            <p:cNvSpPr txBox="true"/>
            <p:nvPr/>
          </p:nvSpPr>
          <p:spPr>
            <a:xfrm>
              <a:off x="0" y="38100"/>
              <a:ext cx="205808" cy="822424"/>
            </a:xfrm>
            <a:prstGeom prst="rect">
              <a:avLst/>
            </a:prstGeom>
          </p:spPr>
          <p:txBody>
            <a:bodyPr anchor="ctr" rtlCol="false" tIns="50800" lIns="50800" bIns="50800" rIns="50800"/>
            <a:lstStyle/>
            <a:p>
              <a:pPr algn="ctr">
                <a:lnSpc>
                  <a:spcPts val="2163"/>
                </a:lnSpc>
              </a:pPr>
            </a:p>
          </p:txBody>
        </p:sp>
      </p:grpSp>
      <p:sp>
        <p:nvSpPr>
          <p:cNvPr name="AutoShape 22" id="22"/>
          <p:cNvSpPr/>
          <p:nvPr/>
        </p:nvSpPr>
        <p:spPr>
          <a:xfrm>
            <a:off x="10152957" y="4659817"/>
            <a:ext cx="546091" cy="1331181"/>
          </a:xfrm>
          <a:prstGeom prst="line">
            <a:avLst/>
          </a:prstGeom>
          <a:ln cap="flat" w="38100">
            <a:solidFill>
              <a:srgbClr val="FFFFFF"/>
            </a:solidFill>
            <a:prstDash val="solid"/>
            <a:headEnd type="none" len="sm" w="sm"/>
            <a:tailEnd type="none" len="sm" w="sm"/>
          </a:ln>
        </p:spPr>
      </p:sp>
      <p:sp>
        <p:nvSpPr>
          <p:cNvPr name="TextBox 23" id="23"/>
          <p:cNvSpPr txBox="true"/>
          <p:nvPr/>
        </p:nvSpPr>
        <p:spPr>
          <a:xfrm rot="0">
            <a:off x="9480452" y="4043165"/>
            <a:ext cx="1345009" cy="580390"/>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Binary</a:t>
            </a:r>
          </a:p>
        </p:txBody>
      </p:sp>
      <p:sp>
        <p:nvSpPr>
          <p:cNvPr name="TextBox 24" id="24"/>
          <p:cNvSpPr txBox="true"/>
          <p:nvPr/>
        </p:nvSpPr>
        <p:spPr>
          <a:xfrm rot="0">
            <a:off x="11428407" y="2976596"/>
            <a:ext cx="432484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Threshold = 5</a:t>
            </a:r>
          </a:p>
        </p:txBody>
      </p:sp>
      <p:sp>
        <p:nvSpPr>
          <p:cNvPr name="TextBox 25" id="25"/>
          <p:cNvSpPr txBox="true"/>
          <p:nvPr/>
        </p:nvSpPr>
        <p:spPr>
          <a:xfrm rot="0">
            <a:off x="13278673" y="7398504"/>
            <a:ext cx="261243" cy="580390"/>
          </a:xfrm>
          <a:prstGeom prst="rect">
            <a:avLst/>
          </a:prstGeom>
        </p:spPr>
        <p:txBody>
          <a:bodyPr anchor="t" rtlCol="false" tIns="0" lIns="0" bIns="0" rIns="0">
            <a:spAutoFit/>
          </a:bodyPr>
          <a:lstStyle/>
          <a:p>
            <a:pPr algn="ctr">
              <a:lnSpc>
                <a:spcPts val="4759"/>
              </a:lnSpc>
            </a:pPr>
            <a:r>
              <a:rPr lang="en-US" sz="3399">
                <a:solidFill>
                  <a:srgbClr val="FF0000"/>
                </a:solidFill>
                <a:latin typeface="Canva Sans"/>
                <a:ea typeface="Canva Sans"/>
                <a:cs typeface="Canva Sans"/>
                <a:sym typeface="Canva Sans"/>
              </a:rPr>
              <a:t>4</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476179" y="-1175070"/>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378262" y="1028700"/>
            <a:ext cx="456656" cy="413481"/>
          </a:xfrm>
          <a:custGeom>
            <a:avLst/>
            <a:gdLst/>
            <a:ahLst/>
            <a:cxnLst/>
            <a:rect r="r" b="b" t="t" l="l"/>
            <a:pathLst>
              <a:path h="413481" w="456656">
                <a:moveTo>
                  <a:pt x="0" y="0"/>
                </a:moveTo>
                <a:lnTo>
                  <a:pt x="456656" y="0"/>
                </a:lnTo>
                <a:lnTo>
                  <a:pt x="456656" y="413481"/>
                </a:lnTo>
                <a:lnTo>
                  <a:pt x="0" y="413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454255" y="1893210"/>
            <a:ext cx="7024208" cy="7583860"/>
          </a:xfrm>
          <a:custGeom>
            <a:avLst/>
            <a:gdLst/>
            <a:ahLst/>
            <a:cxnLst/>
            <a:rect r="r" b="b" t="t" l="l"/>
            <a:pathLst>
              <a:path h="7583860" w="7024208">
                <a:moveTo>
                  <a:pt x="0" y="0"/>
                </a:moveTo>
                <a:lnTo>
                  <a:pt x="7024208" y="0"/>
                </a:lnTo>
                <a:lnTo>
                  <a:pt x="7024208" y="7583860"/>
                </a:lnTo>
                <a:lnTo>
                  <a:pt x="0" y="7583860"/>
                </a:lnTo>
                <a:lnTo>
                  <a:pt x="0" y="0"/>
                </a:lnTo>
                <a:close/>
              </a:path>
            </a:pathLst>
          </a:custGeom>
          <a:blipFill>
            <a:blip r:embed="rId8"/>
            <a:stretch>
              <a:fillRect l="0" t="0" r="0" b="0"/>
            </a:stretch>
          </a:blipFill>
        </p:spPr>
      </p:sp>
      <p:sp>
        <p:nvSpPr>
          <p:cNvPr name="Freeform 12" id="12"/>
          <p:cNvSpPr/>
          <p:nvPr/>
        </p:nvSpPr>
        <p:spPr>
          <a:xfrm flipH="false" flipV="false" rot="0">
            <a:off x="8230216" y="2160982"/>
            <a:ext cx="4388658" cy="1435386"/>
          </a:xfrm>
          <a:custGeom>
            <a:avLst/>
            <a:gdLst/>
            <a:ahLst/>
            <a:cxnLst/>
            <a:rect r="r" b="b" t="t" l="l"/>
            <a:pathLst>
              <a:path h="1435386" w="4388658">
                <a:moveTo>
                  <a:pt x="0" y="0"/>
                </a:moveTo>
                <a:lnTo>
                  <a:pt x="4388657" y="0"/>
                </a:lnTo>
                <a:lnTo>
                  <a:pt x="4388657" y="1435386"/>
                </a:lnTo>
                <a:lnTo>
                  <a:pt x="0" y="1435386"/>
                </a:lnTo>
                <a:lnTo>
                  <a:pt x="0" y="0"/>
                </a:lnTo>
                <a:close/>
              </a:path>
            </a:pathLst>
          </a:custGeom>
          <a:blipFill>
            <a:blip r:embed="rId9"/>
            <a:stretch>
              <a:fillRect l="0" t="0" r="-1562" b="0"/>
            </a:stretch>
          </a:blipFill>
        </p:spPr>
      </p:sp>
      <p:sp>
        <p:nvSpPr>
          <p:cNvPr name="Freeform 13" id="13"/>
          <p:cNvSpPr/>
          <p:nvPr/>
        </p:nvSpPr>
        <p:spPr>
          <a:xfrm flipH="false" flipV="false" rot="0">
            <a:off x="7707041" y="7352640"/>
            <a:ext cx="6770478" cy="1635565"/>
          </a:xfrm>
          <a:custGeom>
            <a:avLst/>
            <a:gdLst/>
            <a:ahLst/>
            <a:cxnLst/>
            <a:rect r="r" b="b" t="t" l="l"/>
            <a:pathLst>
              <a:path h="1635565" w="6770478">
                <a:moveTo>
                  <a:pt x="0" y="0"/>
                </a:moveTo>
                <a:lnTo>
                  <a:pt x="6770479" y="0"/>
                </a:lnTo>
                <a:lnTo>
                  <a:pt x="6770479" y="1635565"/>
                </a:lnTo>
                <a:lnTo>
                  <a:pt x="0" y="1635565"/>
                </a:lnTo>
                <a:lnTo>
                  <a:pt x="0" y="0"/>
                </a:lnTo>
                <a:close/>
              </a:path>
            </a:pathLst>
          </a:custGeom>
          <a:blipFill>
            <a:blip r:embed="rId10"/>
            <a:stretch>
              <a:fillRect l="0" t="0" r="0" b="0"/>
            </a:stretch>
          </a:blipFill>
        </p:spPr>
      </p:sp>
      <p:sp>
        <p:nvSpPr>
          <p:cNvPr name="TextBox 14" id="14"/>
          <p:cNvSpPr txBox="true"/>
          <p:nvPr/>
        </p:nvSpPr>
        <p:spPr>
          <a:xfrm rot="0">
            <a:off x="2388155" y="546670"/>
            <a:ext cx="8990406" cy="1116460"/>
          </a:xfrm>
          <a:prstGeom prst="rect">
            <a:avLst/>
          </a:prstGeom>
        </p:spPr>
        <p:txBody>
          <a:bodyPr anchor="t" rtlCol="false" tIns="0" lIns="0" bIns="0" rIns="0">
            <a:spAutoFit/>
          </a:bodyPr>
          <a:lstStyle/>
          <a:p>
            <a:pPr algn="l">
              <a:lnSpc>
                <a:spcPts val="8330"/>
              </a:lnSpc>
            </a:pPr>
            <a:r>
              <a:rPr lang="en-US" sz="8330">
                <a:solidFill>
                  <a:srgbClr val="FFFFFF"/>
                </a:solidFill>
                <a:latin typeface="Gagalin"/>
                <a:ea typeface="Gagalin"/>
                <a:cs typeface="Gagalin"/>
                <a:sym typeface="Gagalin"/>
              </a:rPr>
              <a:t>MATH INVOLVED</a:t>
            </a:r>
          </a:p>
        </p:txBody>
      </p:sp>
      <p:sp>
        <p:nvSpPr>
          <p:cNvPr name="TextBox 15" id="15"/>
          <p:cNvSpPr txBox="true"/>
          <p:nvPr/>
        </p:nvSpPr>
        <p:spPr>
          <a:xfrm rot="0">
            <a:off x="7707041" y="4838703"/>
            <a:ext cx="8392394" cy="1196467"/>
          </a:xfrm>
          <a:prstGeom prst="rect">
            <a:avLst/>
          </a:prstGeom>
        </p:spPr>
        <p:txBody>
          <a:bodyPr anchor="t" rtlCol="false" tIns="0" lIns="0" bIns="0" rIns="0">
            <a:spAutoFit/>
          </a:bodyPr>
          <a:lstStyle/>
          <a:p>
            <a:pPr algn="ctr">
              <a:lnSpc>
                <a:spcPts val="3163"/>
              </a:lnSpc>
            </a:pPr>
            <a:r>
              <a:rPr lang="en-US" sz="2799">
                <a:solidFill>
                  <a:srgbClr val="FFFFFF"/>
                </a:solidFill>
                <a:latin typeface="Montserrat"/>
                <a:ea typeface="Montserrat"/>
                <a:cs typeface="Montserrat"/>
                <a:sym typeface="Montserrat"/>
              </a:rPr>
              <a:t>X= Inputs </a:t>
            </a:r>
          </a:p>
          <a:p>
            <a:pPr algn="ctr">
              <a:lnSpc>
                <a:spcPts val="3163"/>
              </a:lnSpc>
            </a:pPr>
            <a:r>
              <a:rPr lang="en-US" sz="2799">
                <a:solidFill>
                  <a:srgbClr val="FFFFFF"/>
                </a:solidFill>
                <a:latin typeface="Montserrat"/>
                <a:ea typeface="Montserrat"/>
                <a:cs typeface="Montserrat"/>
                <a:sym typeface="Montserrat"/>
              </a:rPr>
              <a:t>W= Weights </a:t>
            </a:r>
          </a:p>
          <a:p>
            <a:pPr algn="ctr">
              <a:lnSpc>
                <a:spcPts val="3163"/>
              </a:lnSpc>
            </a:pPr>
            <a:r>
              <a:rPr lang="en-US" sz="2799">
                <a:solidFill>
                  <a:srgbClr val="FFFFFF"/>
                </a:solidFill>
                <a:latin typeface="Montserrat"/>
                <a:ea typeface="Montserrat"/>
                <a:cs typeface="Montserrat"/>
                <a:sym typeface="Montserrat"/>
              </a:rPr>
              <a:t>B= Bias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7600206" y="-1683396"/>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036482" y="467006"/>
            <a:ext cx="1689816" cy="1695983"/>
          </a:xfrm>
          <a:custGeom>
            <a:avLst/>
            <a:gdLst/>
            <a:ahLst/>
            <a:cxnLst/>
            <a:rect r="r" b="b" t="t" l="l"/>
            <a:pathLst>
              <a:path h="1695983" w="1689816">
                <a:moveTo>
                  <a:pt x="0" y="0"/>
                </a:moveTo>
                <a:lnTo>
                  <a:pt x="1689816" y="0"/>
                </a:lnTo>
                <a:lnTo>
                  <a:pt x="1689816" y="1695984"/>
                </a:lnTo>
                <a:lnTo>
                  <a:pt x="0" y="1695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536665" y="3011926"/>
            <a:ext cx="7777810" cy="6579927"/>
            <a:chOff x="0" y="0"/>
            <a:chExt cx="2048477" cy="1732985"/>
          </a:xfrm>
        </p:grpSpPr>
        <p:sp>
          <p:nvSpPr>
            <p:cNvPr name="Freeform 12" id="12"/>
            <p:cNvSpPr/>
            <p:nvPr/>
          </p:nvSpPr>
          <p:spPr>
            <a:xfrm flipH="false" flipV="false" rot="0">
              <a:off x="0" y="0"/>
              <a:ext cx="2048477" cy="1732985"/>
            </a:xfrm>
            <a:custGeom>
              <a:avLst/>
              <a:gdLst/>
              <a:ahLst/>
              <a:cxnLst/>
              <a:rect r="r" b="b" t="t" l="l"/>
              <a:pathLst>
                <a:path h="1732985" w="2048477">
                  <a:moveTo>
                    <a:pt x="50765" y="0"/>
                  </a:moveTo>
                  <a:lnTo>
                    <a:pt x="1997712" y="0"/>
                  </a:lnTo>
                  <a:cubicBezTo>
                    <a:pt x="2011176" y="0"/>
                    <a:pt x="2024088" y="5348"/>
                    <a:pt x="2033608" y="14869"/>
                  </a:cubicBezTo>
                  <a:cubicBezTo>
                    <a:pt x="2043129" y="24389"/>
                    <a:pt x="2048477" y="37301"/>
                    <a:pt x="2048477" y="50765"/>
                  </a:cubicBezTo>
                  <a:lnTo>
                    <a:pt x="2048477" y="1682220"/>
                  </a:lnTo>
                  <a:cubicBezTo>
                    <a:pt x="2048477" y="1710257"/>
                    <a:pt x="2025749" y="1732985"/>
                    <a:pt x="1997712" y="1732985"/>
                  </a:cubicBezTo>
                  <a:lnTo>
                    <a:pt x="50765" y="1732985"/>
                  </a:lnTo>
                  <a:cubicBezTo>
                    <a:pt x="37301" y="1732985"/>
                    <a:pt x="24389" y="1727637"/>
                    <a:pt x="14869" y="1718116"/>
                  </a:cubicBezTo>
                  <a:cubicBezTo>
                    <a:pt x="5348" y="1708596"/>
                    <a:pt x="0" y="1695684"/>
                    <a:pt x="0" y="1682220"/>
                  </a:cubicBezTo>
                  <a:lnTo>
                    <a:pt x="0" y="50765"/>
                  </a:lnTo>
                  <a:cubicBezTo>
                    <a:pt x="0" y="22728"/>
                    <a:pt x="22728" y="0"/>
                    <a:pt x="50765" y="0"/>
                  </a:cubicBezTo>
                  <a:close/>
                </a:path>
              </a:pathLst>
            </a:custGeom>
            <a:solidFill>
              <a:srgbClr val="000000"/>
            </a:solidFill>
          </p:spPr>
        </p:sp>
        <p:sp>
          <p:nvSpPr>
            <p:cNvPr name="TextBox 13" id="13"/>
            <p:cNvSpPr txBox="true"/>
            <p:nvPr/>
          </p:nvSpPr>
          <p:spPr>
            <a:xfrm>
              <a:off x="0" y="19050"/>
              <a:ext cx="2048477" cy="1713935"/>
            </a:xfrm>
            <a:prstGeom prst="rect">
              <a:avLst/>
            </a:prstGeom>
          </p:spPr>
          <p:txBody>
            <a:bodyPr anchor="ctr" rtlCol="false" tIns="50800" lIns="50800" bIns="50800" rIns="50800"/>
            <a:lstStyle/>
            <a:p>
              <a:pPr algn="ctr">
                <a:lnSpc>
                  <a:spcPts val="2385"/>
                </a:lnSpc>
              </a:pPr>
            </a:p>
          </p:txBody>
        </p:sp>
      </p:grpSp>
      <p:sp>
        <p:nvSpPr>
          <p:cNvPr name="TextBox 14" id="14"/>
          <p:cNvSpPr txBox="true"/>
          <p:nvPr/>
        </p:nvSpPr>
        <p:spPr>
          <a:xfrm rot="0">
            <a:off x="2060681" y="3561251"/>
            <a:ext cx="6936718" cy="2006500"/>
          </a:xfrm>
          <a:prstGeom prst="rect">
            <a:avLst/>
          </a:prstGeom>
        </p:spPr>
        <p:txBody>
          <a:bodyPr anchor="t" rtlCol="false" tIns="0" lIns="0" bIns="0" rIns="0">
            <a:spAutoFit/>
          </a:bodyPr>
          <a:lstStyle/>
          <a:p>
            <a:pPr algn="l">
              <a:lnSpc>
                <a:spcPts val="3215"/>
              </a:lnSpc>
            </a:pPr>
            <a:r>
              <a:rPr lang="en-US" sz="2845" b="true">
                <a:solidFill>
                  <a:srgbClr val="AEEFE5"/>
                </a:solidFill>
                <a:latin typeface="Montserrat Bold"/>
                <a:ea typeface="Montserrat Bold"/>
                <a:cs typeface="Montserrat Bold"/>
                <a:sym typeface="Montserrat Bold"/>
              </a:rPr>
              <a:t>What are tabular methods?</a:t>
            </a:r>
          </a:p>
          <a:p>
            <a:pPr algn="l">
              <a:lnSpc>
                <a:spcPts val="3215"/>
              </a:lnSpc>
            </a:pPr>
          </a:p>
          <a:p>
            <a:pPr algn="l">
              <a:lnSpc>
                <a:spcPts val="3215"/>
              </a:lnSpc>
            </a:pPr>
            <a:r>
              <a:rPr lang="en-US" sz="2845">
                <a:solidFill>
                  <a:srgbClr val="FFFFFF"/>
                </a:solidFill>
                <a:latin typeface="Montserrat"/>
                <a:ea typeface="Montserrat"/>
                <a:cs typeface="Montserrat"/>
                <a:sym typeface="Montserrat"/>
              </a:rPr>
              <a:t>Specialized techniques for handling structured data organized in tables (rows = instances, columns = features)</a:t>
            </a:r>
          </a:p>
        </p:txBody>
      </p:sp>
      <p:sp>
        <p:nvSpPr>
          <p:cNvPr name="TextBox 15" id="15"/>
          <p:cNvSpPr txBox="true"/>
          <p:nvPr/>
        </p:nvSpPr>
        <p:spPr>
          <a:xfrm rot="0">
            <a:off x="4246149" y="557761"/>
            <a:ext cx="11189110" cy="2159000"/>
          </a:xfrm>
          <a:prstGeom prst="rect">
            <a:avLst/>
          </a:prstGeom>
        </p:spPr>
        <p:txBody>
          <a:bodyPr anchor="t" rtlCol="false" tIns="0" lIns="0" bIns="0" rIns="0">
            <a:spAutoFit/>
          </a:bodyPr>
          <a:lstStyle/>
          <a:p>
            <a:pPr algn="l">
              <a:lnSpc>
                <a:spcPts val="5650"/>
              </a:lnSpc>
            </a:pPr>
            <a:r>
              <a:rPr lang="en-US" sz="5000">
                <a:solidFill>
                  <a:srgbClr val="B49CCD"/>
                </a:solidFill>
                <a:latin typeface="Gagalin"/>
                <a:ea typeface="Gagalin"/>
                <a:cs typeface="Gagalin"/>
                <a:sym typeface="Gagalin"/>
              </a:rPr>
              <a:t>six</a:t>
            </a:r>
            <a:r>
              <a:rPr lang="en-US" sz="5000">
                <a:solidFill>
                  <a:srgbClr val="FFFFFF"/>
                </a:solidFill>
                <a:latin typeface="Gagalin"/>
                <a:ea typeface="Gagalin"/>
                <a:cs typeface="Gagalin"/>
                <a:sym typeface="Gagalin"/>
              </a:rPr>
              <a:t> tabular methods that reflect how neural networks are advancing in struc</a:t>
            </a:r>
            <a:r>
              <a:rPr lang="en-US" sz="5000" u="none">
                <a:solidFill>
                  <a:srgbClr val="FFFFFF"/>
                </a:solidFill>
                <a:latin typeface="Gagalin"/>
                <a:ea typeface="Gagalin"/>
                <a:cs typeface="Gagalin"/>
                <a:sym typeface="Gagalin"/>
              </a:rPr>
              <a:t>t</a:t>
            </a:r>
            <a:r>
              <a:rPr lang="en-US" sz="5000">
                <a:solidFill>
                  <a:srgbClr val="FFFFFF"/>
                </a:solidFill>
                <a:latin typeface="Gagalin"/>
                <a:ea typeface="Gagalin"/>
                <a:cs typeface="Gagalin"/>
                <a:sym typeface="Gagalin"/>
              </a:rPr>
              <a:t>ur</a:t>
            </a:r>
            <a:r>
              <a:rPr lang="en-US" sz="5000" u="none">
                <a:solidFill>
                  <a:srgbClr val="FFFFFF"/>
                </a:solidFill>
                <a:latin typeface="Gagalin"/>
                <a:ea typeface="Gagalin"/>
                <a:cs typeface="Gagalin"/>
                <a:sym typeface="Gagalin"/>
              </a:rPr>
              <a:t>ed</a:t>
            </a:r>
            <a:r>
              <a:rPr lang="en-US" sz="5000">
                <a:solidFill>
                  <a:srgbClr val="FFFFFF"/>
                </a:solidFill>
                <a:latin typeface="Gagalin"/>
                <a:ea typeface="Gagalin"/>
                <a:cs typeface="Gagalin"/>
                <a:sym typeface="Gagalin"/>
              </a:rPr>
              <a:t> d</a:t>
            </a:r>
            <a:r>
              <a:rPr lang="en-US" sz="5000" u="none">
                <a:solidFill>
                  <a:srgbClr val="FFFFFF"/>
                </a:solidFill>
                <a:latin typeface="Gagalin"/>
                <a:ea typeface="Gagalin"/>
                <a:cs typeface="Gagalin"/>
                <a:sym typeface="Gagalin"/>
              </a:rPr>
              <a:t>a</a:t>
            </a:r>
            <a:r>
              <a:rPr lang="en-US" sz="5000">
                <a:solidFill>
                  <a:srgbClr val="FFFFFF"/>
                </a:solidFill>
                <a:latin typeface="Gagalin"/>
                <a:ea typeface="Gagalin"/>
                <a:cs typeface="Gagalin"/>
                <a:sym typeface="Gagalin"/>
              </a:rPr>
              <a:t>ta modeling</a:t>
            </a:r>
          </a:p>
        </p:txBody>
      </p:sp>
      <p:grpSp>
        <p:nvGrpSpPr>
          <p:cNvPr name="Group 16" id="16"/>
          <p:cNvGrpSpPr/>
          <p:nvPr/>
        </p:nvGrpSpPr>
        <p:grpSpPr>
          <a:xfrm rot="0">
            <a:off x="9481490" y="3011926"/>
            <a:ext cx="7777810" cy="6579927"/>
            <a:chOff x="0" y="0"/>
            <a:chExt cx="2048477" cy="1732985"/>
          </a:xfrm>
        </p:grpSpPr>
        <p:sp>
          <p:nvSpPr>
            <p:cNvPr name="Freeform 17" id="17"/>
            <p:cNvSpPr/>
            <p:nvPr/>
          </p:nvSpPr>
          <p:spPr>
            <a:xfrm flipH="false" flipV="false" rot="0">
              <a:off x="0" y="0"/>
              <a:ext cx="2048477" cy="1732985"/>
            </a:xfrm>
            <a:custGeom>
              <a:avLst/>
              <a:gdLst/>
              <a:ahLst/>
              <a:cxnLst/>
              <a:rect r="r" b="b" t="t" l="l"/>
              <a:pathLst>
                <a:path h="1732985" w="2048477">
                  <a:moveTo>
                    <a:pt x="50765" y="0"/>
                  </a:moveTo>
                  <a:lnTo>
                    <a:pt x="1997712" y="0"/>
                  </a:lnTo>
                  <a:cubicBezTo>
                    <a:pt x="2011176" y="0"/>
                    <a:pt x="2024088" y="5348"/>
                    <a:pt x="2033608" y="14869"/>
                  </a:cubicBezTo>
                  <a:cubicBezTo>
                    <a:pt x="2043129" y="24389"/>
                    <a:pt x="2048477" y="37301"/>
                    <a:pt x="2048477" y="50765"/>
                  </a:cubicBezTo>
                  <a:lnTo>
                    <a:pt x="2048477" y="1682220"/>
                  </a:lnTo>
                  <a:cubicBezTo>
                    <a:pt x="2048477" y="1710257"/>
                    <a:pt x="2025749" y="1732985"/>
                    <a:pt x="1997712" y="1732985"/>
                  </a:cubicBezTo>
                  <a:lnTo>
                    <a:pt x="50765" y="1732985"/>
                  </a:lnTo>
                  <a:cubicBezTo>
                    <a:pt x="37301" y="1732985"/>
                    <a:pt x="24389" y="1727637"/>
                    <a:pt x="14869" y="1718116"/>
                  </a:cubicBezTo>
                  <a:cubicBezTo>
                    <a:pt x="5348" y="1708596"/>
                    <a:pt x="0" y="1695684"/>
                    <a:pt x="0" y="1682220"/>
                  </a:cubicBezTo>
                  <a:lnTo>
                    <a:pt x="0" y="50765"/>
                  </a:lnTo>
                  <a:cubicBezTo>
                    <a:pt x="0" y="22728"/>
                    <a:pt x="22728" y="0"/>
                    <a:pt x="50765" y="0"/>
                  </a:cubicBezTo>
                  <a:close/>
                </a:path>
              </a:pathLst>
            </a:custGeom>
            <a:solidFill>
              <a:srgbClr val="000000"/>
            </a:solidFill>
          </p:spPr>
        </p:sp>
        <p:sp>
          <p:nvSpPr>
            <p:cNvPr name="TextBox 18" id="18"/>
            <p:cNvSpPr txBox="true"/>
            <p:nvPr/>
          </p:nvSpPr>
          <p:spPr>
            <a:xfrm>
              <a:off x="0" y="19050"/>
              <a:ext cx="2048477" cy="1713935"/>
            </a:xfrm>
            <a:prstGeom prst="rect">
              <a:avLst/>
            </a:prstGeom>
          </p:spPr>
          <p:txBody>
            <a:bodyPr anchor="ctr" rtlCol="false" tIns="50800" lIns="50800" bIns="50800" rIns="50800"/>
            <a:lstStyle/>
            <a:p>
              <a:pPr algn="ctr">
                <a:lnSpc>
                  <a:spcPts val="2385"/>
                </a:lnSpc>
              </a:pPr>
            </a:p>
          </p:txBody>
        </p:sp>
      </p:grpSp>
      <p:sp>
        <p:nvSpPr>
          <p:cNvPr name="TextBox 19" id="19"/>
          <p:cNvSpPr txBox="true"/>
          <p:nvPr/>
        </p:nvSpPr>
        <p:spPr>
          <a:xfrm rot="0">
            <a:off x="9751852" y="3961301"/>
            <a:ext cx="6935710" cy="4806850"/>
          </a:xfrm>
          <a:prstGeom prst="rect">
            <a:avLst/>
          </a:prstGeom>
        </p:spPr>
        <p:txBody>
          <a:bodyPr anchor="t" rtlCol="false" tIns="0" lIns="0" bIns="0" rIns="0">
            <a:spAutoFit/>
          </a:bodyPr>
          <a:lstStyle/>
          <a:p>
            <a:pPr algn="l">
              <a:lnSpc>
                <a:spcPts val="3215"/>
              </a:lnSpc>
            </a:pPr>
            <a:r>
              <a:rPr lang="en-US" sz="2845" b="true">
                <a:solidFill>
                  <a:srgbClr val="AEEFE5"/>
                </a:solidFill>
                <a:latin typeface="Montserrat Bold"/>
                <a:ea typeface="Montserrat Bold"/>
                <a:cs typeface="Montserrat Bold"/>
                <a:sym typeface="Montserrat Bold"/>
              </a:rPr>
              <a:t>Why they matter?</a:t>
            </a:r>
          </a:p>
          <a:p>
            <a:pPr algn="l">
              <a:lnSpc>
                <a:spcPts val="3215"/>
              </a:lnSpc>
            </a:pPr>
          </a:p>
          <a:p>
            <a:pPr algn="l">
              <a:lnSpc>
                <a:spcPts val="3215"/>
              </a:lnSpc>
            </a:pPr>
            <a:r>
              <a:rPr lang="en-US" sz="2845">
                <a:solidFill>
                  <a:srgbClr val="FFFFFF"/>
                </a:solidFill>
                <a:latin typeface="Montserrat"/>
                <a:ea typeface="Montserrat"/>
                <a:cs typeface="Montserrat"/>
                <a:sym typeface="Montserrat"/>
              </a:rPr>
              <a:t>Tabular data is extremely common across industries:</a:t>
            </a:r>
          </a:p>
          <a:p>
            <a:pPr algn="l">
              <a:lnSpc>
                <a:spcPts val="3215"/>
              </a:lnSpc>
            </a:pPr>
          </a:p>
          <a:p>
            <a:pPr algn="l" marL="614423" indent="-307211" lvl="1">
              <a:lnSpc>
                <a:spcPts val="3215"/>
              </a:lnSpc>
              <a:buFont typeface="Arial"/>
              <a:buChar char="•"/>
            </a:pPr>
            <a:r>
              <a:rPr lang="en-US" b="true" sz="2845">
                <a:solidFill>
                  <a:srgbClr val="FFFFFF"/>
                </a:solidFill>
                <a:latin typeface="Montserrat Bold"/>
                <a:ea typeface="Montserrat Bold"/>
                <a:cs typeface="Montserrat Bold"/>
                <a:sym typeface="Montserrat Bold"/>
              </a:rPr>
              <a:t>Healthcare</a:t>
            </a:r>
          </a:p>
          <a:p>
            <a:pPr algn="l" marL="614423" indent="-307211" lvl="1">
              <a:lnSpc>
                <a:spcPts val="3215"/>
              </a:lnSpc>
              <a:buFont typeface="Arial"/>
              <a:buChar char="•"/>
            </a:pPr>
            <a:r>
              <a:rPr lang="en-US" b="true" sz="2845">
                <a:solidFill>
                  <a:srgbClr val="FFFFFF"/>
                </a:solidFill>
                <a:latin typeface="Montserrat Bold"/>
                <a:ea typeface="Montserrat Bold"/>
                <a:cs typeface="Montserrat Bold"/>
                <a:sym typeface="Montserrat Bold"/>
              </a:rPr>
              <a:t>Finance</a:t>
            </a:r>
          </a:p>
          <a:p>
            <a:pPr algn="l" marL="614423" indent="-307211" lvl="1">
              <a:lnSpc>
                <a:spcPts val="3215"/>
              </a:lnSpc>
              <a:buFont typeface="Arial"/>
              <a:buChar char="•"/>
            </a:pPr>
            <a:r>
              <a:rPr lang="en-US" b="true" sz="2845">
                <a:solidFill>
                  <a:srgbClr val="FFFFFF"/>
                </a:solidFill>
                <a:latin typeface="Montserrat Bold"/>
                <a:ea typeface="Montserrat Bold"/>
                <a:cs typeface="Montserrat Bold"/>
                <a:sym typeface="Montserrat Bold"/>
              </a:rPr>
              <a:t>E-commerce</a:t>
            </a:r>
          </a:p>
          <a:p>
            <a:pPr algn="l" marL="614423" indent="-307211" lvl="1">
              <a:lnSpc>
                <a:spcPts val="3215"/>
              </a:lnSpc>
              <a:buFont typeface="Arial"/>
              <a:buChar char="•"/>
            </a:pPr>
            <a:r>
              <a:rPr lang="en-US" b="true" sz="2845">
                <a:solidFill>
                  <a:srgbClr val="FFFFFF"/>
                </a:solidFill>
                <a:latin typeface="Montserrat Bold"/>
                <a:ea typeface="Montserrat Bold"/>
                <a:cs typeface="Montserrat Bold"/>
                <a:sym typeface="Montserrat Bold"/>
              </a:rPr>
              <a:t>Manufacturing</a:t>
            </a:r>
          </a:p>
          <a:p>
            <a:pPr algn="l" marL="614423" indent="-307211" lvl="1">
              <a:lnSpc>
                <a:spcPts val="3215"/>
              </a:lnSpc>
              <a:buFont typeface="Arial"/>
              <a:buChar char="•"/>
            </a:pPr>
            <a:r>
              <a:rPr lang="en-US" b="true" sz="2845">
                <a:solidFill>
                  <a:srgbClr val="FFFFFF"/>
                </a:solidFill>
                <a:latin typeface="Montserrat Bold"/>
                <a:ea typeface="Montserrat Bold"/>
                <a:cs typeface="Montserrat Bold"/>
                <a:sym typeface="Montserrat Bold"/>
              </a:rPr>
              <a:t>Energy</a:t>
            </a:r>
          </a:p>
          <a:p>
            <a:pPr algn="l">
              <a:lnSpc>
                <a:spcPts val="3215"/>
              </a:lnSpc>
            </a:pPr>
          </a:p>
          <a:p>
            <a:pPr algn="l">
              <a:lnSpc>
                <a:spcPts val="3215"/>
              </a:lnSpc>
            </a:pPr>
          </a:p>
        </p:txBody>
      </p:sp>
      <p:sp>
        <p:nvSpPr>
          <p:cNvPr name="TextBox 20" id="20"/>
          <p:cNvSpPr txBox="true"/>
          <p:nvPr/>
        </p:nvSpPr>
        <p:spPr>
          <a:xfrm rot="0">
            <a:off x="2060681" y="6374251"/>
            <a:ext cx="4444179" cy="2406550"/>
          </a:xfrm>
          <a:prstGeom prst="rect">
            <a:avLst/>
          </a:prstGeom>
        </p:spPr>
        <p:txBody>
          <a:bodyPr anchor="t" rtlCol="false" tIns="0" lIns="0" bIns="0" rIns="0">
            <a:spAutoFit/>
          </a:bodyPr>
          <a:lstStyle/>
          <a:p>
            <a:pPr algn="l">
              <a:lnSpc>
                <a:spcPts val="3215"/>
              </a:lnSpc>
            </a:pPr>
            <a:r>
              <a:rPr lang="en-US" sz="2845" b="true">
                <a:solidFill>
                  <a:srgbClr val="AEEFE5"/>
                </a:solidFill>
                <a:latin typeface="Montserrat Bold"/>
                <a:ea typeface="Montserrat Bold"/>
                <a:cs typeface="Montserrat Bold"/>
                <a:sym typeface="Montserrat Bold"/>
              </a:rPr>
              <a:t>The ch</a:t>
            </a:r>
            <a:r>
              <a:rPr lang="en-US" sz="2845" b="true">
                <a:solidFill>
                  <a:srgbClr val="AEEFE5"/>
                </a:solidFill>
                <a:latin typeface="Montserrat Bold"/>
                <a:ea typeface="Montserrat Bold"/>
                <a:cs typeface="Montserrat Bold"/>
                <a:sym typeface="Montserrat Bold"/>
              </a:rPr>
              <a:t>allenge:</a:t>
            </a:r>
            <a:r>
              <a:rPr lang="en-US" sz="2845" b="true">
                <a:solidFill>
                  <a:srgbClr val="FEE04E"/>
                </a:solidFill>
                <a:latin typeface="Montserrat Bold"/>
                <a:ea typeface="Montserrat Bold"/>
                <a:cs typeface="Montserrat Bold"/>
                <a:sym typeface="Montserrat Bold"/>
              </a:rPr>
              <a:t> </a:t>
            </a:r>
          </a:p>
          <a:p>
            <a:pPr algn="l">
              <a:lnSpc>
                <a:spcPts val="3215"/>
              </a:lnSpc>
            </a:pPr>
          </a:p>
          <a:p>
            <a:pPr algn="l">
              <a:lnSpc>
                <a:spcPts val="3215"/>
              </a:lnSpc>
            </a:pPr>
            <a:r>
              <a:rPr lang="en-US" sz="2845">
                <a:solidFill>
                  <a:srgbClr val="FFFFFF"/>
                </a:solidFill>
                <a:latin typeface="Montserrat"/>
                <a:ea typeface="Montserrat"/>
                <a:cs typeface="Montserrat"/>
                <a:sym typeface="Montserrat"/>
              </a:rPr>
              <a:t>Finding the best approaches to process this structured data effectively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7311786" y="4804606"/>
            <a:ext cx="9474505" cy="1946580"/>
          </a:xfrm>
          <a:custGeom>
            <a:avLst/>
            <a:gdLst/>
            <a:ahLst/>
            <a:cxnLst/>
            <a:rect r="r" b="b" t="t" l="l"/>
            <a:pathLst>
              <a:path h="1946580" w="9474505">
                <a:moveTo>
                  <a:pt x="0" y="0"/>
                </a:moveTo>
                <a:lnTo>
                  <a:pt x="9474505" y="0"/>
                </a:lnTo>
                <a:lnTo>
                  <a:pt x="9474505" y="1946580"/>
                </a:lnTo>
                <a:lnTo>
                  <a:pt x="0" y="1946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670493" y="1462542"/>
            <a:ext cx="846646" cy="886611"/>
            <a:chOff x="0" y="0"/>
            <a:chExt cx="162591" cy="170265"/>
          </a:xfrm>
        </p:grpSpPr>
        <p:sp>
          <p:nvSpPr>
            <p:cNvPr name="Freeform 8" id="8"/>
            <p:cNvSpPr/>
            <p:nvPr/>
          </p:nvSpPr>
          <p:spPr>
            <a:xfrm flipH="false" flipV="false" rot="0">
              <a:off x="0" y="0"/>
              <a:ext cx="162591" cy="170265"/>
            </a:xfrm>
            <a:custGeom>
              <a:avLst/>
              <a:gdLst/>
              <a:ahLst/>
              <a:cxnLst/>
              <a:rect r="r" b="b" t="t" l="l"/>
              <a:pathLst>
                <a:path h="170265" w="162591">
                  <a:moveTo>
                    <a:pt x="0" y="0"/>
                  </a:moveTo>
                  <a:lnTo>
                    <a:pt x="162591" y="0"/>
                  </a:lnTo>
                  <a:lnTo>
                    <a:pt x="162591" y="170265"/>
                  </a:lnTo>
                  <a:lnTo>
                    <a:pt x="0" y="170265"/>
                  </a:lnTo>
                  <a:close/>
                </a:path>
              </a:pathLst>
            </a:custGeom>
            <a:solidFill>
              <a:srgbClr val="B49CCD">
                <a:alpha val="35686"/>
              </a:srgbClr>
            </a:solidFill>
          </p:spPr>
        </p:sp>
        <p:sp>
          <p:nvSpPr>
            <p:cNvPr name="TextBox 9" id="9"/>
            <p:cNvSpPr txBox="true"/>
            <p:nvPr/>
          </p:nvSpPr>
          <p:spPr>
            <a:xfrm>
              <a:off x="0" y="38100"/>
              <a:ext cx="162591" cy="132165"/>
            </a:xfrm>
            <a:prstGeom prst="rect">
              <a:avLst/>
            </a:prstGeom>
          </p:spPr>
          <p:txBody>
            <a:bodyPr anchor="ctr" rtlCol="false" tIns="50800" lIns="50800" bIns="50800" rIns="50800"/>
            <a:lstStyle/>
            <a:p>
              <a:pPr algn="ctr">
                <a:lnSpc>
                  <a:spcPts val="2163"/>
                </a:lnSpc>
              </a:pPr>
            </a:p>
          </p:txBody>
        </p:sp>
      </p:grpSp>
      <p:sp>
        <p:nvSpPr>
          <p:cNvPr name="Freeform 10" id="10"/>
          <p:cNvSpPr/>
          <p:nvPr/>
        </p:nvSpPr>
        <p:spPr>
          <a:xfrm flipH="false" flipV="false" rot="0">
            <a:off x="1983477" y="1462542"/>
            <a:ext cx="2167043" cy="2174952"/>
          </a:xfrm>
          <a:custGeom>
            <a:avLst/>
            <a:gdLst/>
            <a:ahLst/>
            <a:cxnLst/>
            <a:rect r="r" b="b" t="t" l="l"/>
            <a:pathLst>
              <a:path h="2174952" w="2167043">
                <a:moveTo>
                  <a:pt x="0" y="0"/>
                </a:moveTo>
                <a:lnTo>
                  <a:pt x="2167043" y="0"/>
                </a:lnTo>
                <a:lnTo>
                  <a:pt x="2167043" y="2174951"/>
                </a:lnTo>
                <a:lnTo>
                  <a:pt x="0" y="21749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219899" y="3616461"/>
            <a:ext cx="5035359" cy="1034537"/>
          </a:xfrm>
          <a:custGeom>
            <a:avLst/>
            <a:gdLst/>
            <a:ahLst/>
            <a:cxnLst/>
            <a:rect r="r" b="b" t="t" l="l"/>
            <a:pathLst>
              <a:path h="1034537" w="5035359">
                <a:moveTo>
                  <a:pt x="0" y="0"/>
                </a:moveTo>
                <a:lnTo>
                  <a:pt x="5035359" y="0"/>
                </a:lnTo>
                <a:lnTo>
                  <a:pt x="5035359" y="1034538"/>
                </a:lnTo>
                <a:lnTo>
                  <a:pt x="0" y="10345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166031" y="6924556"/>
            <a:ext cx="7406843" cy="1521770"/>
          </a:xfrm>
          <a:custGeom>
            <a:avLst/>
            <a:gdLst/>
            <a:ahLst/>
            <a:cxnLst/>
            <a:rect r="r" b="b" t="t" l="l"/>
            <a:pathLst>
              <a:path h="1521770" w="7406843">
                <a:moveTo>
                  <a:pt x="0" y="0"/>
                </a:moveTo>
                <a:lnTo>
                  <a:pt x="7406844" y="0"/>
                </a:lnTo>
                <a:lnTo>
                  <a:pt x="7406844" y="1521770"/>
                </a:lnTo>
                <a:lnTo>
                  <a:pt x="0" y="1521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983477" y="4226996"/>
            <a:ext cx="4855422" cy="4150165"/>
          </a:xfrm>
          <a:prstGeom prst="rect">
            <a:avLst/>
          </a:prstGeom>
        </p:spPr>
        <p:txBody>
          <a:bodyPr anchor="t" rtlCol="false" tIns="0" lIns="0" bIns="0" rIns="0">
            <a:spAutoFit/>
          </a:bodyPr>
          <a:lstStyle/>
          <a:p>
            <a:pPr algn="l">
              <a:lnSpc>
                <a:spcPts val="5431"/>
              </a:lnSpc>
            </a:pPr>
            <a:r>
              <a:rPr lang="en-US" sz="5431">
                <a:solidFill>
                  <a:srgbClr val="B49CCD"/>
                </a:solidFill>
                <a:latin typeface="Gagalin"/>
                <a:ea typeface="Gagalin"/>
                <a:cs typeface="Gagalin"/>
                <a:sym typeface="Gagalin"/>
              </a:rPr>
              <a:t>SIX</a:t>
            </a:r>
            <a:r>
              <a:rPr lang="en-US" sz="5431">
                <a:solidFill>
                  <a:srgbClr val="FFFFFF"/>
                </a:solidFill>
                <a:latin typeface="Gagalin"/>
                <a:ea typeface="Gagalin"/>
                <a:cs typeface="Gagalin"/>
                <a:sym typeface="Gagalin"/>
              </a:rPr>
              <a:t> MAIN APPROACHES FOR DEEP NEURAL NETWORKS ON TABULAR DATA</a:t>
            </a:r>
          </a:p>
        </p:txBody>
      </p:sp>
      <p:sp>
        <p:nvSpPr>
          <p:cNvPr name="TextBox 14" id="14"/>
          <p:cNvSpPr txBox="true"/>
          <p:nvPr/>
        </p:nvSpPr>
        <p:spPr>
          <a:xfrm rot="0">
            <a:off x="8390280" y="5113036"/>
            <a:ext cx="7317517" cy="1218322"/>
          </a:xfrm>
          <a:prstGeom prst="rect">
            <a:avLst/>
          </a:prstGeom>
        </p:spPr>
        <p:txBody>
          <a:bodyPr anchor="t" rtlCol="false" tIns="0" lIns="0" bIns="0" rIns="0">
            <a:spAutoFit/>
          </a:bodyPr>
          <a:lstStyle/>
          <a:p>
            <a:pPr algn="l">
              <a:lnSpc>
                <a:spcPts val="3263"/>
              </a:lnSpc>
            </a:pPr>
            <a:r>
              <a:rPr lang="en-US" sz="2887">
                <a:solidFill>
                  <a:srgbClr val="FFFFFF"/>
                </a:solidFill>
                <a:latin typeface="Montserrat"/>
                <a:ea typeface="Montserrat"/>
                <a:cs typeface="Montserrat"/>
                <a:sym typeface="Montserrat"/>
              </a:rPr>
              <a:t>They’re improved versions of a basic type of artificial intelligence model called a </a:t>
            </a:r>
            <a:r>
              <a:rPr lang="en-US" sz="2887" b="true">
                <a:solidFill>
                  <a:srgbClr val="AEEFE5"/>
                </a:solidFill>
                <a:latin typeface="Montserrat Bold"/>
                <a:ea typeface="Montserrat Bold"/>
                <a:cs typeface="Montserrat Bold"/>
                <a:sym typeface="Montserrat Bold"/>
              </a:rPr>
              <a:t>Multi-Layer Perceptron (MLP)</a:t>
            </a:r>
            <a:r>
              <a:rPr lang="en-US" sz="2887">
                <a:solidFill>
                  <a:srgbClr val="FFFFFF"/>
                </a:solidFill>
                <a:latin typeface="Montserrat"/>
                <a:ea typeface="Montserrat"/>
                <a:cs typeface="Montserrat"/>
                <a:sym typeface="Montserrat"/>
              </a:rPr>
              <a:t> </a:t>
            </a:r>
          </a:p>
        </p:txBody>
      </p:sp>
      <p:sp>
        <p:nvSpPr>
          <p:cNvPr name="TextBox 15" id="15"/>
          <p:cNvSpPr txBox="true"/>
          <p:nvPr/>
        </p:nvSpPr>
        <p:spPr>
          <a:xfrm rot="0">
            <a:off x="8708319" y="1394837"/>
            <a:ext cx="6864556" cy="1692615"/>
          </a:xfrm>
          <a:prstGeom prst="rect">
            <a:avLst/>
          </a:prstGeom>
        </p:spPr>
        <p:txBody>
          <a:bodyPr anchor="t" rtlCol="false" tIns="0" lIns="0" bIns="0" rIns="0">
            <a:spAutoFit/>
          </a:bodyPr>
          <a:lstStyle/>
          <a:p>
            <a:pPr algn="l">
              <a:lnSpc>
                <a:spcPts val="4482"/>
              </a:lnSpc>
            </a:pPr>
            <a:r>
              <a:rPr lang="en-US" sz="3966" b="true">
                <a:solidFill>
                  <a:srgbClr val="B49CCD"/>
                </a:solidFill>
                <a:latin typeface="Montserrat Bold"/>
                <a:ea typeface="Montserrat Bold"/>
                <a:cs typeface="Montserrat Bold"/>
                <a:sym typeface="Montserrat Bold"/>
              </a:rPr>
              <a:t>MLP variants:</a:t>
            </a:r>
            <a:r>
              <a:rPr lang="en-US" sz="3966" b="true">
                <a:solidFill>
                  <a:srgbClr val="FFFFFF"/>
                </a:solidFill>
                <a:latin typeface="Montserrat Bold"/>
                <a:ea typeface="Montserrat Bold"/>
                <a:cs typeface="Montserrat Bold"/>
                <a:sym typeface="Montserrat Bold"/>
              </a:rPr>
              <a:t> Enhanced versions of standard Multi-Layer Perceptrons</a:t>
            </a:r>
          </a:p>
        </p:txBody>
      </p:sp>
      <p:sp>
        <p:nvSpPr>
          <p:cNvPr name="TextBox 16" id="16"/>
          <p:cNvSpPr txBox="true"/>
          <p:nvPr/>
        </p:nvSpPr>
        <p:spPr>
          <a:xfrm rot="0">
            <a:off x="7862977" y="1668108"/>
            <a:ext cx="461678" cy="494528"/>
          </a:xfrm>
          <a:prstGeom prst="rect">
            <a:avLst/>
          </a:prstGeom>
        </p:spPr>
        <p:txBody>
          <a:bodyPr anchor="t" rtlCol="false" tIns="0" lIns="0" bIns="0" rIns="0">
            <a:spAutoFit/>
          </a:bodyPr>
          <a:lstStyle/>
          <a:p>
            <a:pPr algn="l">
              <a:lnSpc>
                <a:spcPts val="3844"/>
              </a:lnSpc>
            </a:pPr>
            <a:r>
              <a:rPr lang="en-US" sz="3402" b="true">
                <a:solidFill>
                  <a:srgbClr val="FFFFFF"/>
                </a:solidFill>
                <a:latin typeface="Montserrat Bold"/>
                <a:ea typeface="Montserrat Bold"/>
                <a:cs typeface="Montserrat Bold"/>
                <a:sym typeface="Montserrat Bold"/>
              </a:rPr>
              <a:t>1.</a:t>
            </a:r>
          </a:p>
        </p:txBody>
      </p:sp>
      <p:sp>
        <p:nvSpPr>
          <p:cNvPr name="TextBox 17" id="17"/>
          <p:cNvSpPr txBox="true"/>
          <p:nvPr/>
        </p:nvSpPr>
        <p:spPr>
          <a:xfrm rot="0">
            <a:off x="7408995" y="3945909"/>
            <a:ext cx="4657167" cy="410523"/>
          </a:xfrm>
          <a:prstGeom prst="rect">
            <a:avLst/>
          </a:prstGeom>
        </p:spPr>
        <p:txBody>
          <a:bodyPr anchor="t" rtlCol="false" tIns="0" lIns="0" bIns="0" rIns="0">
            <a:spAutoFit/>
          </a:bodyPr>
          <a:lstStyle/>
          <a:p>
            <a:pPr algn="l">
              <a:lnSpc>
                <a:spcPts val="3263"/>
              </a:lnSpc>
            </a:pPr>
            <a:r>
              <a:rPr lang="en-US" sz="2887" b="true">
                <a:solidFill>
                  <a:srgbClr val="FFFFFF"/>
                </a:solidFill>
                <a:latin typeface="Montserrat Bold"/>
                <a:ea typeface="Montserrat Bold"/>
                <a:cs typeface="Montserrat Bold"/>
                <a:sym typeface="Montserrat Bold"/>
              </a:rPr>
              <a:t>What are MLP variants?</a:t>
            </a:r>
          </a:p>
        </p:txBody>
      </p:sp>
      <p:sp>
        <p:nvSpPr>
          <p:cNvPr name="TextBox 18" id="18"/>
          <p:cNvSpPr txBox="true"/>
          <p:nvPr/>
        </p:nvSpPr>
        <p:spPr>
          <a:xfrm rot="0">
            <a:off x="8517139" y="7213223"/>
            <a:ext cx="6966521" cy="1071200"/>
          </a:xfrm>
          <a:prstGeom prst="rect">
            <a:avLst/>
          </a:prstGeom>
        </p:spPr>
        <p:txBody>
          <a:bodyPr anchor="t" rtlCol="false" tIns="0" lIns="0" bIns="0" rIns="0">
            <a:spAutoFit/>
          </a:bodyPr>
          <a:lstStyle/>
          <a:p>
            <a:pPr algn="l">
              <a:lnSpc>
                <a:spcPts val="2875"/>
              </a:lnSpc>
            </a:pPr>
            <a:r>
              <a:rPr lang="en-US" sz="2544">
                <a:solidFill>
                  <a:srgbClr val="FFFFFF"/>
                </a:solidFill>
                <a:latin typeface="Montserrat"/>
                <a:ea typeface="Montserrat"/>
                <a:cs typeface="Montserrat"/>
                <a:sym typeface="Montserrat"/>
              </a:rPr>
              <a:t>Like a really smart calculator made of layers that help computers learn patterns in data.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4076431" y="395004"/>
            <a:ext cx="3681150" cy="756309"/>
          </a:xfrm>
          <a:custGeom>
            <a:avLst/>
            <a:gdLst/>
            <a:ahLst/>
            <a:cxnLst/>
            <a:rect r="r" b="b" t="t" l="l"/>
            <a:pathLst>
              <a:path h="756309" w="3681150">
                <a:moveTo>
                  <a:pt x="0" y="0"/>
                </a:moveTo>
                <a:lnTo>
                  <a:pt x="3681150" y="0"/>
                </a:lnTo>
                <a:lnTo>
                  <a:pt x="3681150" y="756309"/>
                </a:lnTo>
                <a:lnTo>
                  <a:pt x="0" y="7563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391853" y="5577869"/>
            <a:ext cx="3424393" cy="703557"/>
          </a:xfrm>
          <a:custGeom>
            <a:avLst/>
            <a:gdLst/>
            <a:ahLst/>
            <a:cxnLst/>
            <a:rect r="r" b="b" t="t" l="l"/>
            <a:pathLst>
              <a:path h="703557" w="3424393">
                <a:moveTo>
                  <a:pt x="0" y="0"/>
                </a:moveTo>
                <a:lnTo>
                  <a:pt x="3424393" y="0"/>
                </a:lnTo>
                <a:lnTo>
                  <a:pt x="3424393" y="703557"/>
                </a:lnTo>
                <a:lnTo>
                  <a:pt x="0" y="703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447187" y="5683061"/>
            <a:ext cx="2400399" cy="493173"/>
          </a:xfrm>
          <a:custGeom>
            <a:avLst/>
            <a:gdLst/>
            <a:ahLst/>
            <a:cxnLst/>
            <a:rect r="r" b="b" t="t" l="l"/>
            <a:pathLst>
              <a:path h="493173" w="2400399">
                <a:moveTo>
                  <a:pt x="0" y="0"/>
                </a:moveTo>
                <a:lnTo>
                  <a:pt x="2400399" y="0"/>
                </a:lnTo>
                <a:lnTo>
                  <a:pt x="2400399" y="493173"/>
                </a:lnTo>
                <a:lnTo>
                  <a:pt x="0" y="4931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076431" y="6500501"/>
            <a:ext cx="4900890" cy="3484087"/>
          </a:xfrm>
          <a:custGeom>
            <a:avLst/>
            <a:gdLst/>
            <a:ahLst/>
            <a:cxnLst/>
            <a:rect r="r" b="b" t="t" l="l"/>
            <a:pathLst>
              <a:path h="3484087" w="4900890">
                <a:moveTo>
                  <a:pt x="0" y="0"/>
                </a:moveTo>
                <a:lnTo>
                  <a:pt x="4900890" y="0"/>
                </a:lnTo>
                <a:lnTo>
                  <a:pt x="4900890" y="3484088"/>
                </a:lnTo>
                <a:lnTo>
                  <a:pt x="0" y="3484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193395" y="6363763"/>
            <a:ext cx="5346165" cy="3800637"/>
          </a:xfrm>
          <a:custGeom>
            <a:avLst/>
            <a:gdLst/>
            <a:ahLst/>
            <a:cxnLst/>
            <a:rect r="r" b="b" t="t" l="l"/>
            <a:pathLst>
              <a:path h="3800637" w="5346165">
                <a:moveTo>
                  <a:pt x="0" y="0"/>
                </a:moveTo>
                <a:lnTo>
                  <a:pt x="5346165" y="0"/>
                </a:lnTo>
                <a:lnTo>
                  <a:pt x="5346165" y="3800637"/>
                </a:lnTo>
                <a:lnTo>
                  <a:pt x="0" y="38006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950440" y="1369830"/>
            <a:ext cx="10147082" cy="1143853"/>
          </a:xfrm>
          <a:custGeom>
            <a:avLst/>
            <a:gdLst/>
            <a:ahLst/>
            <a:cxnLst/>
            <a:rect r="r" b="b" t="t" l="l"/>
            <a:pathLst>
              <a:path h="1143853" w="10147082">
                <a:moveTo>
                  <a:pt x="0" y="0"/>
                </a:moveTo>
                <a:lnTo>
                  <a:pt x="10147082" y="0"/>
                </a:lnTo>
                <a:lnTo>
                  <a:pt x="10147082" y="1143853"/>
                </a:lnTo>
                <a:lnTo>
                  <a:pt x="0" y="11438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135876" y="1195743"/>
            <a:ext cx="11028531" cy="1122269"/>
          </a:xfrm>
          <a:prstGeom prst="rect">
            <a:avLst/>
          </a:prstGeom>
        </p:spPr>
        <p:txBody>
          <a:bodyPr anchor="t" rtlCol="false" tIns="0" lIns="0" bIns="0" rIns="0">
            <a:spAutoFit/>
          </a:bodyPr>
          <a:lstStyle/>
          <a:p>
            <a:pPr algn="l">
              <a:lnSpc>
                <a:spcPts val="2207"/>
              </a:lnSpc>
            </a:pPr>
          </a:p>
          <a:p>
            <a:pPr algn="l">
              <a:lnSpc>
                <a:spcPts val="2207"/>
              </a:lnSpc>
            </a:pPr>
            <a:r>
              <a:rPr lang="en-US" b="true" sz="1953">
                <a:solidFill>
                  <a:srgbClr val="FFFFFF"/>
                </a:solidFill>
                <a:latin typeface="Montserrat Bold"/>
                <a:ea typeface="Montserrat Bold"/>
                <a:cs typeface="Montserrat Bold"/>
                <a:sym typeface="Montserrat Bold"/>
              </a:rPr>
              <a:t> </a:t>
            </a:r>
            <a:r>
              <a:rPr lang="en-US" sz="1953">
                <a:solidFill>
                  <a:srgbClr val="FFFFFF"/>
                </a:solidFill>
                <a:latin typeface="Montserrat"/>
                <a:ea typeface="Montserrat"/>
                <a:cs typeface="Montserrat"/>
                <a:sym typeface="Montserrat"/>
              </a:rPr>
              <a:t>1- </a:t>
            </a:r>
            <a:r>
              <a:rPr lang="en-US" b="true" sz="1953">
                <a:solidFill>
                  <a:srgbClr val="FFFFFF"/>
                </a:solidFill>
                <a:latin typeface="Montserrat Bold"/>
                <a:ea typeface="Montserrat Bold"/>
                <a:cs typeface="Montserrat Bold"/>
                <a:sym typeface="Montserrat Bold"/>
              </a:rPr>
              <a:t>Customer Segmentation in Marketing</a:t>
            </a:r>
          </a:p>
          <a:p>
            <a:pPr algn="l">
              <a:lnSpc>
                <a:spcPts val="2207"/>
              </a:lnSpc>
            </a:pPr>
            <a:r>
              <a:rPr lang="en-US" sz="1953">
                <a:solidFill>
                  <a:srgbClr val="FFFFFF"/>
                </a:solidFill>
                <a:latin typeface="Montserrat"/>
                <a:ea typeface="Montserrat"/>
                <a:cs typeface="Montserrat"/>
                <a:sym typeface="Montserrat"/>
              </a:rPr>
              <a:t>Grouping customers based on what they buy.</a:t>
            </a:r>
          </a:p>
          <a:p>
            <a:pPr algn="l" marL="421821" indent="-210911" lvl="1">
              <a:lnSpc>
                <a:spcPts val="2207"/>
              </a:lnSpc>
              <a:buFont typeface="Arial"/>
              <a:buChar char="•"/>
            </a:pPr>
            <a:r>
              <a:rPr lang="en-US" b="true" sz="1953">
                <a:solidFill>
                  <a:srgbClr val="FEE04E"/>
                </a:solidFill>
                <a:latin typeface="Montserrat Bold"/>
                <a:ea typeface="Montserrat Bold"/>
                <a:cs typeface="Montserrat Bold"/>
                <a:sym typeface="Montserrat Bold"/>
              </a:rPr>
              <a:t>Advantage</a:t>
            </a:r>
            <a:r>
              <a:rPr lang="en-US" sz="1953">
                <a:solidFill>
                  <a:srgbClr val="FFFFFF"/>
                </a:solidFill>
                <a:latin typeface="Montserrat"/>
                <a:ea typeface="Montserrat"/>
                <a:cs typeface="Montserrat"/>
                <a:sym typeface="Montserrat"/>
              </a:rPr>
              <a:t>: Simple to set up, making it easier for business teams to use.</a:t>
            </a:r>
          </a:p>
        </p:txBody>
      </p:sp>
      <p:sp>
        <p:nvSpPr>
          <p:cNvPr name="TextBox 13" id="13"/>
          <p:cNvSpPr txBox="true"/>
          <p:nvPr/>
        </p:nvSpPr>
        <p:spPr>
          <a:xfrm rot="0">
            <a:off x="4216340" y="635187"/>
            <a:ext cx="3759487" cy="294993"/>
          </a:xfrm>
          <a:prstGeom prst="rect">
            <a:avLst/>
          </a:prstGeom>
        </p:spPr>
        <p:txBody>
          <a:bodyPr anchor="t" rtlCol="false" tIns="0" lIns="0" bIns="0" rIns="0">
            <a:spAutoFit/>
          </a:bodyPr>
          <a:lstStyle/>
          <a:p>
            <a:pPr algn="l">
              <a:lnSpc>
                <a:spcPts val="2385"/>
              </a:lnSpc>
            </a:pPr>
            <a:r>
              <a:rPr lang="en-US" sz="2111" b="true">
                <a:solidFill>
                  <a:srgbClr val="FFFFFF"/>
                </a:solidFill>
                <a:latin typeface="Montserrat Bold"/>
                <a:ea typeface="Montserrat Bold"/>
                <a:cs typeface="Montserrat Bold"/>
                <a:sym typeface="Montserrat Bold"/>
              </a:rPr>
              <a:t>Real-world applications</a:t>
            </a:r>
          </a:p>
        </p:txBody>
      </p:sp>
      <p:sp>
        <p:nvSpPr>
          <p:cNvPr name="TextBox 14" id="14"/>
          <p:cNvSpPr txBox="true"/>
          <p:nvPr/>
        </p:nvSpPr>
        <p:spPr>
          <a:xfrm rot="0">
            <a:off x="4548678" y="5779892"/>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Why they are useful</a:t>
            </a:r>
          </a:p>
        </p:txBody>
      </p:sp>
      <p:sp>
        <p:nvSpPr>
          <p:cNvPr name="TextBox 15" id="15"/>
          <p:cNvSpPr txBox="true"/>
          <p:nvPr/>
        </p:nvSpPr>
        <p:spPr>
          <a:xfrm rot="0">
            <a:off x="9591551" y="5761864"/>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Challenges</a:t>
            </a:r>
          </a:p>
        </p:txBody>
      </p:sp>
      <p:sp>
        <p:nvSpPr>
          <p:cNvPr name="Freeform 16" id="16"/>
          <p:cNvSpPr/>
          <p:nvPr/>
        </p:nvSpPr>
        <p:spPr>
          <a:xfrm flipH="false" flipV="false" rot="0">
            <a:off x="3950440" y="2733779"/>
            <a:ext cx="10962167" cy="1235735"/>
          </a:xfrm>
          <a:custGeom>
            <a:avLst/>
            <a:gdLst/>
            <a:ahLst/>
            <a:cxnLst/>
            <a:rect r="r" b="b" t="t" l="l"/>
            <a:pathLst>
              <a:path h="1235735" w="10962167">
                <a:moveTo>
                  <a:pt x="0" y="0"/>
                </a:moveTo>
                <a:lnTo>
                  <a:pt x="10962167" y="0"/>
                </a:lnTo>
                <a:lnTo>
                  <a:pt x="10962167" y="1235735"/>
                </a:lnTo>
                <a:lnTo>
                  <a:pt x="0" y="12357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4135876" y="2570833"/>
            <a:ext cx="10880120" cy="1292762"/>
          </a:xfrm>
          <a:prstGeom prst="rect">
            <a:avLst/>
          </a:prstGeom>
        </p:spPr>
        <p:txBody>
          <a:bodyPr anchor="t" rtlCol="false" tIns="0" lIns="0" bIns="0" rIns="0">
            <a:spAutoFit/>
          </a:bodyPr>
          <a:lstStyle/>
          <a:p>
            <a:pPr algn="l">
              <a:lnSpc>
                <a:spcPts val="2086"/>
              </a:lnSpc>
            </a:pPr>
          </a:p>
          <a:p>
            <a:pPr algn="l">
              <a:lnSpc>
                <a:spcPts val="2086"/>
              </a:lnSpc>
            </a:pPr>
            <a:r>
              <a:rPr lang="en-US" sz="1846">
                <a:solidFill>
                  <a:srgbClr val="FFFFFF"/>
                </a:solidFill>
                <a:latin typeface="Montserrat"/>
                <a:ea typeface="Montserrat"/>
                <a:cs typeface="Montserrat"/>
                <a:sym typeface="Montserrat"/>
              </a:rPr>
              <a:t>2-</a:t>
            </a:r>
            <a:r>
              <a:rPr lang="en-US" sz="1846" b="true">
                <a:solidFill>
                  <a:srgbClr val="FFFFFF"/>
                </a:solidFill>
                <a:latin typeface="Montserrat Bold"/>
                <a:ea typeface="Montserrat Bold"/>
                <a:cs typeface="Montserrat Bold"/>
                <a:sym typeface="Montserrat Bold"/>
              </a:rPr>
              <a:t> Financial Forecasting</a:t>
            </a:r>
          </a:p>
          <a:p>
            <a:pPr algn="l">
              <a:lnSpc>
                <a:spcPts val="2086"/>
              </a:lnSpc>
            </a:pPr>
            <a:r>
              <a:rPr lang="en-US" sz="1846">
                <a:solidFill>
                  <a:srgbClr val="FFFFFF"/>
                </a:solidFill>
                <a:latin typeface="Montserrat"/>
                <a:ea typeface="Montserrat"/>
                <a:cs typeface="Montserrat"/>
                <a:sym typeface="Montserrat"/>
              </a:rPr>
              <a:t>Predicting things like market trends and financial outcomes.</a:t>
            </a:r>
          </a:p>
          <a:p>
            <a:pPr algn="l" marL="398583" indent="-199292" lvl="1">
              <a:lnSpc>
                <a:spcPts val="2086"/>
              </a:lnSpc>
              <a:buFont typeface="Arial"/>
              <a:buChar char="•"/>
            </a:pPr>
            <a:r>
              <a:rPr lang="en-US" b="true" sz="1846">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Special features in models like ResNet help keep information flowing for more accurate predictions.</a:t>
            </a:r>
          </a:p>
        </p:txBody>
      </p:sp>
      <p:sp>
        <p:nvSpPr>
          <p:cNvPr name="TextBox 18" id="18"/>
          <p:cNvSpPr txBox="true"/>
          <p:nvPr/>
        </p:nvSpPr>
        <p:spPr>
          <a:xfrm rot="0">
            <a:off x="4382509" y="6977424"/>
            <a:ext cx="4145903" cy="2856230"/>
          </a:xfrm>
          <a:prstGeom prst="rect">
            <a:avLst/>
          </a:prstGeom>
        </p:spPr>
        <p:txBody>
          <a:bodyPr anchor="t" rtlCol="false" tIns="0" lIns="0" bIns="0" rIns="0">
            <a:spAutoFit/>
          </a:bodyPr>
          <a:lstStyle/>
          <a:p>
            <a:pPr algn="l" marL="431801" indent="-215900" lvl="1">
              <a:lnSpc>
                <a:spcPts val="2260"/>
              </a:lnSpc>
              <a:buFont typeface="Arial"/>
              <a:buChar char="•"/>
            </a:pPr>
            <a:r>
              <a:rPr lang="en-US" sz="2000">
                <a:solidFill>
                  <a:srgbClr val="AEEFE5"/>
                </a:solidFill>
                <a:latin typeface="Montserrat"/>
                <a:ea typeface="Montserrat"/>
                <a:cs typeface="Montserrat"/>
                <a:sym typeface="Montserrat"/>
              </a:rPr>
              <a:t>Easy to use</a:t>
            </a:r>
            <a:r>
              <a:rPr lang="en-US" sz="2000">
                <a:solidFill>
                  <a:srgbClr val="FFFFFF"/>
                </a:solidFill>
                <a:latin typeface="Montserrat"/>
                <a:ea typeface="Montserrat"/>
                <a:cs typeface="Montserrat"/>
                <a:sym typeface="Montserrat"/>
              </a:rPr>
              <a:t>, even if you don’t have deep knowledge in AI.</a:t>
            </a:r>
          </a:p>
          <a:p>
            <a:pPr algn="l" marL="431801" indent="-215900" lvl="1">
              <a:lnSpc>
                <a:spcPts val="2260"/>
              </a:lnSpc>
              <a:buFont typeface="Arial"/>
              <a:buChar char="•"/>
            </a:pPr>
            <a:r>
              <a:rPr lang="en-US" sz="2000">
                <a:solidFill>
                  <a:srgbClr val="AEEFE5"/>
                </a:solidFill>
                <a:latin typeface="Montserrat"/>
                <a:ea typeface="Montserrat"/>
                <a:cs typeface="Montserrat"/>
                <a:sym typeface="Montserrat"/>
              </a:rPr>
              <a:t>Flexible</a:t>
            </a:r>
            <a:r>
              <a:rPr lang="en-US" sz="2000">
                <a:solidFill>
                  <a:srgbClr val="FFFFFF"/>
                </a:solidFill>
                <a:latin typeface="Montserrat"/>
                <a:ea typeface="Montserrat"/>
                <a:cs typeface="Montserrat"/>
                <a:sym typeface="Montserrat"/>
              </a:rPr>
              <a:t>: They work well for a variety of prediction tasks.</a:t>
            </a:r>
          </a:p>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Some versions, like </a:t>
            </a:r>
            <a:r>
              <a:rPr lang="en-US" sz="2000">
                <a:solidFill>
                  <a:srgbClr val="AEEFE5"/>
                </a:solidFill>
                <a:latin typeface="Montserrat"/>
                <a:ea typeface="Montserrat"/>
                <a:cs typeface="Montserrat"/>
                <a:sym typeface="Montserrat"/>
              </a:rPr>
              <a:t>SNN</a:t>
            </a:r>
            <a:r>
              <a:rPr lang="en-US" sz="2000">
                <a:solidFill>
                  <a:srgbClr val="FFFFFF"/>
                </a:solidFill>
                <a:latin typeface="Montserrat"/>
                <a:ea typeface="Montserrat"/>
                <a:cs typeface="Montserrat"/>
                <a:sym typeface="Montserrat"/>
              </a:rPr>
              <a:t> (Self-normalizing neural network) , are good for working with messy or inconsistent data.</a:t>
            </a:r>
          </a:p>
          <a:p>
            <a:pPr algn="l">
              <a:lnSpc>
                <a:spcPts val="2260"/>
              </a:lnSpc>
            </a:pPr>
          </a:p>
        </p:txBody>
      </p:sp>
      <p:sp>
        <p:nvSpPr>
          <p:cNvPr name="TextBox 19" id="19"/>
          <p:cNvSpPr txBox="true"/>
          <p:nvPr/>
        </p:nvSpPr>
        <p:spPr>
          <a:xfrm rot="0">
            <a:off x="9457190" y="6977424"/>
            <a:ext cx="4818577" cy="2856230"/>
          </a:xfrm>
          <a:prstGeom prst="rect">
            <a:avLst/>
          </a:prstGeom>
        </p:spPr>
        <p:txBody>
          <a:bodyPr anchor="t" rtlCol="false" tIns="0" lIns="0" bIns="0" rIns="0">
            <a:spAutoFit/>
          </a:bodyPr>
          <a:lstStyle/>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They can </a:t>
            </a:r>
            <a:r>
              <a:rPr lang="en-US" sz="2000">
                <a:solidFill>
                  <a:srgbClr val="AEEFE5"/>
                </a:solidFill>
                <a:latin typeface="Montserrat"/>
                <a:ea typeface="Montserrat"/>
                <a:cs typeface="Montserrat"/>
                <a:sym typeface="Montserrat"/>
              </a:rPr>
              <a:t>miss complex connections</a:t>
            </a:r>
            <a:r>
              <a:rPr lang="en-US" sz="2000">
                <a:solidFill>
                  <a:srgbClr val="FFFFFF"/>
                </a:solidFill>
                <a:latin typeface="Montserrat"/>
                <a:ea typeface="Montserrat"/>
                <a:cs typeface="Montserrat"/>
                <a:sym typeface="Montserrat"/>
              </a:rPr>
              <a:t> between data points.</a:t>
            </a:r>
          </a:p>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They often work similarly to each other, so there’s </a:t>
            </a:r>
            <a:r>
              <a:rPr lang="en-US" sz="2000">
                <a:solidFill>
                  <a:srgbClr val="AEEFE5"/>
                </a:solidFill>
                <a:latin typeface="Montserrat"/>
                <a:ea typeface="Montserrat"/>
                <a:cs typeface="Montserrat"/>
                <a:sym typeface="Montserrat"/>
              </a:rPr>
              <a:t>not always a huge advantage in picking one version over another</a:t>
            </a:r>
            <a:r>
              <a:rPr lang="en-US" sz="2000">
                <a:solidFill>
                  <a:srgbClr val="FFFFFF"/>
                </a:solidFill>
                <a:latin typeface="Montserrat"/>
                <a:ea typeface="Montserrat"/>
                <a:cs typeface="Montserrat"/>
                <a:sym typeface="Montserrat"/>
              </a:rPr>
              <a:t>.</a:t>
            </a:r>
          </a:p>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They </a:t>
            </a:r>
            <a:r>
              <a:rPr lang="en-US" sz="2000">
                <a:solidFill>
                  <a:srgbClr val="AEEFE5"/>
                </a:solidFill>
                <a:latin typeface="Montserrat"/>
                <a:ea typeface="Montserrat"/>
                <a:cs typeface="Montserrat"/>
                <a:sym typeface="Montserrat"/>
              </a:rPr>
              <a:t>may need more fine-tuning than other methods</a:t>
            </a:r>
            <a:r>
              <a:rPr lang="en-US" sz="2000">
                <a:solidFill>
                  <a:srgbClr val="FFFFFF"/>
                </a:solidFill>
                <a:latin typeface="Montserrat"/>
                <a:ea typeface="Montserrat"/>
                <a:cs typeface="Montserrat"/>
                <a:sym typeface="Montserrat"/>
              </a:rPr>
              <a:t> (like decision trees) for specific tasks.</a:t>
            </a:r>
          </a:p>
          <a:p>
            <a:pPr algn="l">
              <a:lnSpc>
                <a:spcPts val="2260"/>
              </a:lnSpc>
            </a:pPr>
          </a:p>
        </p:txBody>
      </p:sp>
      <p:sp>
        <p:nvSpPr>
          <p:cNvPr name="Freeform 20" id="20"/>
          <p:cNvSpPr/>
          <p:nvPr/>
        </p:nvSpPr>
        <p:spPr>
          <a:xfrm flipH="false" flipV="false" rot="0">
            <a:off x="3950440" y="4172899"/>
            <a:ext cx="10689025" cy="1204945"/>
          </a:xfrm>
          <a:custGeom>
            <a:avLst/>
            <a:gdLst/>
            <a:ahLst/>
            <a:cxnLst/>
            <a:rect r="r" b="b" t="t" l="l"/>
            <a:pathLst>
              <a:path h="1204945" w="10689025">
                <a:moveTo>
                  <a:pt x="0" y="0"/>
                </a:moveTo>
                <a:lnTo>
                  <a:pt x="10689025" y="0"/>
                </a:lnTo>
                <a:lnTo>
                  <a:pt x="10689025" y="1204945"/>
                </a:lnTo>
                <a:lnTo>
                  <a:pt x="0" y="1204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4091870" y="4417189"/>
            <a:ext cx="10694894" cy="778412"/>
          </a:xfrm>
          <a:prstGeom prst="rect">
            <a:avLst/>
          </a:prstGeom>
        </p:spPr>
        <p:txBody>
          <a:bodyPr anchor="t" rtlCol="false" tIns="0" lIns="0" bIns="0" rIns="0">
            <a:spAutoFit/>
          </a:bodyPr>
          <a:lstStyle/>
          <a:p>
            <a:pPr algn="l">
              <a:lnSpc>
                <a:spcPts val="2086"/>
              </a:lnSpc>
            </a:pPr>
            <a:r>
              <a:rPr lang="en-US" sz="1846">
                <a:solidFill>
                  <a:srgbClr val="FFFFFF"/>
                </a:solidFill>
                <a:latin typeface="Montserrat"/>
                <a:ea typeface="Montserrat"/>
                <a:cs typeface="Montserrat"/>
                <a:sym typeface="Montserrat"/>
              </a:rPr>
              <a:t>3- </a:t>
            </a:r>
            <a:r>
              <a:rPr lang="en-US" sz="1846" b="true">
                <a:solidFill>
                  <a:srgbClr val="FFFFFF"/>
                </a:solidFill>
                <a:latin typeface="Montserrat Bold"/>
                <a:ea typeface="Montserrat Bold"/>
                <a:cs typeface="Montserrat Bold"/>
                <a:sym typeface="Montserrat Bold"/>
              </a:rPr>
              <a:t>Fraud Detection</a:t>
            </a:r>
          </a:p>
          <a:p>
            <a:pPr algn="l" marL="398583" indent="-199292" lvl="1">
              <a:lnSpc>
                <a:spcPts val="2086"/>
              </a:lnSpc>
              <a:buFont typeface="Arial"/>
              <a:buChar char="•"/>
            </a:pPr>
            <a:r>
              <a:rPr lang="en-US" sz="1846">
                <a:solidFill>
                  <a:srgbClr val="FFFFFF"/>
                </a:solidFill>
                <a:latin typeface="Montserrat"/>
                <a:ea typeface="Montserrat"/>
                <a:cs typeface="Montserrat"/>
                <a:sym typeface="Montserrat"/>
              </a:rPr>
              <a:t>Spotting suspicious transactions, like credit card fraud.</a:t>
            </a:r>
          </a:p>
          <a:p>
            <a:pPr algn="l">
              <a:lnSpc>
                <a:spcPts val="2086"/>
              </a:lnSpc>
            </a:pPr>
            <a:r>
              <a:rPr lang="en-US" sz="1846" b="true">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Advantage: RealMLP is good at handling yes/no outcomes (like fraud or not).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7311786" y="4804606"/>
            <a:ext cx="9474505" cy="1946580"/>
          </a:xfrm>
          <a:custGeom>
            <a:avLst/>
            <a:gdLst/>
            <a:ahLst/>
            <a:cxnLst/>
            <a:rect r="r" b="b" t="t" l="l"/>
            <a:pathLst>
              <a:path h="1946580" w="9474505">
                <a:moveTo>
                  <a:pt x="0" y="0"/>
                </a:moveTo>
                <a:lnTo>
                  <a:pt x="9474505" y="0"/>
                </a:lnTo>
                <a:lnTo>
                  <a:pt x="9474505" y="1946580"/>
                </a:lnTo>
                <a:lnTo>
                  <a:pt x="0" y="1946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670493" y="1462542"/>
            <a:ext cx="846646" cy="886611"/>
            <a:chOff x="0" y="0"/>
            <a:chExt cx="162591" cy="170265"/>
          </a:xfrm>
        </p:grpSpPr>
        <p:sp>
          <p:nvSpPr>
            <p:cNvPr name="Freeform 8" id="8"/>
            <p:cNvSpPr/>
            <p:nvPr/>
          </p:nvSpPr>
          <p:spPr>
            <a:xfrm flipH="false" flipV="false" rot="0">
              <a:off x="0" y="0"/>
              <a:ext cx="162591" cy="170265"/>
            </a:xfrm>
            <a:custGeom>
              <a:avLst/>
              <a:gdLst/>
              <a:ahLst/>
              <a:cxnLst/>
              <a:rect r="r" b="b" t="t" l="l"/>
              <a:pathLst>
                <a:path h="170265" w="162591">
                  <a:moveTo>
                    <a:pt x="0" y="0"/>
                  </a:moveTo>
                  <a:lnTo>
                    <a:pt x="162591" y="0"/>
                  </a:lnTo>
                  <a:lnTo>
                    <a:pt x="162591" y="170265"/>
                  </a:lnTo>
                  <a:lnTo>
                    <a:pt x="0" y="170265"/>
                  </a:lnTo>
                  <a:close/>
                </a:path>
              </a:pathLst>
            </a:custGeom>
            <a:solidFill>
              <a:srgbClr val="B49CCD">
                <a:alpha val="35686"/>
              </a:srgbClr>
            </a:solidFill>
          </p:spPr>
        </p:sp>
        <p:sp>
          <p:nvSpPr>
            <p:cNvPr name="TextBox 9" id="9"/>
            <p:cNvSpPr txBox="true"/>
            <p:nvPr/>
          </p:nvSpPr>
          <p:spPr>
            <a:xfrm>
              <a:off x="0" y="38100"/>
              <a:ext cx="162591" cy="132165"/>
            </a:xfrm>
            <a:prstGeom prst="rect">
              <a:avLst/>
            </a:prstGeom>
          </p:spPr>
          <p:txBody>
            <a:bodyPr anchor="ctr" rtlCol="false" tIns="50800" lIns="50800" bIns="50800" rIns="50800"/>
            <a:lstStyle/>
            <a:p>
              <a:pPr algn="ctr">
                <a:lnSpc>
                  <a:spcPts val="2163"/>
                </a:lnSpc>
              </a:pPr>
            </a:p>
          </p:txBody>
        </p:sp>
      </p:grpSp>
      <p:sp>
        <p:nvSpPr>
          <p:cNvPr name="Freeform 10" id="10"/>
          <p:cNvSpPr/>
          <p:nvPr/>
        </p:nvSpPr>
        <p:spPr>
          <a:xfrm flipH="false" flipV="false" rot="0">
            <a:off x="1983477" y="1462542"/>
            <a:ext cx="2167043" cy="2174952"/>
          </a:xfrm>
          <a:custGeom>
            <a:avLst/>
            <a:gdLst/>
            <a:ahLst/>
            <a:cxnLst/>
            <a:rect r="r" b="b" t="t" l="l"/>
            <a:pathLst>
              <a:path h="2174952" w="2167043">
                <a:moveTo>
                  <a:pt x="0" y="0"/>
                </a:moveTo>
                <a:lnTo>
                  <a:pt x="2167043" y="0"/>
                </a:lnTo>
                <a:lnTo>
                  <a:pt x="2167043" y="2174951"/>
                </a:lnTo>
                <a:lnTo>
                  <a:pt x="0" y="21749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219899" y="3616461"/>
            <a:ext cx="5035359" cy="1034537"/>
          </a:xfrm>
          <a:custGeom>
            <a:avLst/>
            <a:gdLst/>
            <a:ahLst/>
            <a:cxnLst/>
            <a:rect r="r" b="b" t="t" l="l"/>
            <a:pathLst>
              <a:path h="1034537" w="5035359">
                <a:moveTo>
                  <a:pt x="0" y="0"/>
                </a:moveTo>
                <a:lnTo>
                  <a:pt x="5035359" y="0"/>
                </a:lnTo>
                <a:lnTo>
                  <a:pt x="5035359" y="1034538"/>
                </a:lnTo>
                <a:lnTo>
                  <a:pt x="0" y="10345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166031" y="6924556"/>
            <a:ext cx="7406843" cy="1521770"/>
          </a:xfrm>
          <a:custGeom>
            <a:avLst/>
            <a:gdLst/>
            <a:ahLst/>
            <a:cxnLst/>
            <a:rect r="r" b="b" t="t" l="l"/>
            <a:pathLst>
              <a:path h="1521770" w="7406843">
                <a:moveTo>
                  <a:pt x="0" y="0"/>
                </a:moveTo>
                <a:lnTo>
                  <a:pt x="7406844" y="0"/>
                </a:lnTo>
                <a:lnTo>
                  <a:pt x="7406844" y="1521770"/>
                </a:lnTo>
                <a:lnTo>
                  <a:pt x="0" y="1521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983477" y="4226996"/>
            <a:ext cx="4855422" cy="4150165"/>
          </a:xfrm>
          <a:prstGeom prst="rect">
            <a:avLst/>
          </a:prstGeom>
        </p:spPr>
        <p:txBody>
          <a:bodyPr anchor="t" rtlCol="false" tIns="0" lIns="0" bIns="0" rIns="0">
            <a:spAutoFit/>
          </a:bodyPr>
          <a:lstStyle/>
          <a:p>
            <a:pPr algn="l">
              <a:lnSpc>
                <a:spcPts val="5431"/>
              </a:lnSpc>
            </a:pPr>
            <a:r>
              <a:rPr lang="en-US" sz="5431">
                <a:solidFill>
                  <a:srgbClr val="B49CCD"/>
                </a:solidFill>
                <a:latin typeface="Gagalin"/>
                <a:ea typeface="Gagalin"/>
                <a:cs typeface="Gagalin"/>
                <a:sym typeface="Gagalin"/>
              </a:rPr>
              <a:t>SIX</a:t>
            </a:r>
            <a:r>
              <a:rPr lang="en-US" sz="5431">
                <a:solidFill>
                  <a:srgbClr val="FFFFFF"/>
                </a:solidFill>
                <a:latin typeface="Gagalin"/>
                <a:ea typeface="Gagalin"/>
                <a:cs typeface="Gagalin"/>
                <a:sym typeface="Gagalin"/>
              </a:rPr>
              <a:t> MAIN APPROACHES FOR DEEP NEURAL NETWORKS ON TABULAR DATA</a:t>
            </a:r>
          </a:p>
        </p:txBody>
      </p:sp>
      <p:sp>
        <p:nvSpPr>
          <p:cNvPr name="TextBox 14" id="14"/>
          <p:cNvSpPr txBox="true"/>
          <p:nvPr/>
        </p:nvSpPr>
        <p:spPr>
          <a:xfrm rot="0">
            <a:off x="8407404" y="5203449"/>
            <a:ext cx="7317517" cy="1644923"/>
          </a:xfrm>
          <a:prstGeom prst="rect">
            <a:avLst/>
          </a:prstGeom>
        </p:spPr>
        <p:txBody>
          <a:bodyPr anchor="t" rtlCol="false" tIns="0" lIns="0" bIns="0" rIns="0">
            <a:spAutoFit/>
          </a:bodyPr>
          <a:lstStyle/>
          <a:p>
            <a:pPr algn="l">
              <a:lnSpc>
                <a:spcPts val="3263"/>
              </a:lnSpc>
            </a:pPr>
            <a:r>
              <a:rPr lang="en-US" sz="2887">
                <a:solidFill>
                  <a:srgbClr val="FFFFFF"/>
                </a:solidFill>
                <a:latin typeface="Montserrat"/>
                <a:ea typeface="Montserrat"/>
                <a:cs typeface="Montserrat"/>
                <a:sym typeface="Montserrat"/>
              </a:rPr>
              <a:t>They’re </a:t>
            </a:r>
            <a:r>
              <a:rPr lang="en-US" sz="2887" b="true">
                <a:solidFill>
                  <a:srgbClr val="AEEFE5"/>
                </a:solidFill>
                <a:latin typeface="Montserrat Bold"/>
                <a:ea typeface="Montserrat Bold"/>
                <a:cs typeface="Montserrat Bold"/>
                <a:sym typeface="Montserrat Bold"/>
              </a:rPr>
              <a:t>custom-built neural networks</a:t>
            </a:r>
            <a:r>
              <a:rPr lang="en-US" sz="2887">
                <a:solidFill>
                  <a:srgbClr val="FFFFFF"/>
                </a:solidFill>
                <a:latin typeface="Montserrat"/>
                <a:ea typeface="Montserrat"/>
                <a:cs typeface="Montserrat"/>
                <a:sym typeface="Montserrat"/>
              </a:rPr>
              <a:t> made to work really well with tab</a:t>
            </a:r>
            <a:r>
              <a:rPr lang="en-US" sz="2887">
                <a:solidFill>
                  <a:srgbClr val="FFFFFF"/>
                </a:solidFill>
                <a:latin typeface="Montserrat"/>
                <a:ea typeface="Montserrat"/>
                <a:cs typeface="Montserrat"/>
                <a:sym typeface="Montserrat"/>
              </a:rPr>
              <a:t>ular </a:t>
            </a:r>
            <a:r>
              <a:rPr lang="en-US" sz="2887">
                <a:solidFill>
                  <a:srgbClr val="FFFFFF"/>
                </a:solidFill>
                <a:latin typeface="Montserrat"/>
                <a:ea typeface="Montserrat"/>
                <a:cs typeface="Montserrat"/>
                <a:sym typeface="Montserrat"/>
              </a:rPr>
              <a:t>da</a:t>
            </a:r>
            <a:r>
              <a:rPr lang="en-US" sz="2887">
                <a:solidFill>
                  <a:srgbClr val="FFFFFF"/>
                </a:solidFill>
                <a:latin typeface="Montserrat"/>
                <a:ea typeface="Montserrat"/>
                <a:cs typeface="Montserrat"/>
                <a:sym typeface="Montserrat"/>
              </a:rPr>
              <a:t>t</a:t>
            </a:r>
            <a:r>
              <a:rPr lang="en-US" sz="2887">
                <a:solidFill>
                  <a:srgbClr val="FFFFFF"/>
                </a:solidFill>
                <a:latin typeface="Montserrat"/>
                <a:ea typeface="Montserrat"/>
                <a:cs typeface="Montserrat"/>
                <a:sym typeface="Montserrat"/>
              </a:rPr>
              <a:t>a.</a:t>
            </a:r>
          </a:p>
          <a:p>
            <a:pPr algn="l">
              <a:lnSpc>
                <a:spcPts val="3263"/>
              </a:lnSpc>
            </a:pPr>
          </a:p>
        </p:txBody>
      </p:sp>
      <p:sp>
        <p:nvSpPr>
          <p:cNvPr name="TextBox 15" id="15"/>
          <p:cNvSpPr txBox="true"/>
          <p:nvPr/>
        </p:nvSpPr>
        <p:spPr>
          <a:xfrm rot="0">
            <a:off x="8708319" y="1394837"/>
            <a:ext cx="6864556" cy="1687434"/>
          </a:xfrm>
          <a:prstGeom prst="rect">
            <a:avLst/>
          </a:prstGeom>
        </p:spPr>
        <p:txBody>
          <a:bodyPr anchor="t" rtlCol="false" tIns="0" lIns="0" bIns="0" rIns="0">
            <a:spAutoFit/>
          </a:bodyPr>
          <a:lstStyle/>
          <a:p>
            <a:pPr algn="l">
              <a:lnSpc>
                <a:spcPts val="4482"/>
              </a:lnSpc>
            </a:pPr>
            <a:r>
              <a:rPr lang="en-US" sz="3966" b="true">
                <a:solidFill>
                  <a:srgbClr val="B49CCD"/>
                </a:solidFill>
                <a:latin typeface="Montserrat Bold"/>
                <a:ea typeface="Montserrat Bold"/>
                <a:cs typeface="Montserrat Bold"/>
                <a:sym typeface="Montserrat Bold"/>
              </a:rPr>
              <a:t>Special Designed Architectures</a:t>
            </a:r>
          </a:p>
          <a:p>
            <a:pPr algn="l">
              <a:lnSpc>
                <a:spcPts val="4482"/>
              </a:lnSpc>
            </a:pPr>
          </a:p>
        </p:txBody>
      </p:sp>
      <p:sp>
        <p:nvSpPr>
          <p:cNvPr name="TextBox 16" id="16"/>
          <p:cNvSpPr txBox="true"/>
          <p:nvPr/>
        </p:nvSpPr>
        <p:spPr>
          <a:xfrm rot="0">
            <a:off x="7862977" y="1668108"/>
            <a:ext cx="461678" cy="494528"/>
          </a:xfrm>
          <a:prstGeom prst="rect">
            <a:avLst/>
          </a:prstGeom>
        </p:spPr>
        <p:txBody>
          <a:bodyPr anchor="t" rtlCol="false" tIns="0" lIns="0" bIns="0" rIns="0">
            <a:spAutoFit/>
          </a:bodyPr>
          <a:lstStyle/>
          <a:p>
            <a:pPr algn="l">
              <a:lnSpc>
                <a:spcPts val="3844"/>
              </a:lnSpc>
            </a:pPr>
            <a:r>
              <a:rPr lang="en-US" sz="3402" b="true">
                <a:solidFill>
                  <a:srgbClr val="FFFFFF"/>
                </a:solidFill>
                <a:latin typeface="Montserrat Bold"/>
                <a:ea typeface="Montserrat Bold"/>
                <a:cs typeface="Montserrat Bold"/>
                <a:sym typeface="Montserrat Bold"/>
              </a:rPr>
              <a:t>2.</a:t>
            </a:r>
          </a:p>
        </p:txBody>
      </p:sp>
      <p:sp>
        <p:nvSpPr>
          <p:cNvPr name="TextBox 17" id="17"/>
          <p:cNvSpPr txBox="true"/>
          <p:nvPr/>
        </p:nvSpPr>
        <p:spPr>
          <a:xfrm rot="0">
            <a:off x="7408995" y="3945909"/>
            <a:ext cx="4657167" cy="410523"/>
          </a:xfrm>
          <a:prstGeom prst="rect">
            <a:avLst/>
          </a:prstGeom>
        </p:spPr>
        <p:txBody>
          <a:bodyPr anchor="t" rtlCol="false" tIns="0" lIns="0" bIns="0" rIns="0">
            <a:spAutoFit/>
          </a:bodyPr>
          <a:lstStyle/>
          <a:p>
            <a:pPr algn="l">
              <a:lnSpc>
                <a:spcPts val="3263"/>
              </a:lnSpc>
            </a:pPr>
            <a:r>
              <a:rPr lang="en-US" sz="2887" b="true">
                <a:solidFill>
                  <a:srgbClr val="FFFFFF"/>
                </a:solidFill>
                <a:latin typeface="Montserrat Bold"/>
                <a:ea typeface="Montserrat Bold"/>
                <a:cs typeface="Montserrat Bold"/>
                <a:sym typeface="Montserrat Bold"/>
              </a:rPr>
              <a:t>What are they?</a:t>
            </a:r>
          </a:p>
        </p:txBody>
      </p:sp>
      <p:sp>
        <p:nvSpPr>
          <p:cNvPr name="TextBox 18" id="18"/>
          <p:cNvSpPr txBox="true"/>
          <p:nvPr/>
        </p:nvSpPr>
        <p:spPr>
          <a:xfrm rot="0">
            <a:off x="8517139" y="7010297"/>
            <a:ext cx="6824033" cy="1643974"/>
          </a:xfrm>
          <a:prstGeom prst="rect">
            <a:avLst/>
          </a:prstGeom>
        </p:spPr>
        <p:txBody>
          <a:bodyPr anchor="t" rtlCol="false" tIns="0" lIns="0" bIns="0" rIns="0">
            <a:spAutoFit/>
          </a:bodyPr>
          <a:lstStyle/>
          <a:p>
            <a:pPr algn="l">
              <a:lnSpc>
                <a:spcPts val="2630"/>
              </a:lnSpc>
            </a:pPr>
            <a:r>
              <a:rPr lang="en-US" sz="2327">
                <a:solidFill>
                  <a:srgbClr val="FFFFFF"/>
                </a:solidFill>
                <a:latin typeface="Montserrat"/>
                <a:ea typeface="Montserrat"/>
                <a:cs typeface="Montserrat"/>
                <a:sym typeface="Montserrat"/>
              </a:rPr>
              <a:t>Like data you’d see in spreadsheets, with rows and columns. Specially-designed tools for a specific job, like a pizza cutter vs. a regular knife</a:t>
            </a:r>
          </a:p>
          <a:p>
            <a:pPr algn="l">
              <a:lnSpc>
                <a:spcPts val="263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4076431" y="395004"/>
            <a:ext cx="3681150" cy="756309"/>
          </a:xfrm>
          <a:custGeom>
            <a:avLst/>
            <a:gdLst/>
            <a:ahLst/>
            <a:cxnLst/>
            <a:rect r="r" b="b" t="t" l="l"/>
            <a:pathLst>
              <a:path h="756309" w="3681150">
                <a:moveTo>
                  <a:pt x="0" y="0"/>
                </a:moveTo>
                <a:lnTo>
                  <a:pt x="3681150" y="0"/>
                </a:lnTo>
                <a:lnTo>
                  <a:pt x="3681150" y="756309"/>
                </a:lnTo>
                <a:lnTo>
                  <a:pt x="0" y="7563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391853" y="5577869"/>
            <a:ext cx="3424393" cy="703557"/>
          </a:xfrm>
          <a:custGeom>
            <a:avLst/>
            <a:gdLst/>
            <a:ahLst/>
            <a:cxnLst/>
            <a:rect r="r" b="b" t="t" l="l"/>
            <a:pathLst>
              <a:path h="703557" w="3424393">
                <a:moveTo>
                  <a:pt x="0" y="0"/>
                </a:moveTo>
                <a:lnTo>
                  <a:pt x="3424393" y="0"/>
                </a:lnTo>
                <a:lnTo>
                  <a:pt x="3424393" y="703557"/>
                </a:lnTo>
                <a:lnTo>
                  <a:pt x="0" y="703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447187" y="5683061"/>
            <a:ext cx="2400399" cy="493173"/>
          </a:xfrm>
          <a:custGeom>
            <a:avLst/>
            <a:gdLst/>
            <a:ahLst/>
            <a:cxnLst/>
            <a:rect r="r" b="b" t="t" l="l"/>
            <a:pathLst>
              <a:path h="493173" w="2400399">
                <a:moveTo>
                  <a:pt x="0" y="0"/>
                </a:moveTo>
                <a:lnTo>
                  <a:pt x="2400399" y="0"/>
                </a:lnTo>
                <a:lnTo>
                  <a:pt x="2400399" y="493173"/>
                </a:lnTo>
                <a:lnTo>
                  <a:pt x="0" y="4931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076431" y="6500501"/>
            <a:ext cx="4900890" cy="3484087"/>
          </a:xfrm>
          <a:custGeom>
            <a:avLst/>
            <a:gdLst/>
            <a:ahLst/>
            <a:cxnLst/>
            <a:rect r="r" b="b" t="t" l="l"/>
            <a:pathLst>
              <a:path h="3484087" w="4900890">
                <a:moveTo>
                  <a:pt x="0" y="0"/>
                </a:moveTo>
                <a:lnTo>
                  <a:pt x="4900890" y="0"/>
                </a:lnTo>
                <a:lnTo>
                  <a:pt x="4900890" y="3484088"/>
                </a:lnTo>
                <a:lnTo>
                  <a:pt x="0" y="3484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193395" y="6363763"/>
            <a:ext cx="5346165" cy="3800637"/>
          </a:xfrm>
          <a:custGeom>
            <a:avLst/>
            <a:gdLst/>
            <a:ahLst/>
            <a:cxnLst/>
            <a:rect r="r" b="b" t="t" l="l"/>
            <a:pathLst>
              <a:path h="3800637" w="5346165">
                <a:moveTo>
                  <a:pt x="0" y="0"/>
                </a:moveTo>
                <a:lnTo>
                  <a:pt x="5346165" y="0"/>
                </a:lnTo>
                <a:lnTo>
                  <a:pt x="5346165" y="3800637"/>
                </a:lnTo>
                <a:lnTo>
                  <a:pt x="0" y="38006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950440" y="1369830"/>
            <a:ext cx="10836324" cy="1221549"/>
          </a:xfrm>
          <a:custGeom>
            <a:avLst/>
            <a:gdLst/>
            <a:ahLst/>
            <a:cxnLst/>
            <a:rect r="r" b="b" t="t" l="l"/>
            <a:pathLst>
              <a:path h="1221549" w="10836324">
                <a:moveTo>
                  <a:pt x="0" y="0"/>
                </a:moveTo>
                <a:lnTo>
                  <a:pt x="10836324" y="0"/>
                </a:lnTo>
                <a:lnTo>
                  <a:pt x="10836324" y="1221549"/>
                </a:lnTo>
                <a:lnTo>
                  <a:pt x="0" y="12215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135876" y="1195743"/>
            <a:ext cx="10650889" cy="1350042"/>
          </a:xfrm>
          <a:prstGeom prst="rect">
            <a:avLst/>
          </a:prstGeom>
        </p:spPr>
        <p:txBody>
          <a:bodyPr anchor="t" rtlCol="false" tIns="0" lIns="0" bIns="0" rIns="0">
            <a:spAutoFit/>
          </a:bodyPr>
          <a:lstStyle/>
          <a:p>
            <a:pPr algn="l">
              <a:lnSpc>
                <a:spcPts val="2102"/>
              </a:lnSpc>
            </a:pPr>
          </a:p>
          <a:p>
            <a:pPr algn="l">
              <a:lnSpc>
                <a:spcPts val="2102"/>
              </a:lnSpc>
            </a:pPr>
            <a:r>
              <a:rPr lang="en-US" b="true" sz="1860">
                <a:solidFill>
                  <a:srgbClr val="FFFFFF"/>
                </a:solidFill>
                <a:latin typeface="Montserrat Bold"/>
                <a:ea typeface="Montserrat Bold"/>
                <a:cs typeface="Montserrat Bold"/>
                <a:sym typeface="Montserrat Bold"/>
              </a:rPr>
              <a:t> </a:t>
            </a:r>
            <a:r>
              <a:rPr lang="en-US" sz="1860">
                <a:solidFill>
                  <a:srgbClr val="FFFFFF"/>
                </a:solidFill>
                <a:latin typeface="Montserrat"/>
                <a:ea typeface="Montserrat"/>
                <a:cs typeface="Montserrat"/>
                <a:sym typeface="Montserrat"/>
              </a:rPr>
              <a:t>1- </a:t>
            </a:r>
            <a:r>
              <a:rPr lang="en-US" b="true" sz="1860">
                <a:solidFill>
                  <a:srgbClr val="FFFFFF"/>
                </a:solidFill>
                <a:latin typeface="Montserrat Bold"/>
                <a:ea typeface="Montserrat Bold"/>
                <a:cs typeface="Montserrat Bold"/>
                <a:sym typeface="Montserrat Bold"/>
              </a:rPr>
              <a:t>Prod</a:t>
            </a:r>
            <a:r>
              <a:rPr lang="en-US" b="true" sz="1860">
                <a:solidFill>
                  <a:srgbClr val="FFFFFF"/>
                </a:solidFill>
                <a:latin typeface="Montserrat Bold"/>
                <a:ea typeface="Montserrat Bold"/>
                <a:cs typeface="Montserrat Bold"/>
                <a:sym typeface="Montserrat Bold"/>
              </a:rPr>
              <a:t>uct Recommendations</a:t>
            </a:r>
          </a:p>
          <a:p>
            <a:pPr algn="l">
              <a:lnSpc>
                <a:spcPts val="2102"/>
              </a:lnSpc>
            </a:pPr>
            <a:r>
              <a:rPr lang="en-US" sz="1860">
                <a:solidFill>
                  <a:srgbClr val="FFFFFF"/>
                </a:solidFill>
                <a:latin typeface="Montserrat"/>
                <a:ea typeface="Montserrat"/>
                <a:cs typeface="Montserrat"/>
                <a:sym typeface="Montserrat"/>
              </a:rPr>
              <a:t>L</a:t>
            </a:r>
            <a:r>
              <a:rPr lang="en-US" sz="1860">
                <a:solidFill>
                  <a:srgbClr val="FFFFFF"/>
                </a:solidFill>
                <a:latin typeface="Montserrat"/>
                <a:ea typeface="Montserrat"/>
                <a:cs typeface="Montserrat"/>
                <a:sym typeface="Montserrat"/>
              </a:rPr>
              <a:t>ike when a website says, “Customers who bought this also bought…”</a:t>
            </a:r>
          </a:p>
          <a:p>
            <a:pPr algn="l" marL="401742" indent="-200871" lvl="1">
              <a:lnSpc>
                <a:spcPts val="2102"/>
              </a:lnSpc>
              <a:buFont typeface="Arial"/>
              <a:buChar char="•"/>
            </a:pPr>
            <a:r>
              <a:rPr lang="en-US" b="true" sz="1860">
                <a:solidFill>
                  <a:srgbClr val="FEE04E"/>
                </a:solidFill>
                <a:latin typeface="Montserrat Bold"/>
                <a:ea typeface="Montserrat Bold"/>
                <a:cs typeface="Montserrat Bold"/>
                <a:sym typeface="Montserrat Bold"/>
              </a:rPr>
              <a:t>Advantage</a:t>
            </a:r>
            <a:r>
              <a:rPr lang="en-US" sz="1860">
                <a:solidFill>
                  <a:srgbClr val="FFFFFF"/>
                </a:solidFill>
                <a:latin typeface="Montserrat"/>
                <a:ea typeface="Montserrat"/>
                <a:cs typeface="Montserrat"/>
                <a:sym typeface="Montserrat"/>
              </a:rPr>
              <a:t>: Captures hidden connections between what people like and what they might want next.</a:t>
            </a:r>
          </a:p>
        </p:txBody>
      </p:sp>
      <p:sp>
        <p:nvSpPr>
          <p:cNvPr name="TextBox 13" id="13"/>
          <p:cNvSpPr txBox="true"/>
          <p:nvPr/>
        </p:nvSpPr>
        <p:spPr>
          <a:xfrm rot="0">
            <a:off x="4216340" y="635187"/>
            <a:ext cx="3759487" cy="294993"/>
          </a:xfrm>
          <a:prstGeom prst="rect">
            <a:avLst/>
          </a:prstGeom>
        </p:spPr>
        <p:txBody>
          <a:bodyPr anchor="t" rtlCol="false" tIns="0" lIns="0" bIns="0" rIns="0">
            <a:spAutoFit/>
          </a:bodyPr>
          <a:lstStyle/>
          <a:p>
            <a:pPr algn="l">
              <a:lnSpc>
                <a:spcPts val="2385"/>
              </a:lnSpc>
            </a:pPr>
            <a:r>
              <a:rPr lang="en-US" sz="2111" b="true">
                <a:solidFill>
                  <a:srgbClr val="FFFFFF"/>
                </a:solidFill>
                <a:latin typeface="Montserrat Bold"/>
                <a:ea typeface="Montserrat Bold"/>
                <a:cs typeface="Montserrat Bold"/>
                <a:sym typeface="Montserrat Bold"/>
              </a:rPr>
              <a:t>Real-world applications</a:t>
            </a:r>
          </a:p>
        </p:txBody>
      </p:sp>
      <p:sp>
        <p:nvSpPr>
          <p:cNvPr name="TextBox 14" id="14"/>
          <p:cNvSpPr txBox="true"/>
          <p:nvPr/>
        </p:nvSpPr>
        <p:spPr>
          <a:xfrm rot="0">
            <a:off x="4548678" y="5779892"/>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Why they are useful</a:t>
            </a:r>
          </a:p>
        </p:txBody>
      </p:sp>
      <p:sp>
        <p:nvSpPr>
          <p:cNvPr name="TextBox 15" id="15"/>
          <p:cNvSpPr txBox="true"/>
          <p:nvPr/>
        </p:nvSpPr>
        <p:spPr>
          <a:xfrm rot="0">
            <a:off x="9591551" y="5761864"/>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Challenges</a:t>
            </a:r>
          </a:p>
        </p:txBody>
      </p:sp>
      <p:sp>
        <p:nvSpPr>
          <p:cNvPr name="Freeform 16" id="16"/>
          <p:cNvSpPr/>
          <p:nvPr/>
        </p:nvSpPr>
        <p:spPr>
          <a:xfrm flipH="false" flipV="false" rot="0">
            <a:off x="3950440" y="2733779"/>
            <a:ext cx="10962167" cy="1235735"/>
          </a:xfrm>
          <a:custGeom>
            <a:avLst/>
            <a:gdLst/>
            <a:ahLst/>
            <a:cxnLst/>
            <a:rect r="r" b="b" t="t" l="l"/>
            <a:pathLst>
              <a:path h="1235735" w="10962167">
                <a:moveTo>
                  <a:pt x="0" y="0"/>
                </a:moveTo>
                <a:lnTo>
                  <a:pt x="10962167" y="0"/>
                </a:lnTo>
                <a:lnTo>
                  <a:pt x="10962167" y="1235735"/>
                </a:lnTo>
                <a:lnTo>
                  <a:pt x="0" y="12357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4135876" y="2648529"/>
            <a:ext cx="10880120" cy="1595033"/>
          </a:xfrm>
          <a:prstGeom prst="rect">
            <a:avLst/>
          </a:prstGeom>
        </p:spPr>
        <p:txBody>
          <a:bodyPr anchor="t" rtlCol="false" tIns="0" lIns="0" bIns="0" rIns="0">
            <a:spAutoFit/>
          </a:bodyPr>
          <a:lstStyle/>
          <a:p>
            <a:pPr algn="l">
              <a:lnSpc>
                <a:spcPts val="2086"/>
              </a:lnSpc>
            </a:pPr>
          </a:p>
          <a:p>
            <a:pPr algn="l">
              <a:lnSpc>
                <a:spcPts val="2086"/>
              </a:lnSpc>
            </a:pPr>
            <a:r>
              <a:rPr lang="en-US" sz="1846">
                <a:solidFill>
                  <a:srgbClr val="FFFFFF"/>
                </a:solidFill>
                <a:latin typeface="Montserrat"/>
                <a:ea typeface="Montserrat"/>
                <a:cs typeface="Montserrat"/>
                <a:sym typeface="Montserrat"/>
              </a:rPr>
              <a:t>2-</a:t>
            </a:r>
            <a:r>
              <a:rPr lang="en-US" sz="1846" b="true">
                <a:solidFill>
                  <a:srgbClr val="FFFFFF"/>
                </a:solidFill>
                <a:latin typeface="Montserrat Bold"/>
                <a:ea typeface="Montserrat Bold"/>
                <a:cs typeface="Montserrat Bold"/>
                <a:sym typeface="Montserrat Bold"/>
              </a:rPr>
              <a:t> Dynamic Pricing</a:t>
            </a:r>
          </a:p>
          <a:p>
            <a:pPr algn="l">
              <a:lnSpc>
                <a:spcPts val="2086"/>
              </a:lnSpc>
            </a:pPr>
            <a:r>
              <a:rPr lang="en-US" sz="1846">
                <a:solidFill>
                  <a:srgbClr val="FFFFFF"/>
                </a:solidFill>
                <a:latin typeface="Montserrat"/>
                <a:ea typeface="Montserrat"/>
                <a:cs typeface="Montserrat"/>
                <a:sym typeface="Montserrat"/>
              </a:rPr>
              <a:t>Changing prices based on demand, season, or user type.</a:t>
            </a:r>
          </a:p>
          <a:p>
            <a:pPr algn="l" marL="398583" indent="-199291" lvl="1">
              <a:lnSpc>
                <a:spcPts val="2086"/>
              </a:lnSpc>
              <a:buFont typeface="Arial"/>
              <a:buChar char="•"/>
            </a:pPr>
            <a:r>
              <a:rPr lang="en-US" b="true" sz="1846">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Can handle complex situations and help businesses adjust prices smartly.</a:t>
            </a:r>
          </a:p>
          <a:p>
            <a:pPr algn="l">
              <a:lnSpc>
                <a:spcPts val="2086"/>
              </a:lnSpc>
            </a:pPr>
          </a:p>
          <a:p>
            <a:pPr algn="l">
              <a:lnSpc>
                <a:spcPts val="2086"/>
              </a:lnSpc>
            </a:pPr>
          </a:p>
        </p:txBody>
      </p:sp>
      <p:sp>
        <p:nvSpPr>
          <p:cNvPr name="TextBox 18" id="18"/>
          <p:cNvSpPr txBox="true"/>
          <p:nvPr/>
        </p:nvSpPr>
        <p:spPr>
          <a:xfrm rot="0">
            <a:off x="4382509" y="6977424"/>
            <a:ext cx="4145903" cy="2856230"/>
          </a:xfrm>
          <a:prstGeom prst="rect">
            <a:avLst/>
          </a:prstGeom>
        </p:spPr>
        <p:txBody>
          <a:bodyPr anchor="t" rtlCol="false" tIns="0" lIns="0" bIns="0" rIns="0">
            <a:spAutoFit/>
          </a:bodyPr>
          <a:lstStyle/>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Some models are good at finding both </a:t>
            </a:r>
            <a:r>
              <a:rPr lang="en-US" sz="2000">
                <a:solidFill>
                  <a:srgbClr val="AEEFE5"/>
                </a:solidFill>
                <a:latin typeface="Montserrat"/>
                <a:ea typeface="Montserrat"/>
                <a:cs typeface="Montserrat"/>
                <a:sym typeface="Montserrat"/>
              </a:rPr>
              <a:t>obvious</a:t>
            </a:r>
            <a:r>
              <a:rPr lang="en-US" sz="2000">
                <a:solidFill>
                  <a:srgbClr val="FFFFFF"/>
                </a:solidFill>
                <a:latin typeface="Montserrat"/>
                <a:ea typeface="Montserrat"/>
                <a:cs typeface="Montserrat"/>
                <a:sym typeface="Montserrat"/>
              </a:rPr>
              <a:t> and </a:t>
            </a:r>
            <a:r>
              <a:rPr lang="en-US" sz="2000">
                <a:solidFill>
                  <a:srgbClr val="AEEFE5"/>
                </a:solidFill>
                <a:latin typeface="Montserrat"/>
                <a:ea typeface="Montserrat"/>
                <a:cs typeface="Montserrat"/>
                <a:sym typeface="Montserrat"/>
              </a:rPr>
              <a:t>hidden patterns</a:t>
            </a:r>
            <a:r>
              <a:rPr lang="en-US" sz="2000">
                <a:solidFill>
                  <a:srgbClr val="FFFFFF"/>
                </a:solidFill>
                <a:latin typeface="Montserrat"/>
                <a:ea typeface="Montserrat"/>
                <a:cs typeface="Montserrat"/>
                <a:sym typeface="Montserrat"/>
              </a:rPr>
              <a:t>.</a:t>
            </a:r>
          </a:p>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Others can group related features to </a:t>
            </a:r>
            <a:r>
              <a:rPr lang="en-US" sz="2000">
                <a:solidFill>
                  <a:srgbClr val="AEEFE5"/>
                </a:solidFill>
                <a:latin typeface="Montserrat"/>
                <a:ea typeface="Montserrat"/>
                <a:cs typeface="Montserrat"/>
                <a:sym typeface="Montserrat"/>
              </a:rPr>
              <a:t>spot helpful trends</a:t>
            </a:r>
            <a:r>
              <a:rPr lang="en-US" sz="2000">
                <a:solidFill>
                  <a:srgbClr val="FFFFFF"/>
                </a:solidFill>
                <a:latin typeface="Montserrat"/>
                <a:ea typeface="Montserrat"/>
                <a:cs typeface="Montserrat"/>
                <a:sym typeface="Montserrat"/>
              </a:rPr>
              <a:t>.</a:t>
            </a:r>
          </a:p>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TabCaps give a </a:t>
            </a:r>
            <a:r>
              <a:rPr lang="en-US" sz="2000">
                <a:solidFill>
                  <a:srgbClr val="AEEFE5"/>
                </a:solidFill>
                <a:latin typeface="Montserrat"/>
                <a:ea typeface="Montserrat"/>
                <a:cs typeface="Montserrat"/>
                <a:sym typeface="Montserrat"/>
              </a:rPr>
              <a:t>richer way to represent data</a:t>
            </a:r>
            <a:r>
              <a:rPr lang="en-US" sz="2000">
                <a:solidFill>
                  <a:srgbClr val="FFFFFF"/>
                </a:solidFill>
                <a:latin typeface="Montserrat"/>
                <a:ea typeface="Montserrat"/>
                <a:cs typeface="Montserrat"/>
                <a:sym typeface="Montserrat"/>
              </a:rPr>
              <a:t>, which can lead to better results.</a:t>
            </a:r>
          </a:p>
          <a:p>
            <a:pPr algn="l">
              <a:lnSpc>
                <a:spcPts val="2260"/>
              </a:lnSpc>
            </a:pPr>
          </a:p>
        </p:txBody>
      </p:sp>
      <p:sp>
        <p:nvSpPr>
          <p:cNvPr name="TextBox 19" id="19"/>
          <p:cNvSpPr txBox="true"/>
          <p:nvPr/>
        </p:nvSpPr>
        <p:spPr>
          <a:xfrm rot="0">
            <a:off x="9457190" y="7131242"/>
            <a:ext cx="4818577" cy="2515108"/>
          </a:xfrm>
          <a:prstGeom prst="rect">
            <a:avLst/>
          </a:prstGeom>
        </p:spPr>
        <p:txBody>
          <a:bodyPr anchor="t" rtlCol="false" tIns="0" lIns="0" bIns="0" rIns="0">
            <a:spAutoFit/>
          </a:bodyPr>
          <a:lstStyle/>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They need </a:t>
            </a:r>
            <a:r>
              <a:rPr lang="en-US" sz="2199">
                <a:solidFill>
                  <a:srgbClr val="AEEFE5"/>
                </a:solidFill>
                <a:latin typeface="Montserrat"/>
                <a:ea typeface="Montserrat"/>
                <a:cs typeface="Montserrat"/>
                <a:sym typeface="Montserrat"/>
              </a:rPr>
              <a:t>a lot more data</a:t>
            </a:r>
            <a:r>
              <a:rPr lang="en-US" sz="2199">
                <a:solidFill>
                  <a:srgbClr val="FFFFFF"/>
                </a:solidFill>
                <a:latin typeface="Montserrat"/>
                <a:ea typeface="Montserrat"/>
                <a:cs typeface="Montserrat"/>
                <a:sym typeface="Montserrat"/>
              </a:rPr>
              <a:t> to work well.</a:t>
            </a:r>
          </a:p>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They use more </a:t>
            </a:r>
            <a:r>
              <a:rPr lang="en-US" sz="2199">
                <a:solidFill>
                  <a:srgbClr val="AEEFE5"/>
                </a:solidFill>
                <a:latin typeface="Montserrat"/>
                <a:ea typeface="Montserrat"/>
                <a:cs typeface="Montserrat"/>
                <a:sym typeface="Montserrat"/>
              </a:rPr>
              <a:t>computing power, which can cost more</a:t>
            </a:r>
            <a:r>
              <a:rPr lang="en-US" sz="2199">
                <a:solidFill>
                  <a:srgbClr val="FFFFFF"/>
                </a:solidFill>
                <a:latin typeface="Montserrat"/>
                <a:ea typeface="Montserrat"/>
                <a:cs typeface="Montserrat"/>
                <a:sym typeface="Montserrat"/>
              </a:rPr>
              <a:t>.</a:t>
            </a:r>
          </a:p>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Might be </a:t>
            </a:r>
            <a:r>
              <a:rPr lang="en-US" sz="2199">
                <a:solidFill>
                  <a:srgbClr val="AEEFE5"/>
                </a:solidFill>
                <a:latin typeface="Montserrat"/>
                <a:ea typeface="Montserrat"/>
                <a:cs typeface="Montserrat"/>
                <a:sym typeface="Montserrat"/>
              </a:rPr>
              <a:t>too complicated for simpler tasks</a:t>
            </a:r>
            <a:r>
              <a:rPr lang="en-US" sz="2199">
                <a:solidFill>
                  <a:srgbClr val="FFFFFF"/>
                </a:solidFill>
                <a:latin typeface="Montserrat"/>
                <a:ea typeface="Montserrat"/>
                <a:cs typeface="Montserrat"/>
                <a:sym typeface="Montserrat"/>
              </a:rPr>
              <a:t> where basic models are enough.</a:t>
            </a:r>
          </a:p>
          <a:p>
            <a:pPr algn="l">
              <a:lnSpc>
                <a:spcPts val="2485"/>
              </a:lnSpc>
            </a:pPr>
          </a:p>
        </p:txBody>
      </p:sp>
      <p:sp>
        <p:nvSpPr>
          <p:cNvPr name="Freeform 20" id="20"/>
          <p:cNvSpPr/>
          <p:nvPr/>
        </p:nvSpPr>
        <p:spPr>
          <a:xfrm flipH="false" flipV="false" rot="0">
            <a:off x="3950440" y="4172899"/>
            <a:ext cx="10689025" cy="1204945"/>
          </a:xfrm>
          <a:custGeom>
            <a:avLst/>
            <a:gdLst/>
            <a:ahLst/>
            <a:cxnLst/>
            <a:rect r="r" b="b" t="t" l="l"/>
            <a:pathLst>
              <a:path h="1204945" w="10689025">
                <a:moveTo>
                  <a:pt x="0" y="0"/>
                </a:moveTo>
                <a:lnTo>
                  <a:pt x="10689025" y="0"/>
                </a:lnTo>
                <a:lnTo>
                  <a:pt x="10689025" y="1204945"/>
                </a:lnTo>
                <a:lnTo>
                  <a:pt x="0" y="1204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4113873" y="4395962"/>
            <a:ext cx="10694894" cy="1035587"/>
          </a:xfrm>
          <a:prstGeom prst="rect">
            <a:avLst/>
          </a:prstGeom>
        </p:spPr>
        <p:txBody>
          <a:bodyPr anchor="t" rtlCol="false" tIns="0" lIns="0" bIns="0" rIns="0">
            <a:spAutoFit/>
          </a:bodyPr>
          <a:lstStyle/>
          <a:p>
            <a:pPr algn="l">
              <a:lnSpc>
                <a:spcPts val="2086"/>
              </a:lnSpc>
            </a:pPr>
            <a:r>
              <a:rPr lang="en-US" sz="1846">
                <a:solidFill>
                  <a:srgbClr val="FFFFFF"/>
                </a:solidFill>
                <a:latin typeface="Montserrat"/>
                <a:ea typeface="Montserrat"/>
                <a:cs typeface="Montserrat"/>
                <a:sym typeface="Montserrat"/>
              </a:rPr>
              <a:t>3- </a:t>
            </a:r>
            <a:r>
              <a:rPr lang="en-US" sz="1846" b="true">
                <a:solidFill>
                  <a:srgbClr val="FFFFFF"/>
                </a:solidFill>
                <a:latin typeface="Montserrat Bold"/>
                <a:ea typeface="Montserrat Bold"/>
                <a:cs typeface="Montserrat Bold"/>
                <a:sym typeface="Montserrat Bold"/>
              </a:rPr>
              <a:t>Use</a:t>
            </a:r>
            <a:r>
              <a:rPr lang="en-US" sz="1846" b="true">
                <a:solidFill>
                  <a:srgbClr val="FFFFFF"/>
                </a:solidFill>
                <a:latin typeface="Montserrat Bold"/>
                <a:ea typeface="Montserrat Bold"/>
                <a:cs typeface="Montserrat Bold"/>
                <a:sym typeface="Montserrat Bold"/>
              </a:rPr>
              <a:t>r Behavior Analysis</a:t>
            </a:r>
          </a:p>
          <a:p>
            <a:pPr algn="l">
              <a:lnSpc>
                <a:spcPts val="2086"/>
              </a:lnSpc>
            </a:pPr>
            <a:r>
              <a:rPr lang="en-US" sz="1846">
                <a:solidFill>
                  <a:srgbClr val="FFFFFF"/>
                </a:solidFill>
                <a:latin typeface="Montserrat"/>
                <a:ea typeface="Montserrat"/>
                <a:cs typeface="Montserrat"/>
                <a:sym typeface="Montserrat"/>
              </a:rPr>
              <a:t>Figuring out how people use a website or app.</a:t>
            </a:r>
          </a:p>
          <a:p>
            <a:pPr algn="l" marL="398583" indent="-199292" lvl="1">
              <a:lnSpc>
                <a:spcPts val="2086"/>
              </a:lnSpc>
              <a:buFont typeface="Arial"/>
              <a:buChar char="•"/>
            </a:pPr>
            <a:r>
              <a:rPr lang="en-US" b="true" sz="1846">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Finds patterns in user actions, helping improve design or marketing.</a:t>
            </a:r>
          </a:p>
          <a:p>
            <a:pPr algn="l">
              <a:lnSpc>
                <a:spcPts val="2086"/>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7311786" y="4804606"/>
            <a:ext cx="9474505" cy="1946580"/>
          </a:xfrm>
          <a:custGeom>
            <a:avLst/>
            <a:gdLst/>
            <a:ahLst/>
            <a:cxnLst/>
            <a:rect r="r" b="b" t="t" l="l"/>
            <a:pathLst>
              <a:path h="1946580" w="9474505">
                <a:moveTo>
                  <a:pt x="0" y="0"/>
                </a:moveTo>
                <a:lnTo>
                  <a:pt x="9474505" y="0"/>
                </a:lnTo>
                <a:lnTo>
                  <a:pt x="9474505" y="1946580"/>
                </a:lnTo>
                <a:lnTo>
                  <a:pt x="0" y="1946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670493" y="1462542"/>
            <a:ext cx="846646" cy="886611"/>
            <a:chOff x="0" y="0"/>
            <a:chExt cx="162591" cy="170265"/>
          </a:xfrm>
        </p:grpSpPr>
        <p:sp>
          <p:nvSpPr>
            <p:cNvPr name="Freeform 8" id="8"/>
            <p:cNvSpPr/>
            <p:nvPr/>
          </p:nvSpPr>
          <p:spPr>
            <a:xfrm flipH="false" flipV="false" rot="0">
              <a:off x="0" y="0"/>
              <a:ext cx="162591" cy="170265"/>
            </a:xfrm>
            <a:custGeom>
              <a:avLst/>
              <a:gdLst/>
              <a:ahLst/>
              <a:cxnLst/>
              <a:rect r="r" b="b" t="t" l="l"/>
              <a:pathLst>
                <a:path h="170265" w="162591">
                  <a:moveTo>
                    <a:pt x="0" y="0"/>
                  </a:moveTo>
                  <a:lnTo>
                    <a:pt x="162591" y="0"/>
                  </a:lnTo>
                  <a:lnTo>
                    <a:pt x="162591" y="170265"/>
                  </a:lnTo>
                  <a:lnTo>
                    <a:pt x="0" y="170265"/>
                  </a:lnTo>
                  <a:close/>
                </a:path>
              </a:pathLst>
            </a:custGeom>
            <a:solidFill>
              <a:srgbClr val="B49CCD">
                <a:alpha val="35686"/>
              </a:srgbClr>
            </a:solidFill>
          </p:spPr>
        </p:sp>
        <p:sp>
          <p:nvSpPr>
            <p:cNvPr name="TextBox 9" id="9"/>
            <p:cNvSpPr txBox="true"/>
            <p:nvPr/>
          </p:nvSpPr>
          <p:spPr>
            <a:xfrm>
              <a:off x="0" y="38100"/>
              <a:ext cx="162591" cy="132165"/>
            </a:xfrm>
            <a:prstGeom prst="rect">
              <a:avLst/>
            </a:prstGeom>
          </p:spPr>
          <p:txBody>
            <a:bodyPr anchor="ctr" rtlCol="false" tIns="50800" lIns="50800" bIns="50800" rIns="50800"/>
            <a:lstStyle/>
            <a:p>
              <a:pPr algn="ctr">
                <a:lnSpc>
                  <a:spcPts val="2163"/>
                </a:lnSpc>
              </a:pPr>
            </a:p>
          </p:txBody>
        </p:sp>
      </p:grpSp>
      <p:sp>
        <p:nvSpPr>
          <p:cNvPr name="Freeform 10" id="10"/>
          <p:cNvSpPr/>
          <p:nvPr/>
        </p:nvSpPr>
        <p:spPr>
          <a:xfrm flipH="false" flipV="false" rot="0">
            <a:off x="1983477" y="1462542"/>
            <a:ext cx="2167043" cy="2174952"/>
          </a:xfrm>
          <a:custGeom>
            <a:avLst/>
            <a:gdLst/>
            <a:ahLst/>
            <a:cxnLst/>
            <a:rect r="r" b="b" t="t" l="l"/>
            <a:pathLst>
              <a:path h="2174952" w="2167043">
                <a:moveTo>
                  <a:pt x="0" y="0"/>
                </a:moveTo>
                <a:lnTo>
                  <a:pt x="2167043" y="0"/>
                </a:lnTo>
                <a:lnTo>
                  <a:pt x="2167043" y="2174951"/>
                </a:lnTo>
                <a:lnTo>
                  <a:pt x="0" y="21749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219899" y="3616461"/>
            <a:ext cx="5035359" cy="1034537"/>
          </a:xfrm>
          <a:custGeom>
            <a:avLst/>
            <a:gdLst/>
            <a:ahLst/>
            <a:cxnLst/>
            <a:rect r="r" b="b" t="t" l="l"/>
            <a:pathLst>
              <a:path h="1034537" w="5035359">
                <a:moveTo>
                  <a:pt x="0" y="0"/>
                </a:moveTo>
                <a:lnTo>
                  <a:pt x="5035359" y="0"/>
                </a:lnTo>
                <a:lnTo>
                  <a:pt x="5035359" y="1034538"/>
                </a:lnTo>
                <a:lnTo>
                  <a:pt x="0" y="10345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166031" y="6924556"/>
            <a:ext cx="7406843" cy="1521770"/>
          </a:xfrm>
          <a:custGeom>
            <a:avLst/>
            <a:gdLst/>
            <a:ahLst/>
            <a:cxnLst/>
            <a:rect r="r" b="b" t="t" l="l"/>
            <a:pathLst>
              <a:path h="1521770" w="7406843">
                <a:moveTo>
                  <a:pt x="0" y="0"/>
                </a:moveTo>
                <a:lnTo>
                  <a:pt x="7406844" y="0"/>
                </a:lnTo>
                <a:lnTo>
                  <a:pt x="7406844" y="1521770"/>
                </a:lnTo>
                <a:lnTo>
                  <a:pt x="0" y="1521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983477" y="4226996"/>
            <a:ext cx="4855422" cy="4150165"/>
          </a:xfrm>
          <a:prstGeom prst="rect">
            <a:avLst/>
          </a:prstGeom>
        </p:spPr>
        <p:txBody>
          <a:bodyPr anchor="t" rtlCol="false" tIns="0" lIns="0" bIns="0" rIns="0">
            <a:spAutoFit/>
          </a:bodyPr>
          <a:lstStyle/>
          <a:p>
            <a:pPr algn="l">
              <a:lnSpc>
                <a:spcPts val="5431"/>
              </a:lnSpc>
            </a:pPr>
            <a:r>
              <a:rPr lang="en-US" sz="5431">
                <a:solidFill>
                  <a:srgbClr val="B49CCD"/>
                </a:solidFill>
                <a:latin typeface="Gagalin"/>
                <a:ea typeface="Gagalin"/>
                <a:cs typeface="Gagalin"/>
                <a:sym typeface="Gagalin"/>
              </a:rPr>
              <a:t>SIX</a:t>
            </a:r>
            <a:r>
              <a:rPr lang="en-US" sz="5431">
                <a:solidFill>
                  <a:srgbClr val="FFFFFF"/>
                </a:solidFill>
                <a:latin typeface="Gagalin"/>
                <a:ea typeface="Gagalin"/>
                <a:cs typeface="Gagalin"/>
                <a:sym typeface="Gagalin"/>
              </a:rPr>
              <a:t> MAIN APPROACHES FOR DEEP NEURAL NETWORKS ON TABULAR DATA</a:t>
            </a:r>
          </a:p>
        </p:txBody>
      </p:sp>
      <p:sp>
        <p:nvSpPr>
          <p:cNvPr name="TextBox 14" id="14"/>
          <p:cNvSpPr txBox="true"/>
          <p:nvPr/>
        </p:nvSpPr>
        <p:spPr>
          <a:xfrm rot="0">
            <a:off x="8324655" y="5271835"/>
            <a:ext cx="7317517" cy="982618"/>
          </a:xfrm>
          <a:prstGeom prst="rect">
            <a:avLst/>
          </a:prstGeom>
        </p:spPr>
        <p:txBody>
          <a:bodyPr anchor="t" rtlCol="false" tIns="0" lIns="0" bIns="0" rIns="0">
            <a:spAutoFit/>
          </a:bodyPr>
          <a:lstStyle/>
          <a:p>
            <a:pPr algn="l">
              <a:lnSpc>
                <a:spcPts val="3828"/>
              </a:lnSpc>
            </a:pPr>
            <a:r>
              <a:rPr lang="en-US" sz="3387">
                <a:solidFill>
                  <a:srgbClr val="FFFFFF"/>
                </a:solidFill>
                <a:latin typeface="Montserrat"/>
                <a:ea typeface="Montserrat"/>
                <a:cs typeface="Montserrat"/>
                <a:sym typeface="Montserrat"/>
              </a:rPr>
              <a:t>Turn pie</a:t>
            </a:r>
            <a:r>
              <a:rPr lang="en-US" sz="3387">
                <a:solidFill>
                  <a:srgbClr val="FFFFFF"/>
                </a:solidFill>
                <a:latin typeface="Montserrat"/>
                <a:ea typeface="Montserrat"/>
                <a:cs typeface="Montserrat"/>
                <a:sym typeface="Montserrat"/>
              </a:rPr>
              <a:t>c</a:t>
            </a:r>
            <a:r>
              <a:rPr lang="en-US" sz="3387">
                <a:solidFill>
                  <a:srgbClr val="FFFFFF"/>
                </a:solidFill>
                <a:latin typeface="Montserrat"/>
                <a:ea typeface="Montserrat"/>
                <a:cs typeface="Montserrat"/>
                <a:sym typeface="Montserrat"/>
              </a:rPr>
              <a:t>e</a:t>
            </a:r>
            <a:r>
              <a:rPr lang="en-US" sz="3387">
                <a:solidFill>
                  <a:srgbClr val="FFFFFF"/>
                </a:solidFill>
                <a:latin typeface="Montserrat"/>
                <a:ea typeface="Montserrat"/>
                <a:cs typeface="Montserrat"/>
                <a:sym typeface="Montserrat"/>
              </a:rPr>
              <a:t>s</a:t>
            </a:r>
            <a:r>
              <a:rPr lang="en-US" sz="3387">
                <a:solidFill>
                  <a:srgbClr val="FFFFFF"/>
                </a:solidFill>
                <a:latin typeface="Montserrat"/>
                <a:ea typeface="Montserrat"/>
                <a:cs typeface="Montserrat"/>
                <a:sym typeface="Montserrat"/>
              </a:rPr>
              <a:t> </a:t>
            </a:r>
            <a:r>
              <a:rPr lang="en-US" sz="3387">
                <a:solidFill>
                  <a:srgbClr val="FFFFFF"/>
                </a:solidFill>
                <a:latin typeface="Montserrat"/>
                <a:ea typeface="Montserrat"/>
                <a:cs typeface="Montserrat"/>
                <a:sym typeface="Montserrat"/>
              </a:rPr>
              <a:t>o</a:t>
            </a:r>
            <a:r>
              <a:rPr lang="en-US" sz="3387">
                <a:solidFill>
                  <a:srgbClr val="FFFFFF"/>
                </a:solidFill>
                <a:latin typeface="Montserrat"/>
                <a:ea typeface="Montserrat"/>
                <a:cs typeface="Montserrat"/>
                <a:sym typeface="Montserrat"/>
              </a:rPr>
              <a:t>f</a:t>
            </a:r>
            <a:r>
              <a:rPr lang="en-US" sz="3387">
                <a:solidFill>
                  <a:srgbClr val="FFFFFF"/>
                </a:solidFill>
                <a:latin typeface="Montserrat"/>
                <a:ea typeface="Montserrat"/>
                <a:cs typeface="Montserrat"/>
                <a:sym typeface="Montserrat"/>
              </a:rPr>
              <a:t> </a:t>
            </a:r>
            <a:r>
              <a:rPr lang="en-US" sz="3387">
                <a:solidFill>
                  <a:srgbClr val="FFFFFF"/>
                </a:solidFill>
                <a:latin typeface="Montserrat"/>
                <a:ea typeface="Montserrat"/>
                <a:cs typeface="Montserrat"/>
                <a:sym typeface="Montserrat"/>
              </a:rPr>
              <a:t>d</a:t>
            </a:r>
            <a:r>
              <a:rPr lang="en-US" sz="3387">
                <a:solidFill>
                  <a:srgbClr val="FFFFFF"/>
                </a:solidFill>
                <a:latin typeface="Montserrat"/>
                <a:ea typeface="Montserrat"/>
                <a:cs typeface="Montserrat"/>
                <a:sym typeface="Montserrat"/>
              </a:rPr>
              <a:t>a</a:t>
            </a:r>
            <a:r>
              <a:rPr lang="en-US" sz="3387">
                <a:solidFill>
                  <a:srgbClr val="FFFFFF"/>
                </a:solidFill>
                <a:latin typeface="Montserrat"/>
                <a:ea typeface="Montserrat"/>
                <a:cs typeface="Montserrat"/>
                <a:sym typeface="Montserrat"/>
              </a:rPr>
              <a:t>ta</a:t>
            </a:r>
            <a:r>
              <a:rPr lang="en-US" sz="3387">
                <a:solidFill>
                  <a:srgbClr val="FFFFFF"/>
                </a:solidFill>
                <a:latin typeface="Montserrat"/>
                <a:ea typeface="Montserrat"/>
                <a:cs typeface="Montserrat"/>
                <a:sym typeface="Montserrat"/>
              </a:rPr>
              <a:t> </a:t>
            </a:r>
            <a:r>
              <a:rPr lang="en-US" sz="3387">
                <a:solidFill>
                  <a:srgbClr val="FFFFFF"/>
                </a:solidFill>
                <a:latin typeface="Montserrat"/>
                <a:ea typeface="Montserrat"/>
                <a:cs typeface="Montserrat"/>
                <a:sym typeface="Montserrat"/>
              </a:rPr>
              <a:t>i</a:t>
            </a:r>
            <a:r>
              <a:rPr lang="en-US" sz="3387">
                <a:solidFill>
                  <a:srgbClr val="FFFFFF"/>
                </a:solidFill>
                <a:latin typeface="Montserrat"/>
                <a:ea typeface="Montserrat"/>
                <a:cs typeface="Montserrat"/>
                <a:sym typeface="Montserrat"/>
              </a:rPr>
              <a:t>nto</a:t>
            </a:r>
            <a:r>
              <a:rPr lang="en-US" sz="3387">
                <a:solidFill>
                  <a:srgbClr val="FFFFFF"/>
                </a:solidFill>
                <a:latin typeface="Montserrat"/>
                <a:ea typeface="Montserrat"/>
                <a:cs typeface="Montserrat"/>
                <a:sym typeface="Montserrat"/>
              </a:rPr>
              <a:t> </a:t>
            </a:r>
            <a:r>
              <a:rPr lang="en-US" sz="3387" b="true">
                <a:solidFill>
                  <a:srgbClr val="AEEFE5"/>
                </a:solidFill>
                <a:latin typeface="Montserrat Bold"/>
                <a:ea typeface="Montserrat Bold"/>
                <a:cs typeface="Montserrat Bold"/>
                <a:sym typeface="Montserrat Bold"/>
              </a:rPr>
              <a:t>high-dimensional vectors (tokens)</a:t>
            </a:r>
          </a:p>
        </p:txBody>
      </p:sp>
      <p:sp>
        <p:nvSpPr>
          <p:cNvPr name="TextBox 15" id="15"/>
          <p:cNvSpPr txBox="true"/>
          <p:nvPr/>
        </p:nvSpPr>
        <p:spPr>
          <a:xfrm rot="0">
            <a:off x="8708319" y="1440464"/>
            <a:ext cx="8550981" cy="2254590"/>
          </a:xfrm>
          <a:prstGeom prst="rect">
            <a:avLst/>
          </a:prstGeom>
        </p:spPr>
        <p:txBody>
          <a:bodyPr anchor="t" rtlCol="false" tIns="0" lIns="0" bIns="0" rIns="0">
            <a:spAutoFit/>
          </a:bodyPr>
          <a:lstStyle/>
          <a:p>
            <a:pPr algn="l">
              <a:lnSpc>
                <a:spcPts val="4482"/>
              </a:lnSpc>
            </a:pPr>
            <a:r>
              <a:rPr lang="en-US" sz="3966" b="true">
                <a:solidFill>
                  <a:srgbClr val="B49CCD"/>
                </a:solidFill>
                <a:latin typeface="Montserrat Bold"/>
                <a:ea typeface="Montserrat Bold"/>
                <a:cs typeface="Montserrat Bold"/>
                <a:sym typeface="Montserrat Bold"/>
              </a:rPr>
              <a:t>Token Based Methods: </a:t>
            </a:r>
            <a:r>
              <a:rPr lang="en-US" sz="3966" b="true">
                <a:solidFill>
                  <a:srgbClr val="FFFFFF"/>
                </a:solidFill>
                <a:latin typeface="Montserrat Bold"/>
                <a:ea typeface="Montserrat Bold"/>
                <a:cs typeface="Montserrat Bold"/>
                <a:sym typeface="Montserrat Bold"/>
              </a:rPr>
              <a:t>Converting Data into Processable Representations</a:t>
            </a:r>
          </a:p>
          <a:p>
            <a:pPr algn="l">
              <a:lnSpc>
                <a:spcPts val="4482"/>
              </a:lnSpc>
            </a:pPr>
          </a:p>
        </p:txBody>
      </p:sp>
      <p:sp>
        <p:nvSpPr>
          <p:cNvPr name="TextBox 16" id="16"/>
          <p:cNvSpPr txBox="true"/>
          <p:nvPr/>
        </p:nvSpPr>
        <p:spPr>
          <a:xfrm rot="0">
            <a:off x="7862977" y="1668108"/>
            <a:ext cx="461678" cy="494528"/>
          </a:xfrm>
          <a:prstGeom prst="rect">
            <a:avLst/>
          </a:prstGeom>
        </p:spPr>
        <p:txBody>
          <a:bodyPr anchor="t" rtlCol="false" tIns="0" lIns="0" bIns="0" rIns="0">
            <a:spAutoFit/>
          </a:bodyPr>
          <a:lstStyle/>
          <a:p>
            <a:pPr algn="l">
              <a:lnSpc>
                <a:spcPts val="3844"/>
              </a:lnSpc>
            </a:pPr>
            <a:r>
              <a:rPr lang="en-US" sz="3402" b="true">
                <a:solidFill>
                  <a:srgbClr val="FFFFFF"/>
                </a:solidFill>
                <a:latin typeface="Montserrat Bold"/>
                <a:ea typeface="Montserrat Bold"/>
                <a:cs typeface="Montserrat Bold"/>
                <a:sym typeface="Montserrat Bold"/>
              </a:rPr>
              <a:t>3.</a:t>
            </a:r>
          </a:p>
        </p:txBody>
      </p:sp>
      <p:sp>
        <p:nvSpPr>
          <p:cNvPr name="TextBox 17" id="17"/>
          <p:cNvSpPr txBox="true"/>
          <p:nvPr/>
        </p:nvSpPr>
        <p:spPr>
          <a:xfrm rot="0">
            <a:off x="7408995" y="3945909"/>
            <a:ext cx="4657167" cy="410523"/>
          </a:xfrm>
          <a:prstGeom prst="rect">
            <a:avLst/>
          </a:prstGeom>
        </p:spPr>
        <p:txBody>
          <a:bodyPr anchor="t" rtlCol="false" tIns="0" lIns="0" bIns="0" rIns="0">
            <a:spAutoFit/>
          </a:bodyPr>
          <a:lstStyle/>
          <a:p>
            <a:pPr algn="l">
              <a:lnSpc>
                <a:spcPts val="3263"/>
              </a:lnSpc>
            </a:pPr>
            <a:r>
              <a:rPr lang="en-US" sz="2887" b="true">
                <a:solidFill>
                  <a:srgbClr val="FFFFFF"/>
                </a:solidFill>
                <a:latin typeface="Montserrat Bold"/>
                <a:ea typeface="Montserrat Bold"/>
                <a:cs typeface="Montserrat Bold"/>
                <a:sym typeface="Montserrat Bold"/>
              </a:rPr>
              <a:t>What are they?</a:t>
            </a:r>
          </a:p>
        </p:txBody>
      </p:sp>
      <p:sp>
        <p:nvSpPr>
          <p:cNvPr name="TextBox 18" id="18"/>
          <p:cNvSpPr txBox="true"/>
          <p:nvPr/>
        </p:nvSpPr>
        <p:spPr>
          <a:xfrm rot="0">
            <a:off x="8517139" y="7159366"/>
            <a:ext cx="6966521" cy="1071200"/>
          </a:xfrm>
          <a:prstGeom prst="rect">
            <a:avLst/>
          </a:prstGeom>
        </p:spPr>
        <p:txBody>
          <a:bodyPr anchor="t" rtlCol="false" tIns="0" lIns="0" bIns="0" rIns="0">
            <a:spAutoFit/>
          </a:bodyPr>
          <a:lstStyle/>
          <a:p>
            <a:pPr algn="l">
              <a:lnSpc>
                <a:spcPts val="2875"/>
              </a:lnSpc>
            </a:pPr>
            <a:r>
              <a:rPr lang="en-US" sz="2544">
                <a:solidFill>
                  <a:srgbClr val="FFFFFF"/>
                </a:solidFill>
                <a:latin typeface="Montserrat"/>
                <a:ea typeface="Montserrat"/>
                <a:cs typeface="Montserrat"/>
                <a:sym typeface="Montserrat"/>
              </a:rPr>
              <a:t>Like unique puzzle pieces, so a model can better understand patterns and spot connections in spreadsheets or tables.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4076431" y="395004"/>
            <a:ext cx="3681150" cy="756309"/>
          </a:xfrm>
          <a:custGeom>
            <a:avLst/>
            <a:gdLst/>
            <a:ahLst/>
            <a:cxnLst/>
            <a:rect r="r" b="b" t="t" l="l"/>
            <a:pathLst>
              <a:path h="756309" w="3681150">
                <a:moveTo>
                  <a:pt x="0" y="0"/>
                </a:moveTo>
                <a:lnTo>
                  <a:pt x="3681150" y="0"/>
                </a:lnTo>
                <a:lnTo>
                  <a:pt x="3681150" y="756309"/>
                </a:lnTo>
                <a:lnTo>
                  <a:pt x="0" y="7563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391853" y="5577869"/>
            <a:ext cx="3424393" cy="703557"/>
          </a:xfrm>
          <a:custGeom>
            <a:avLst/>
            <a:gdLst/>
            <a:ahLst/>
            <a:cxnLst/>
            <a:rect r="r" b="b" t="t" l="l"/>
            <a:pathLst>
              <a:path h="703557" w="3424393">
                <a:moveTo>
                  <a:pt x="0" y="0"/>
                </a:moveTo>
                <a:lnTo>
                  <a:pt x="3424393" y="0"/>
                </a:lnTo>
                <a:lnTo>
                  <a:pt x="3424393" y="703557"/>
                </a:lnTo>
                <a:lnTo>
                  <a:pt x="0" y="703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447187" y="5683061"/>
            <a:ext cx="2400399" cy="493173"/>
          </a:xfrm>
          <a:custGeom>
            <a:avLst/>
            <a:gdLst/>
            <a:ahLst/>
            <a:cxnLst/>
            <a:rect r="r" b="b" t="t" l="l"/>
            <a:pathLst>
              <a:path h="493173" w="2400399">
                <a:moveTo>
                  <a:pt x="0" y="0"/>
                </a:moveTo>
                <a:lnTo>
                  <a:pt x="2400399" y="0"/>
                </a:lnTo>
                <a:lnTo>
                  <a:pt x="2400399" y="493173"/>
                </a:lnTo>
                <a:lnTo>
                  <a:pt x="0" y="4931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076431" y="6500501"/>
            <a:ext cx="4900890" cy="3484087"/>
          </a:xfrm>
          <a:custGeom>
            <a:avLst/>
            <a:gdLst/>
            <a:ahLst/>
            <a:cxnLst/>
            <a:rect r="r" b="b" t="t" l="l"/>
            <a:pathLst>
              <a:path h="3484087" w="4900890">
                <a:moveTo>
                  <a:pt x="0" y="0"/>
                </a:moveTo>
                <a:lnTo>
                  <a:pt x="4900890" y="0"/>
                </a:lnTo>
                <a:lnTo>
                  <a:pt x="4900890" y="3484088"/>
                </a:lnTo>
                <a:lnTo>
                  <a:pt x="0" y="3484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193395" y="6363763"/>
            <a:ext cx="5346165" cy="3800637"/>
          </a:xfrm>
          <a:custGeom>
            <a:avLst/>
            <a:gdLst/>
            <a:ahLst/>
            <a:cxnLst/>
            <a:rect r="r" b="b" t="t" l="l"/>
            <a:pathLst>
              <a:path h="3800637" w="5346165">
                <a:moveTo>
                  <a:pt x="0" y="0"/>
                </a:moveTo>
                <a:lnTo>
                  <a:pt x="5346165" y="0"/>
                </a:lnTo>
                <a:lnTo>
                  <a:pt x="5346165" y="3800637"/>
                </a:lnTo>
                <a:lnTo>
                  <a:pt x="0" y="38006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950440" y="1369830"/>
            <a:ext cx="10836324" cy="1221549"/>
          </a:xfrm>
          <a:custGeom>
            <a:avLst/>
            <a:gdLst/>
            <a:ahLst/>
            <a:cxnLst/>
            <a:rect r="r" b="b" t="t" l="l"/>
            <a:pathLst>
              <a:path h="1221549" w="10836324">
                <a:moveTo>
                  <a:pt x="0" y="0"/>
                </a:moveTo>
                <a:lnTo>
                  <a:pt x="10836324" y="0"/>
                </a:lnTo>
                <a:lnTo>
                  <a:pt x="10836324" y="1221549"/>
                </a:lnTo>
                <a:lnTo>
                  <a:pt x="0" y="12215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135876" y="1195743"/>
            <a:ext cx="10650889" cy="1350042"/>
          </a:xfrm>
          <a:prstGeom prst="rect">
            <a:avLst/>
          </a:prstGeom>
        </p:spPr>
        <p:txBody>
          <a:bodyPr anchor="t" rtlCol="false" tIns="0" lIns="0" bIns="0" rIns="0">
            <a:spAutoFit/>
          </a:bodyPr>
          <a:lstStyle/>
          <a:p>
            <a:pPr algn="l">
              <a:lnSpc>
                <a:spcPts val="2102"/>
              </a:lnSpc>
            </a:pPr>
          </a:p>
          <a:p>
            <a:pPr algn="l">
              <a:lnSpc>
                <a:spcPts val="2102"/>
              </a:lnSpc>
            </a:pPr>
            <a:r>
              <a:rPr lang="en-US" b="true" sz="1860">
                <a:solidFill>
                  <a:srgbClr val="FFFFFF"/>
                </a:solidFill>
                <a:latin typeface="Montserrat Bold"/>
                <a:ea typeface="Montserrat Bold"/>
                <a:cs typeface="Montserrat Bold"/>
                <a:sym typeface="Montserrat Bold"/>
              </a:rPr>
              <a:t> </a:t>
            </a:r>
            <a:r>
              <a:rPr lang="en-US" sz="1860">
                <a:solidFill>
                  <a:srgbClr val="FFFFFF"/>
                </a:solidFill>
                <a:latin typeface="Montserrat"/>
                <a:ea typeface="Montserrat"/>
                <a:cs typeface="Montserrat"/>
                <a:sym typeface="Montserrat"/>
              </a:rPr>
              <a:t>1- </a:t>
            </a:r>
            <a:r>
              <a:rPr lang="en-US" b="true" sz="1860">
                <a:solidFill>
                  <a:srgbClr val="FFFFFF"/>
                </a:solidFill>
                <a:latin typeface="Montserrat Bold"/>
                <a:ea typeface="Montserrat Bold"/>
                <a:cs typeface="Montserrat Bold"/>
                <a:sym typeface="Montserrat Bold"/>
              </a:rPr>
              <a:t>Click-Thro</a:t>
            </a:r>
            <a:r>
              <a:rPr lang="en-US" b="true" sz="1860">
                <a:solidFill>
                  <a:srgbClr val="FFFFFF"/>
                </a:solidFill>
                <a:latin typeface="Montserrat Bold"/>
                <a:ea typeface="Montserrat Bold"/>
                <a:cs typeface="Montserrat Bold"/>
                <a:sym typeface="Montserrat Bold"/>
              </a:rPr>
              <a:t>ugh Rate Prediction</a:t>
            </a:r>
          </a:p>
          <a:p>
            <a:pPr algn="l">
              <a:lnSpc>
                <a:spcPts val="2102"/>
              </a:lnSpc>
            </a:pPr>
            <a:r>
              <a:rPr lang="en-US" sz="1860">
                <a:solidFill>
                  <a:srgbClr val="FFFFFF"/>
                </a:solidFill>
                <a:latin typeface="Montserrat"/>
                <a:ea typeface="Montserrat"/>
                <a:cs typeface="Montserrat"/>
                <a:sym typeface="Montserrat"/>
              </a:rPr>
              <a:t>Guessing if someone will click on an ad.</a:t>
            </a:r>
          </a:p>
          <a:p>
            <a:pPr algn="l" marL="401742" indent="-200871" lvl="1">
              <a:lnSpc>
                <a:spcPts val="2102"/>
              </a:lnSpc>
              <a:buFont typeface="Arial"/>
              <a:buChar char="•"/>
            </a:pPr>
            <a:r>
              <a:rPr lang="en-US" b="true" sz="1860">
                <a:solidFill>
                  <a:srgbClr val="FEE04E"/>
                </a:solidFill>
                <a:latin typeface="Montserrat Bold"/>
                <a:ea typeface="Montserrat Bold"/>
                <a:cs typeface="Montserrat Bold"/>
                <a:sym typeface="Montserrat Bold"/>
              </a:rPr>
              <a:t>Advantage</a:t>
            </a:r>
            <a:r>
              <a:rPr lang="en-US" sz="1860">
                <a:solidFill>
                  <a:srgbClr val="FFFFFF"/>
                </a:solidFill>
                <a:latin typeface="Montserrat"/>
                <a:ea typeface="Montserrat"/>
                <a:cs typeface="Montserrat"/>
                <a:sym typeface="Montserrat"/>
              </a:rPr>
              <a:t>: Can find hidden patterns between what an ad says and what a user might like.</a:t>
            </a:r>
          </a:p>
        </p:txBody>
      </p:sp>
      <p:sp>
        <p:nvSpPr>
          <p:cNvPr name="TextBox 13" id="13"/>
          <p:cNvSpPr txBox="true"/>
          <p:nvPr/>
        </p:nvSpPr>
        <p:spPr>
          <a:xfrm rot="0">
            <a:off x="4216340" y="635187"/>
            <a:ext cx="3759487" cy="294993"/>
          </a:xfrm>
          <a:prstGeom prst="rect">
            <a:avLst/>
          </a:prstGeom>
        </p:spPr>
        <p:txBody>
          <a:bodyPr anchor="t" rtlCol="false" tIns="0" lIns="0" bIns="0" rIns="0">
            <a:spAutoFit/>
          </a:bodyPr>
          <a:lstStyle/>
          <a:p>
            <a:pPr algn="l">
              <a:lnSpc>
                <a:spcPts val="2385"/>
              </a:lnSpc>
            </a:pPr>
            <a:r>
              <a:rPr lang="en-US" sz="2111" b="true">
                <a:solidFill>
                  <a:srgbClr val="FFFFFF"/>
                </a:solidFill>
                <a:latin typeface="Montserrat Bold"/>
                <a:ea typeface="Montserrat Bold"/>
                <a:cs typeface="Montserrat Bold"/>
                <a:sym typeface="Montserrat Bold"/>
              </a:rPr>
              <a:t>Real-world applications</a:t>
            </a:r>
          </a:p>
        </p:txBody>
      </p:sp>
      <p:sp>
        <p:nvSpPr>
          <p:cNvPr name="TextBox 14" id="14"/>
          <p:cNvSpPr txBox="true"/>
          <p:nvPr/>
        </p:nvSpPr>
        <p:spPr>
          <a:xfrm rot="0">
            <a:off x="4548678" y="5779892"/>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Why they are useful</a:t>
            </a:r>
          </a:p>
        </p:txBody>
      </p:sp>
      <p:sp>
        <p:nvSpPr>
          <p:cNvPr name="TextBox 15" id="15"/>
          <p:cNvSpPr txBox="true"/>
          <p:nvPr/>
        </p:nvSpPr>
        <p:spPr>
          <a:xfrm rot="0">
            <a:off x="9591551" y="5761864"/>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Challenges</a:t>
            </a:r>
          </a:p>
        </p:txBody>
      </p:sp>
      <p:sp>
        <p:nvSpPr>
          <p:cNvPr name="Freeform 16" id="16"/>
          <p:cNvSpPr/>
          <p:nvPr/>
        </p:nvSpPr>
        <p:spPr>
          <a:xfrm flipH="false" flipV="false" rot="0">
            <a:off x="3950440" y="2733779"/>
            <a:ext cx="10962167" cy="1235735"/>
          </a:xfrm>
          <a:custGeom>
            <a:avLst/>
            <a:gdLst/>
            <a:ahLst/>
            <a:cxnLst/>
            <a:rect r="r" b="b" t="t" l="l"/>
            <a:pathLst>
              <a:path h="1235735" w="10962167">
                <a:moveTo>
                  <a:pt x="0" y="0"/>
                </a:moveTo>
                <a:lnTo>
                  <a:pt x="10962167" y="0"/>
                </a:lnTo>
                <a:lnTo>
                  <a:pt x="10962167" y="1235735"/>
                </a:lnTo>
                <a:lnTo>
                  <a:pt x="0" y="12357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4135876" y="2648529"/>
            <a:ext cx="10880120" cy="1595033"/>
          </a:xfrm>
          <a:prstGeom prst="rect">
            <a:avLst/>
          </a:prstGeom>
        </p:spPr>
        <p:txBody>
          <a:bodyPr anchor="t" rtlCol="false" tIns="0" lIns="0" bIns="0" rIns="0">
            <a:spAutoFit/>
          </a:bodyPr>
          <a:lstStyle/>
          <a:p>
            <a:pPr algn="l">
              <a:lnSpc>
                <a:spcPts val="2086"/>
              </a:lnSpc>
            </a:pPr>
          </a:p>
          <a:p>
            <a:pPr algn="l">
              <a:lnSpc>
                <a:spcPts val="2086"/>
              </a:lnSpc>
            </a:pPr>
            <a:r>
              <a:rPr lang="en-US" sz="1846">
                <a:solidFill>
                  <a:srgbClr val="FFFFFF"/>
                </a:solidFill>
                <a:latin typeface="Montserrat"/>
                <a:ea typeface="Montserrat"/>
                <a:cs typeface="Montserrat"/>
                <a:sym typeface="Montserrat"/>
              </a:rPr>
              <a:t>2-</a:t>
            </a:r>
            <a:r>
              <a:rPr lang="en-US" sz="1846" b="true">
                <a:solidFill>
                  <a:srgbClr val="FFFFFF"/>
                </a:solidFill>
                <a:latin typeface="Montserrat Bold"/>
                <a:ea typeface="Montserrat Bold"/>
                <a:cs typeface="Montserrat Bold"/>
                <a:sym typeface="Montserrat Bold"/>
              </a:rPr>
              <a:t> Ad Campaign Optimization</a:t>
            </a:r>
          </a:p>
          <a:p>
            <a:pPr algn="l">
              <a:lnSpc>
                <a:spcPts val="2086"/>
              </a:lnSpc>
            </a:pPr>
            <a:r>
              <a:rPr lang="en-US" sz="1846">
                <a:solidFill>
                  <a:srgbClr val="FFFFFF"/>
                </a:solidFill>
                <a:latin typeface="Montserrat"/>
                <a:ea typeface="Montserrat"/>
                <a:cs typeface="Montserrat"/>
                <a:sym typeface="Montserrat"/>
              </a:rPr>
              <a:t>Making ads more effective.</a:t>
            </a:r>
          </a:p>
          <a:p>
            <a:pPr algn="l" marL="398583" indent="-199291" lvl="1">
              <a:lnSpc>
                <a:spcPts val="2086"/>
              </a:lnSpc>
              <a:buFont typeface="Arial"/>
              <a:buChar char="•"/>
            </a:pPr>
            <a:r>
              <a:rPr lang="en-US" b="true" sz="1846">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Understands how all the parts of an ad campaign work together.</a:t>
            </a:r>
          </a:p>
          <a:p>
            <a:pPr algn="l">
              <a:lnSpc>
                <a:spcPts val="2086"/>
              </a:lnSpc>
            </a:pPr>
          </a:p>
          <a:p>
            <a:pPr algn="l">
              <a:lnSpc>
                <a:spcPts val="2086"/>
              </a:lnSpc>
            </a:pPr>
          </a:p>
        </p:txBody>
      </p:sp>
      <p:sp>
        <p:nvSpPr>
          <p:cNvPr name="TextBox 18" id="18"/>
          <p:cNvSpPr txBox="true"/>
          <p:nvPr/>
        </p:nvSpPr>
        <p:spPr>
          <a:xfrm rot="0">
            <a:off x="4382509" y="6977424"/>
            <a:ext cx="4145903" cy="2856230"/>
          </a:xfrm>
          <a:prstGeom prst="rect">
            <a:avLst/>
          </a:prstGeom>
        </p:spPr>
        <p:txBody>
          <a:bodyPr anchor="t" rtlCol="false" tIns="0" lIns="0" bIns="0" rIns="0">
            <a:spAutoFit/>
          </a:bodyPr>
          <a:lstStyle/>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Can handle </a:t>
            </a:r>
            <a:r>
              <a:rPr lang="en-US" sz="2000">
                <a:solidFill>
                  <a:srgbClr val="AEEFE5"/>
                </a:solidFill>
                <a:latin typeface="Montserrat"/>
                <a:ea typeface="Montserrat"/>
                <a:cs typeface="Montserrat"/>
                <a:sym typeface="Montserrat"/>
              </a:rPr>
              <a:t>many types of data</a:t>
            </a:r>
            <a:r>
              <a:rPr lang="en-US" sz="2000">
                <a:solidFill>
                  <a:srgbClr val="FFFFFF"/>
                </a:solidFill>
                <a:latin typeface="Montserrat"/>
                <a:ea typeface="Montserrat"/>
                <a:cs typeface="Montserrat"/>
                <a:sym typeface="Montserrat"/>
              </a:rPr>
              <a:t> (like numbers, categories, and text).</a:t>
            </a:r>
          </a:p>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Great at finding </a:t>
            </a:r>
            <a:r>
              <a:rPr lang="en-US" sz="2000">
                <a:solidFill>
                  <a:srgbClr val="AEEFE5"/>
                </a:solidFill>
                <a:latin typeface="Montserrat"/>
                <a:ea typeface="Montserrat"/>
                <a:cs typeface="Montserrat"/>
                <a:sym typeface="Montserrat"/>
              </a:rPr>
              <a:t>complex connections</a:t>
            </a:r>
            <a:r>
              <a:rPr lang="en-US" sz="2000">
                <a:solidFill>
                  <a:srgbClr val="FFFFFF"/>
                </a:solidFill>
                <a:latin typeface="Montserrat"/>
                <a:ea typeface="Montserrat"/>
                <a:cs typeface="Montserrat"/>
                <a:sym typeface="Montserrat"/>
              </a:rPr>
              <a:t> in data.</a:t>
            </a:r>
          </a:p>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Some models, like </a:t>
            </a:r>
            <a:r>
              <a:rPr lang="en-US" sz="2000">
                <a:solidFill>
                  <a:srgbClr val="AEEFE5"/>
                </a:solidFill>
                <a:latin typeface="Montserrat"/>
                <a:ea typeface="Montserrat"/>
                <a:cs typeface="Montserrat"/>
                <a:sym typeface="Montserrat"/>
              </a:rPr>
              <a:t>ExcelFormer</a:t>
            </a:r>
            <a:r>
              <a:rPr lang="en-US" sz="2000">
                <a:solidFill>
                  <a:srgbClr val="FFFFFF"/>
                </a:solidFill>
                <a:latin typeface="Montserrat"/>
                <a:ea typeface="Montserrat"/>
                <a:cs typeface="Montserrat"/>
                <a:sym typeface="Montserrat"/>
              </a:rPr>
              <a:t>, can ignore the stuff that doesn’t matter, reducing noise.</a:t>
            </a:r>
          </a:p>
          <a:p>
            <a:pPr algn="l">
              <a:lnSpc>
                <a:spcPts val="2260"/>
              </a:lnSpc>
            </a:pPr>
          </a:p>
        </p:txBody>
      </p:sp>
      <p:sp>
        <p:nvSpPr>
          <p:cNvPr name="TextBox 19" id="19"/>
          <p:cNvSpPr txBox="true"/>
          <p:nvPr/>
        </p:nvSpPr>
        <p:spPr>
          <a:xfrm rot="0">
            <a:off x="9461320" y="7004221"/>
            <a:ext cx="4818577" cy="2829433"/>
          </a:xfrm>
          <a:prstGeom prst="rect">
            <a:avLst/>
          </a:prstGeom>
        </p:spPr>
        <p:txBody>
          <a:bodyPr anchor="t" rtlCol="false" tIns="0" lIns="0" bIns="0" rIns="0">
            <a:spAutoFit/>
          </a:bodyPr>
          <a:lstStyle/>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They need </a:t>
            </a:r>
            <a:r>
              <a:rPr lang="en-US" sz="2199">
                <a:solidFill>
                  <a:srgbClr val="AEEFE5"/>
                </a:solidFill>
                <a:latin typeface="Montserrat"/>
                <a:ea typeface="Montserrat"/>
                <a:cs typeface="Montserrat"/>
                <a:sym typeface="Montserrat"/>
              </a:rPr>
              <a:t>more computing power</a:t>
            </a:r>
            <a:r>
              <a:rPr lang="en-US" sz="2199">
                <a:solidFill>
                  <a:srgbClr val="FFFFFF"/>
                </a:solidFill>
                <a:latin typeface="Montserrat"/>
                <a:ea typeface="Montserrat"/>
                <a:cs typeface="Montserrat"/>
                <a:sym typeface="Montserrat"/>
              </a:rPr>
              <a:t>, which can be expensive.</a:t>
            </a:r>
          </a:p>
          <a:p>
            <a:pPr algn="l" marL="474979" indent="-237490" lvl="1">
              <a:lnSpc>
                <a:spcPts val="2485"/>
              </a:lnSpc>
              <a:buFont typeface="Arial"/>
              <a:buChar char="•"/>
            </a:pPr>
            <a:r>
              <a:rPr lang="en-US" sz="2199">
                <a:solidFill>
                  <a:srgbClr val="AEEFE5"/>
                </a:solidFill>
                <a:latin typeface="Montserrat"/>
                <a:ea typeface="Montserrat"/>
                <a:cs typeface="Montserrat"/>
                <a:sym typeface="Montserrat"/>
              </a:rPr>
              <a:t>Harder to build and manage</a:t>
            </a:r>
            <a:r>
              <a:rPr lang="en-US" sz="2199">
                <a:solidFill>
                  <a:srgbClr val="FFFFFF"/>
                </a:solidFill>
                <a:latin typeface="Montserrat"/>
                <a:ea typeface="Montserrat"/>
                <a:cs typeface="Montserrat"/>
                <a:sym typeface="Montserrat"/>
              </a:rPr>
              <a:t> than simpler models.</a:t>
            </a:r>
          </a:p>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Sometimes, </a:t>
            </a:r>
            <a:r>
              <a:rPr lang="en-US" sz="2199">
                <a:solidFill>
                  <a:srgbClr val="AEEFE5"/>
                </a:solidFill>
                <a:latin typeface="Montserrat"/>
                <a:ea typeface="Montserrat"/>
                <a:cs typeface="Montserrat"/>
                <a:sym typeface="Montserrat"/>
              </a:rPr>
              <a:t>the extra complexity doesn’t lead to much better performance.</a:t>
            </a:r>
          </a:p>
          <a:p>
            <a:pPr algn="l">
              <a:lnSpc>
                <a:spcPts val="2485"/>
              </a:lnSpc>
            </a:pPr>
          </a:p>
        </p:txBody>
      </p:sp>
      <p:sp>
        <p:nvSpPr>
          <p:cNvPr name="Freeform 20" id="20"/>
          <p:cNvSpPr/>
          <p:nvPr/>
        </p:nvSpPr>
        <p:spPr>
          <a:xfrm flipH="false" flipV="false" rot="0">
            <a:off x="3950440" y="4172899"/>
            <a:ext cx="10689025" cy="1204945"/>
          </a:xfrm>
          <a:custGeom>
            <a:avLst/>
            <a:gdLst/>
            <a:ahLst/>
            <a:cxnLst/>
            <a:rect r="r" b="b" t="t" l="l"/>
            <a:pathLst>
              <a:path h="1204945" w="10689025">
                <a:moveTo>
                  <a:pt x="0" y="0"/>
                </a:moveTo>
                <a:lnTo>
                  <a:pt x="10689025" y="0"/>
                </a:lnTo>
                <a:lnTo>
                  <a:pt x="10689025" y="1204945"/>
                </a:lnTo>
                <a:lnTo>
                  <a:pt x="0" y="1204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4113873" y="4395962"/>
            <a:ext cx="10694894" cy="778412"/>
          </a:xfrm>
          <a:prstGeom prst="rect">
            <a:avLst/>
          </a:prstGeom>
        </p:spPr>
        <p:txBody>
          <a:bodyPr anchor="t" rtlCol="false" tIns="0" lIns="0" bIns="0" rIns="0">
            <a:spAutoFit/>
          </a:bodyPr>
          <a:lstStyle/>
          <a:p>
            <a:pPr algn="l">
              <a:lnSpc>
                <a:spcPts val="2086"/>
              </a:lnSpc>
            </a:pPr>
            <a:r>
              <a:rPr lang="en-US" sz="1846">
                <a:solidFill>
                  <a:srgbClr val="FFFFFF"/>
                </a:solidFill>
                <a:latin typeface="Montserrat"/>
                <a:ea typeface="Montserrat"/>
                <a:cs typeface="Montserrat"/>
                <a:sym typeface="Montserrat"/>
              </a:rPr>
              <a:t>3- </a:t>
            </a:r>
            <a:r>
              <a:rPr lang="en-US" sz="1846" b="true">
                <a:solidFill>
                  <a:srgbClr val="FFFFFF"/>
                </a:solidFill>
                <a:latin typeface="Montserrat Bold"/>
                <a:ea typeface="Montserrat Bold"/>
                <a:cs typeface="Montserrat Bold"/>
                <a:sym typeface="Montserrat Bold"/>
              </a:rPr>
              <a:t>Content</a:t>
            </a:r>
            <a:r>
              <a:rPr lang="en-US" sz="1846" b="true">
                <a:solidFill>
                  <a:srgbClr val="FFFFFF"/>
                </a:solidFill>
                <a:latin typeface="Montserrat Bold"/>
                <a:ea typeface="Montserrat Bold"/>
                <a:cs typeface="Montserrat Bold"/>
                <a:sym typeface="Montserrat Bold"/>
              </a:rPr>
              <a:t> Recommendation</a:t>
            </a:r>
          </a:p>
          <a:p>
            <a:pPr algn="l">
              <a:lnSpc>
                <a:spcPts val="2086"/>
              </a:lnSpc>
            </a:pPr>
            <a:r>
              <a:rPr lang="en-US" sz="1846">
                <a:solidFill>
                  <a:srgbClr val="FFFFFF"/>
                </a:solidFill>
                <a:latin typeface="Montserrat"/>
                <a:ea typeface="Montserrat"/>
                <a:cs typeface="Montserrat"/>
                <a:sym typeface="Montserrat"/>
              </a:rPr>
              <a:t>Suggesting videos, products, or articles you might like.</a:t>
            </a:r>
          </a:p>
          <a:p>
            <a:pPr algn="l">
              <a:lnSpc>
                <a:spcPts val="2086"/>
              </a:lnSpc>
            </a:pPr>
            <a:r>
              <a:rPr lang="en-US" sz="1846" b="true">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Can figure out how different pieces of content relate to each other.</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7311786" y="4804606"/>
            <a:ext cx="9474505" cy="1946580"/>
          </a:xfrm>
          <a:custGeom>
            <a:avLst/>
            <a:gdLst/>
            <a:ahLst/>
            <a:cxnLst/>
            <a:rect r="r" b="b" t="t" l="l"/>
            <a:pathLst>
              <a:path h="1946580" w="9474505">
                <a:moveTo>
                  <a:pt x="0" y="0"/>
                </a:moveTo>
                <a:lnTo>
                  <a:pt x="9474505" y="0"/>
                </a:lnTo>
                <a:lnTo>
                  <a:pt x="9474505" y="1946580"/>
                </a:lnTo>
                <a:lnTo>
                  <a:pt x="0" y="1946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670493" y="1462542"/>
            <a:ext cx="846646" cy="886611"/>
            <a:chOff x="0" y="0"/>
            <a:chExt cx="162591" cy="170265"/>
          </a:xfrm>
        </p:grpSpPr>
        <p:sp>
          <p:nvSpPr>
            <p:cNvPr name="Freeform 8" id="8"/>
            <p:cNvSpPr/>
            <p:nvPr/>
          </p:nvSpPr>
          <p:spPr>
            <a:xfrm flipH="false" flipV="false" rot="0">
              <a:off x="0" y="0"/>
              <a:ext cx="162591" cy="170265"/>
            </a:xfrm>
            <a:custGeom>
              <a:avLst/>
              <a:gdLst/>
              <a:ahLst/>
              <a:cxnLst/>
              <a:rect r="r" b="b" t="t" l="l"/>
              <a:pathLst>
                <a:path h="170265" w="162591">
                  <a:moveTo>
                    <a:pt x="0" y="0"/>
                  </a:moveTo>
                  <a:lnTo>
                    <a:pt x="162591" y="0"/>
                  </a:lnTo>
                  <a:lnTo>
                    <a:pt x="162591" y="170265"/>
                  </a:lnTo>
                  <a:lnTo>
                    <a:pt x="0" y="170265"/>
                  </a:lnTo>
                  <a:close/>
                </a:path>
              </a:pathLst>
            </a:custGeom>
            <a:solidFill>
              <a:srgbClr val="B49CCD">
                <a:alpha val="35686"/>
              </a:srgbClr>
            </a:solidFill>
          </p:spPr>
        </p:sp>
        <p:sp>
          <p:nvSpPr>
            <p:cNvPr name="TextBox 9" id="9"/>
            <p:cNvSpPr txBox="true"/>
            <p:nvPr/>
          </p:nvSpPr>
          <p:spPr>
            <a:xfrm>
              <a:off x="0" y="38100"/>
              <a:ext cx="162591" cy="132165"/>
            </a:xfrm>
            <a:prstGeom prst="rect">
              <a:avLst/>
            </a:prstGeom>
          </p:spPr>
          <p:txBody>
            <a:bodyPr anchor="ctr" rtlCol="false" tIns="50800" lIns="50800" bIns="50800" rIns="50800"/>
            <a:lstStyle/>
            <a:p>
              <a:pPr algn="ctr">
                <a:lnSpc>
                  <a:spcPts val="2163"/>
                </a:lnSpc>
              </a:pPr>
            </a:p>
          </p:txBody>
        </p:sp>
      </p:grpSp>
      <p:sp>
        <p:nvSpPr>
          <p:cNvPr name="Freeform 10" id="10"/>
          <p:cNvSpPr/>
          <p:nvPr/>
        </p:nvSpPr>
        <p:spPr>
          <a:xfrm flipH="false" flipV="false" rot="0">
            <a:off x="1983477" y="1462542"/>
            <a:ext cx="2167043" cy="2174952"/>
          </a:xfrm>
          <a:custGeom>
            <a:avLst/>
            <a:gdLst/>
            <a:ahLst/>
            <a:cxnLst/>
            <a:rect r="r" b="b" t="t" l="l"/>
            <a:pathLst>
              <a:path h="2174952" w="2167043">
                <a:moveTo>
                  <a:pt x="0" y="0"/>
                </a:moveTo>
                <a:lnTo>
                  <a:pt x="2167043" y="0"/>
                </a:lnTo>
                <a:lnTo>
                  <a:pt x="2167043" y="2174951"/>
                </a:lnTo>
                <a:lnTo>
                  <a:pt x="0" y="21749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219899" y="3616461"/>
            <a:ext cx="5035359" cy="1034537"/>
          </a:xfrm>
          <a:custGeom>
            <a:avLst/>
            <a:gdLst/>
            <a:ahLst/>
            <a:cxnLst/>
            <a:rect r="r" b="b" t="t" l="l"/>
            <a:pathLst>
              <a:path h="1034537" w="5035359">
                <a:moveTo>
                  <a:pt x="0" y="0"/>
                </a:moveTo>
                <a:lnTo>
                  <a:pt x="5035359" y="0"/>
                </a:lnTo>
                <a:lnTo>
                  <a:pt x="5035359" y="1034538"/>
                </a:lnTo>
                <a:lnTo>
                  <a:pt x="0" y="10345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166031" y="6924556"/>
            <a:ext cx="7406843" cy="1521770"/>
          </a:xfrm>
          <a:custGeom>
            <a:avLst/>
            <a:gdLst/>
            <a:ahLst/>
            <a:cxnLst/>
            <a:rect r="r" b="b" t="t" l="l"/>
            <a:pathLst>
              <a:path h="1521770" w="7406843">
                <a:moveTo>
                  <a:pt x="0" y="0"/>
                </a:moveTo>
                <a:lnTo>
                  <a:pt x="7406844" y="0"/>
                </a:lnTo>
                <a:lnTo>
                  <a:pt x="7406844" y="1521770"/>
                </a:lnTo>
                <a:lnTo>
                  <a:pt x="0" y="1521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983477" y="4226996"/>
            <a:ext cx="4855422" cy="4150165"/>
          </a:xfrm>
          <a:prstGeom prst="rect">
            <a:avLst/>
          </a:prstGeom>
        </p:spPr>
        <p:txBody>
          <a:bodyPr anchor="t" rtlCol="false" tIns="0" lIns="0" bIns="0" rIns="0">
            <a:spAutoFit/>
          </a:bodyPr>
          <a:lstStyle/>
          <a:p>
            <a:pPr algn="l">
              <a:lnSpc>
                <a:spcPts val="5431"/>
              </a:lnSpc>
            </a:pPr>
            <a:r>
              <a:rPr lang="en-US" sz="5431">
                <a:solidFill>
                  <a:srgbClr val="B49CCD"/>
                </a:solidFill>
                <a:latin typeface="Gagalin"/>
                <a:ea typeface="Gagalin"/>
                <a:cs typeface="Gagalin"/>
                <a:sym typeface="Gagalin"/>
              </a:rPr>
              <a:t>SIX</a:t>
            </a:r>
            <a:r>
              <a:rPr lang="en-US" sz="5431">
                <a:solidFill>
                  <a:srgbClr val="FFFFFF"/>
                </a:solidFill>
                <a:latin typeface="Gagalin"/>
                <a:ea typeface="Gagalin"/>
                <a:cs typeface="Gagalin"/>
                <a:sym typeface="Gagalin"/>
              </a:rPr>
              <a:t> MAIN APPROACHES FOR DEEP NEURAL NETWORKS ON TABULAR DATA</a:t>
            </a:r>
          </a:p>
        </p:txBody>
      </p:sp>
      <p:sp>
        <p:nvSpPr>
          <p:cNvPr name="TextBox 14" id="14"/>
          <p:cNvSpPr txBox="true"/>
          <p:nvPr/>
        </p:nvSpPr>
        <p:spPr>
          <a:xfrm rot="0">
            <a:off x="7439270" y="5086467"/>
            <a:ext cx="9611266" cy="1380890"/>
          </a:xfrm>
          <a:prstGeom prst="rect">
            <a:avLst/>
          </a:prstGeom>
        </p:spPr>
        <p:txBody>
          <a:bodyPr anchor="t" rtlCol="false" tIns="0" lIns="0" bIns="0" rIns="0">
            <a:spAutoFit/>
          </a:bodyPr>
          <a:lstStyle/>
          <a:p>
            <a:pPr algn="l">
              <a:lnSpc>
                <a:spcPts val="3602"/>
              </a:lnSpc>
            </a:pPr>
            <a:r>
              <a:rPr lang="en-US" sz="3187">
                <a:solidFill>
                  <a:srgbClr val="FFFFFF"/>
                </a:solidFill>
                <a:latin typeface="Montserrat"/>
                <a:ea typeface="Montserrat"/>
                <a:cs typeface="Montserrat"/>
                <a:sym typeface="Montserrat"/>
              </a:rPr>
              <a:t>Te</a:t>
            </a:r>
            <a:r>
              <a:rPr lang="en-US" sz="3187">
                <a:solidFill>
                  <a:srgbClr val="FFFFFF"/>
                </a:solidFill>
                <a:latin typeface="Montserrat"/>
                <a:ea typeface="Montserrat"/>
                <a:cs typeface="Montserrat"/>
                <a:sym typeface="Montserrat"/>
              </a:rPr>
              <a:t>chniqu</a:t>
            </a:r>
            <a:r>
              <a:rPr lang="en-US" sz="3187">
                <a:solidFill>
                  <a:srgbClr val="FFFFFF"/>
                </a:solidFill>
                <a:latin typeface="Montserrat"/>
                <a:ea typeface="Montserrat"/>
                <a:cs typeface="Montserrat"/>
                <a:sym typeface="Montserrat"/>
              </a:rPr>
              <a:t>e</a:t>
            </a:r>
            <a:r>
              <a:rPr lang="en-US" sz="3187">
                <a:solidFill>
                  <a:srgbClr val="FFFFFF"/>
                </a:solidFill>
                <a:latin typeface="Montserrat"/>
                <a:ea typeface="Montserrat"/>
                <a:cs typeface="Montserrat"/>
                <a:sym typeface="Montserrat"/>
              </a:rPr>
              <a:t>s</a:t>
            </a:r>
            <a:r>
              <a:rPr lang="en-US" sz="3187">
                <a:solidFill>
                  <a:srgbClr val="FFFFFF"/>
                </a:solidFill>
                <a:latin typeface="Montserrat"/>
                <a:ea typeface="Montserrat"/>
                <a:cs typeface="Montserrat"/>
                <a:sym typeface="Montserrat"/>
              </a:rPr>
              <a:t> th</a:t>
            </a:r>
            <a:r>
              <a:rPr lang="en-US" sz="3187">
                <a:solidFill>
                  <a:srgbClr val="FFFFFF"/>
                </a:solidFill>
                <a:latin typeface="Montserrat"/>
                <a:ea typeface="Montserrat"/>
                <a:cs typeface="Montserrat"/>
                <a:sym typeface="Montserrat"/>
              </a:rPr>
              <a:t>a</a:t>
            </a:r>
            <a:r>
              <a:rPr lang="en-US" sz="3187">
                <a:solidFill>
                  <a:srgbClr val="FFFFFF"/>
                </a:solidFill>
                <a:latin typeface="Montserrat"/>
                <a:ea typeface="Montserrat"/>
                <a:cs typeface="Montserrat"/>
                <a:sym typeface="Montserrat"/>
              </a:rPr>
              <a:t>t</a:t>
            </a:r>
            <a:r>
              <a:rPr lang="en-US" sz="3187" b="true">
                <a:solidFill>
                  <a:srgbClr val="AEEFE5"/>
                </a:solidFill>
                <a:latin typeface="Montserrat Bold"/>
                <a:ea typeface="Montserrat Bold"/>
                <a:cs typeface="Montserrat Bold"/>
                <a:sym typeface="Montserrat Bold"/>
              </a:rPr>
              <a:t> guide or limit how a neural network learns</a:t>
            </a:r>
            <a:r>
              <a:rPr lang="en-US" sz="3187">
                <a:solidFill>
                  <a:srgbClr val="FFFFFF"/>
                </a:solidFill>
                <a:latin typeface="Montserrat"/>
                <a:ea typeface="Montserrat"/>
                <a:cs typeface="Montserrat"/>
                <a:sym typeface="Montserrat"/>
              </a:rPr>
              <a:t>,</a:t>
            </a:r>
            <a:r>
              <a:rPr lang="en-US" sz="3187">
                <a:solidFill>
                  <a:srgbClr val="FFFFFF"/>
                </a:solidFill>
                <a:latin typeface="Montserrat"/>
                <a:ea typeface="Montserrat"/>
                <a:cs typeface="Montserrat"/>
                <a:sym typeface="Montserrat"/>
              </a:rPr>
              <a:t> </a:t>
            </a:r>
            <a:r>
              <a:rPr lang="en-US" sz="3187">
                <a:solidFill>
                  <a:srgbClr val="FFFFFF"/>
                </a:solidFill>
                <a:latin typeface="Montserrat"/>
                <a:ea typeface="Montserrat"/>
                <a:cs typeface="Montserrat"/>
                <a:sym typeface="Montserrat"/>
              </a:rPr>
              <a:t>so i</a:t>
            </a:r>
            <a:r>
              <a:rPr lang="en-US" sz="3187">
                <a:solidFill>
                  <a:srgbClr val="FFFFFF"/>
                </a:solidFill>
                <a:latin typeface="Montserrat"/>
                <a:ea typeface="Montserrat"/>
                <a:cs typeface="Montserrat"/>
                <a:sym typeface="Montserrat"/>
              </a:rPr>
              <a:t>t</a:t>
            </a:r>
            <a:r>
              <a:rPr lang="en-US" sz="3187">
                <a:solidFill>
                  <a:srgbClr val="FFFFFF"/>
                </a:solidFill>
                <a:latin typeface="Montserrat"/>
                <a:ea typeface="Montserrat"/>
                <a:cs typeface="Montserrat"/>
                <a:sym typeface="Montserrat"/>
              </a:rPr>
              <a:t> d</a:t>
            </a:r>
            <a:r>
              <a:rPr lang="en-US" sz="3187">
                <a:solidFill>
                  <a:srgbClr val="FFFFFF"/>
                </a:solidFill>
                <a:latin typeface="Montserrat"/>
                <a:ea typeface="Montserrat"/>
                <a:cs typeface="Montserrat"/>
                <a:sym typeface="Montserrat"/>
              </a:rPr>
              <a:t>o</a:t>
            </a:r>
            <a:r>
              <a:rPr lang="en-US" sz="3187">
                <a:solidFill>
                  <a:srgbClr val="FFFFFF"/>
                </a:solidFill>
                <a:latin typeface="Montserrat"/>
                <a:ea typeface="Montserrat"/>
                <a:cs typeface="Montserrat"/>
                <a:sym typeface="Montserrat"/>
              </a:rPr>
              <a:t>esn’t “overthin</a:t>
            </a:r>
            <a:r>
              <a:rPr lang="en-US" sz="3187">
                <a:solidFill>
                  <a:srgbClr val="FFFFFF"/>
                </a:solidFill>
                <a:latin typeface="Montserrat"/>
                <a:ea typeface="Montserrat"/>
                <a:cs typeface="Montserrat"/>
                <a:sym typeface="Montserrat"/>
              </a:rPr>
              <a:t>k</a:t>
            </a:r>
            <a:r>
              <a:rPr lang="en-US" sz="3187">
                <a:solidFill>
                  <a:srgbClr val="FFFFFF"/>
                </a:solidFill>
                <a:latin typeface="Montserrat"/>
                <a:ea typeface="Montserrat"/>
                <a:cs typeface="Montserrat"/>
                <a:sym typeface="Montserrat"/>
              </a:rPr>
              <a:t>” or m</a:t>
            </a:r>
            <a:r>
              <a:rPr lang="en-US" sz="3187">
                <a:solidFill>
                  <a:srgbClr val="FFFFFF"/>
                </a:solidFill>
                <a:latin typeface="Montserrat"/>
                <a:ea typeface="Montserrat"/>
                <a:cs typeface="Montserrat"/>
                <a:sym typeface="Montserrat"/>
              </a:rPr>
              <a:t>e</a:t>
            </a:r>
            <a:r>
              <a:rPr lang="en-US" sz="3187">
                <a:solidFill>
                  <a:srgbClr val="FFFFFF"/>
                </a:solidFill>
                <a:latin typeface="Montserrat"/>
                <a:ea typeface="Montserrat"/>
                <a:cs typeface="Montserrat"/>
                <a:sym typeface="Montserrat"/>
              </a:rPr>
              <a:t>morize the trai</a:t>
            </a:r>
            <a:r>
              <a:rPr lang="en-US" sz="3187">
                <a:solidFill>
                  <a:srgbClr val="FFFFFF"/>
                </a:solidFill>
                <a:latin typeface="Montserrat"/>
                <a:ea typeface="Montserrat"/>
                <a:cs typeface="Montserrat"/>
                <a:sym typeface="Montserrat"/>
              </a:rPr>
              <a:t>n</a:t>
            </a:r>
            <a:r>
              <a:rPr lang="en-US" sz="3187">
                <a:solidFill>
                  <a:srgbClr val="FFFFFF"/>
                </a:solidFill>
                <a:latin typeface="Montserrat"/>
                <a:ea typeface="Montserrat"/>
                <a:cs typeface="Montserrat"/>
                <a:sym typeface="Montserrat"/>
              </a:rPr>
              <a:t>ing data too much</a:t>
            </a:r>
          </a:p>
        </p:txBody>
      </p:sp>
      <p:sp>
        <p:nvSpPr>
          <p:cNvPr name="TextBox 15" id="15"/>
          <p:cNvSpPr txBox="true"/>
          <p:nvPr/>
        </p:nvSpPr>
        <p:spPr>
          <a:xfrm rot="0">
            <a:off x="8708319" y="1440464"/>
            <a:ext cx="8550981" cy="1692615"/>
          </a:xfrm>
          <a:prstGeom prst="rect">
            <a:avLst/>
          </a:prstGeom>
        </p:spPr>
        <p:txBody>
          <a:bodyPr anchor="t" rtlCol="false" tIns="0" lIns="0" bIns="0" rIns="0">
            <a:spAutoFit/>
          </a:bodyPr>
          <a:lstStyle/>
          <a:p>
            <a:pPr algn="l">
              <a:lnSpc>
                <a:spcPts val="4482"/>
              </a:lnSpc>
            </a:pPr>
            <a:r>
              <a:rPr lang="en-US" sz="3966" b="true">
                <a:solidFill>
                  <a:srgbClr val="B49CCD"/>
                </a:solidFill>
                <a:latin typeface="Montserrat Bold"/>
                <a:ea typeface="Montserrat Bold"/>
                <a:cs typeface="Montserrat Bold"/>
                <a:sym typeface="Montserrat Bold"/>
              </a:rPr>
              <a:t>Regularization-Based Methods: </a:t>
            </a:r>
            <a:r>
              <a:rPr lang="en-US" sz="3966" b="true">
                <a:solidFill>
                  <a:srgbClr val="FFFFFF"/>
                </a:solidFill>
                <a:latin typeface="Montserrat Bold"/>
                <a:ea typeface="Montserrat Bold"/>
                <a:cs typeface="Montserrat Bold"/>
                <a:sym typeface="Montserrat Bold"/>
              </a:rPr>
              <a:t>Preventing Overlearning</a:t>
            </a:r>
          </a:p>
          <a:p>
            <a:pPr algn="l">
              <a:lnSpc>
                <a:spcPts val="4482"/>
              </a:lnSpc>
            </a:pPr>
          </a:p>
        </p:txBody>
      </p:sp>
      <p:sp>
        <p:nvSpPr>
          <p:cNvPr name="TextBox 16" id="16"/>
          <p:cNvSpPr txBox="true"/>
          <p:nvPr/>
        </p:nvSpPr>
        <p:spPr>
          <a:xfrm rot="0">
            <a:off x="7862977" y="1668108"/>
            <a:ext cx="461678" cy="494528"/>
          </a:xfrm>
          <a:prstGeom prst="rect">
            <a:avLst/>
          </a:prstGeom>
        </p:spPr>
        <p:txBody>
          <a:bodyPr anchor="t" rtlCol="false" tIns="0" lIns="0" bIns="0" rIns="0">
            <a:spAutoFit/>
          </a:bodyPr>
          <a:lstStyle/>
          <a:p>
            <a:pPr algn="l">
              <a:lnSpc>
                <a:spcPts val="3844"/>
              </a:lnSpc>
            </a:pPr>
            <a:r>
              <a:rPr lang="en-US" sz="3402" b="true">
                <a:solidFill>
                  <a:srgbClr val="FFFFFF"/>
                </a:solidFill>
                <a:latin typeface="Montserrat Bold"/>
                <a:ea typeface="Montserrat Bold"/>
                <a:cs typeface="Montserrat Bold"/>
                <a:sym typeface="Montserrat Bold"/>
              </a:rPr>
              <a:t>4.</a:t>
            </a:r>
          </a:p>
        </p:txBody>
      </p:sp>
      <p:sp>
        <p:nvSpPr>
          <p:cNvPr name="TextBox 17" id="17"/>
          <p:cNvSpPr txBox="true"/>
          <p:nvPr/>
        </p:nvSpPr>
        <p:spPr>
          <a:xfrm rot="0">
            <a:off x="7408995" y="3945909"/>
            <a:ext cx="4657167" cy="410523"/>
          </a:xfrm>
          <a:prstGeom prst="rect">
            <a:avLst/>
          </a:prstGeom>
        </p:spPr>
        <p:txBody>
          <a:bodyPr anchor="t" rtlCol="false" tIns="0" lIns="0" bIns="0" rIns="0">
            <a:spAutoFit/>
          </a:bodyPr>
          <a:lstStyle/>
          <a:p>
            <a:pPr algn="l">
              <a:lnSpc>
                <a:spcPts val="3263"/>
              </a:lnSpc>
            </a:pPr>
            <a:r>
              <a:rPr lang="en-US" sz="2887" b="true">
                <a:solidFill>
                  <a:srgbClr val="FFFFFF"/>
                </a:solidFill>
                <a:latin typeface="Montserrat Bold"/>
                <a:ea typeface="Montserrat Bold"/>
                <a:cs typeface="Montserrat Bold"/>
                <a:sym typeface="Montserrat Bold"/>
              </a:rPr>
              <a:t>What are they?</a:t>
            </a:r>
          </a:p>
        </p:txBody>
      </p:sp>
      <p:sp>
        <p:nvSpPr>
          <p:cNvPr name="TextBox 18" id="18"/>
          <p:cNvSpPr txBox="true"/>
          <p:nvPr/>
        </p:nvSpPr>
        <p:spPr>
          <a:xfrm rot="0">
            <a:off x="8517139" y="7305961"/>
            <a:ext cx="6966521" cy="1071200"/>
          </a:xfrm>
          <a:prstGeom prst="rect">
            <a:avLst/>
          </a:prstGeom>
        </p:spPr>
        <p:txBody>
          <a:bodyPr anchor="t" rtlCol="false" tIns="0" lIns="0" bIns="0" rIns="0">
            <a:spAutoFit/>
          </a:bodyPr>
          <a:lstStyle/>
          <a:p>
            <a:pPr algn="l">
              <a:lnSpc>
                <a:spcPts val="2875"/>
              </a:lnSpc>
            </a:pPr>
            <a:r>
              <a:rPr lang="en-US" sz="2544">
                <a:solidFill>
                  <a:srgbClr val="FFFFFF"/>
                </a:solidFill>
                <a:latin typeface="Montserrat"/>
                <a:ea typeface="Montserrat"/>
                <a:cs typeface="Montserrat"/>
                <a:sym typeface="Montserrat"/>
              </a:rPr>
              <a:t>Like a student learning the main ideas instead of just memorizing test answers.</a:t>
            </a:r>
          </a:p>
          <a:p>
            <a:pPr algn="l">
              <a:lnSpc>
                <a:spcPts val="2875"/>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4076431" y="395004"/>
            <a:ext cx="3681150" cy="756309"/>
          </a:xfrm>
          <a:custGeom>
            <a:avLst/>
            <a:gdLst/>
            <a:ahLst/>
            <a:cxnLst/>
            <a:rect r="r" b="b" t="t" l="l"/>
            <a:pathLst>
              <a:path h="756309" w="3681150">
                <a:moveTo>
                  <a:pt x="0" y="0"/>
                </a:moveTo>
                <a:lnTo>
                  <a:pt x="3681150" y="0"/>
                </a:lnTo>
                <a:lnTo>
                  <a:pt x="3681150" y="756309"/>
                </a:lnTo>
                <a:lnTo>
                  <a:pt x="0" y="7563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391853" y="5577869"/>
            <a:ext cx="3424393" cy="703557"/>
          </a:xfrm>
          <a:custGeom>
            <a:avLst/>
            <a:gdLst/>
            <a:ahLst/>
            <a:cxnLst/>
            <a:rect r="r" b="b" t="t" l="l"/>
            <a:pathLst>
              <a:path h="703557" w="3424393">
                <a:moveTo>
                  <a:pt x="0" y="0"/>
                </a:moveTo>
                <a:lnTo>
                  <a:pt x="3424393" y="0"/>
                </a:lnTo>
                <a:lnTo>
                  <a:pt x="3424393" y="703557"/>
                </a:lnTo>
                <a:lnTo>
                  <a:pt x="0" y="703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447187" y="5683061"/>
            <a:ext cx="2400399" cy="493173"/>
          </a:xfrm>
          <a:custGeom>
            <a:avLst/>
            <a:gdLst/>
            <a:ahLst/>
            <a:cxnLst/>
            <a:rect r="r" b="b" t="t" l="l"/>
            <a:pathLst>
              <a:path h="493173" w="2400399">
                <a:moveTo>
                  <a:pt x="0" y="0"/>
                </a:moveTo>
                <a:lnTo>
                  <a:pt x="2400399" y="0"/>
                </a:lnTo>
                <a:lnTo>
                  <a:pt x="2400399" y="493173"/>
                </a:lnTo>
                <a:lnTo>
                  <a:pt x="0" y="4931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076431" y="6500501"/>
            <a:ext cx="4900890" cy="3484087"/>
          </a:xfrm>
          <a:custGeom>
            <a:avLst/>
            <a:gdLst/>
            <a:ahLst/>
            <a:cxnLst/>
            <a:rect r="r" b="b" t="t" l="l"/>
            <a:pathLst>
              <a:path h="3484087" w="4900890">
                <a:moveTo>
                  <a:pt x="0" y="0"/>
                </a:moveTo>
                <a:lnTo>
                  <a:pt x="4900890" y="0"/>
                </a:lnTo>
                <a:lnTo>
                  <a:pt x="4900890" y="3484088"/>
                </a:lnTo>
                <a:lnTo>
                  <a:pt x="0" y="3484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193395" y="6363763"/>
            <a:ext cx="5346165" cy="3800637"/>
          </a:xfrm>
          <a:custGeom>
            <a:avLst/>
            <a:gdLst/>
            <a:ahLst/>
            <a:cxnLst/>
            <a:rect r="r" b="b" t="t" l="l"/>
            <a:pathLst>
              <a:path h="3800637" w="5346165">
                <a:moveTo>
                  <a:pt x="0" y="0"/>
                </a:moveTo>
                <a:lnTo>
                  <a:pt x="5346165" y="0"/>
                </a:lnTo>
                <a:lnTo>
                  <a:pt x="5346165" y="3800637"/>
                </a:lnTo>
                <a:lnTo>
                  <a:pt x="0" y="38006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950440" y="1369830"/>
            <a:ext cx="10836324" cy="1221549"/>
          </a:xfrm>
          <a:custGeom>
            <a:avLst/>
            <a:gdLst/>
            <a:ahLst/>
            <a:cxnLst/>
            <a:rect r="r" b="b" t="t" l="l"/>
            <a:pathLst>
              <a:path h="1221549" w="10836324">
                <a:moveTo>
                  <a:pt x="0" y="0"/>
                </a:moveTo>
                <a:lnTo>
                  <a:pt x="10836324" y="0"/>
                </a:lnTo>
                <a:lnTo>
                  <a:pt x="10836324" y="1221549"/>
                </a:lnTo>
                <a:lnTo>
                  <a:pt x="0" y="12215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135876" y="1279437"/>
            <a:ext cx="10650889" cy="1083342"/>
          </a:xfrm>
          <a:prstGeom prst="rect">
            <a:avLst/>
          </a:prstGeom>
        </p:spPr>
        <p:txBody>
          <a:bodyPr anchor="t" rtlCol="false" tIns="0" lIns="0" bIns="0" rIns="0">
            <a:spAutoFit/>
          </a:bodyPr>
          <a:lstStyle/>
          <a:p>
            <a:pPr algn="l">
              <a:lnSpc>
                <a:spcPts val="2102"/>
              </a:lnSpc>
            </a:pPr>
          </a:p>
          <a:p>
            <a:pPr algn="l">
              <a:lnSpc>
                <a:spcPts val="2102"/>
              </a:lnSpc>
            </a:pPr>
            <a:r>
              <a:rPr lang="en-US" b="true" sz="1860">
                <a:solidFill>
                  <a:srgbClr val="FFFFFF"/>
                </a:solidFill>
                <a:latin typeface="Montserrat Bold"/>
                <a:ea typeface="Montserrat Bold"/>
                <a:cs typeface="Montserrat Bold"/>
                <a:sym typeface="Montserrat Bold"/>
              </a:rPr>
              <a:t> </a:t>
            </a:r>
            <a:r>
              <a:rPr lang="en-US" sz="1860">
                <a:solidFill>
                  <a:srgbClr val="FFFFFF"/>
                </a:solidFill>
                <a:latin typeface="Montserrat"/>
                <a:ea typeface="Montserrat"/>
                <a:cs typeface="Montserrat"/>
                <a:sym typeface="Montserrat"/>
              </a:rPr>
              <a:t>1- </a:t>
            </a:r>
            <a:r>
              <a:rPr lang="en-US" b="true" sz="1860">
                <a:solidFill>
                  <a:srgbClr val="FFFFFF"/>
                </a:solidFill>
                <a:latin typeface="Montserrat Bold"/>
                <a:ea typeface="Montserrat Bold"/>
                <a:cs typeface="Montserrat Bold"/>
                <a:sym typeface="Montserrat Bold"/>
              </a:rPr>
              <a:t>Risk</a:t>
            </a:r>
            <a:r>
              <a:rPr lang="en-US" b="true" sz="1860">
                <a:solidFill>
                  <a:srgbClr val="FFFFFF"/>
                </a:solidFill>
                <a:latin typeface="Montserrat Bold"/>
                <a:ea typeface="Montserrat Bold"/>
                <a:cs typeface="Montserrat Bold"/>
                <a:sym typeface="Montserrat Bold"/>
              </a:rPr>
              <a:t> Assessment</a:t>
            </a:r>
          </a:p>
          <a:p>
            <a:pPr algn="l">
              <a:lnSpc>
                <a:spcPts val="2102"/>
              </a:lnSpc>
            </a:pPr>
            <a:r>
              <a:rPr lang="en-US" sz="1860">
                <a:solidFill>
                  <a:srgbClr val="FFFFFF"/>
                </a:solidFill>
                <a:latin typeface="Montserrat"/>
                <a:ea typeface="Montserrat"/>
                <a:cs typeface="Montserrat"/>
                <a:sym typeface="Montserrat"/>
              </a:rPr>
              <a:t>Used to figure out financial or safety risks.</a:t>
            </a:r>
          </a:p>
          <a:p>
            <a:pPr algn="l" marL="401742" indent="-200871" lvl="1">
              <a:lnSpc>
                <a:spcPts val="2102"/>
              </a:lnSpc>
              <a:buFont typeface="Arial"/>
              <a:buChar char="•"/>
            </a:pPr>
            <a:r>
              <a:rPr lang="en-US" b="true" sz="1860">
                <a:solidFill>
                  <a:srgbClr val="FEE04E"/>
                </a:solidFill>
                <a:latin typeface="Montserrat Bold"/>
                <a:ea typeface="Montserrat Bold"/>
                <a:cs typeface="Montserrat Bold"/>
                <a:sym typeface="Montserrat Bold"/>
              </a:rPr>
              <a:t>Advantage</a:t>
            </a:r>
            <a:r>
              <a:rPr lang="en-US" sz="1860">
                <a:solidFill>
                  <a:srgbClr val="FFFFFF"/>
                </a:solidFill>
                <a:latin typeface="Montserrat"/>
                <a:ea typeface="Montserrat"/>
                <a:cs typeface="Montserrat"/>
                <a:sym typeface="Montserrat"/>
              </a:rPr>
              <a:t>: TANGOS makes the AI better at understanding complex risk factors.</a:t>
            </a:r>
          </a:p>
        </p:txBody>
      </p:sp>
      <p:sp>
        <p:nvSpPr>
          <p:cNvPr name="TextBox 13" id="13"/>
          <p:cNvSpPr txBox="true"/>
          <p:nvPr/>
        </p:nvSpPr>
        <p:spPr>
          <a:xfrm rot="0">
            <a:off x="4216340" y="635187"/>
            <a:ext cx="3759487" cy="294993"/>
          </a:xfrm>
          <a:prstGeom prst="rect">
            <a:avLst/>
          </a:prstGeom>
        </p:spPr>
        <p:txBody>
          <a:bodyPr anchor="t" rtlCol="false" tIns="0" lIns="0" bIns="0" rIns="0">
            <a:spAutoFit/>
          </a:bodyPr>
          <a:lstStyle/>
          <a:p>
            <a:pPr algn="l">
              <a:lnSpc>
                <a:spcPts val="2385"/>
              </a:lnSpc>
            </a:pPr>
            <a:r>
              <a:rPr lang="en-US" sz="2111" b="true">
                <a:solidFill>
                  <a:srgbClr val="FFFFFF"/>
                </a:solidFill>
                <a:latin typeface="Montserrat Bold"/>
                <a:ea typeface="Montserrat Bold"/>
                <a:cs typeface="Montserrat Bold"/>
                <a:sym typeface="Montserrat Bold"/>
              </a:rPr>
              <a:t>Real-world applications</a:t>
            </a:r>
          </a:p>
        </p:txBody>
      </p:sp>
      <p:sp>
        <p:nvSpPr>
          <p:cNvPr name="TextBox 14" id="14"/>
          <p:cNvSpPr txBox="true"/>
          <p:nvPr/>
        </p:nvSpPr>
        <p:spPr>
          <a:xfrm rot="0">
            <a:off x="4548678" y="5779892"/>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Why they are useful</a:t>
            </a:r>
          </a:p>
        </p:txBody>
      </p:sp>
      <p:sp>
        <p:nvSpPr>
          <p:cNvPr name="TextBox 15" id="15"/>
          <p:cNvSpPr txBox="true"/>
          <p:nvPr/>
        </p:nvSpPr>
        <p:spPr>
          <a:xfrm rot="0">
            <a:off x="9591551" y="5761864"/>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Challenges</a:t>
            </a:r>
          </a:p>
        </p:txBody>
      </p:sp>
      <p:sp>
        <p:nvSpPr>
          <p:cNvPr name="Freeform 16" id="16"/>
          <p:cNvSpPr/>
          <p:nvPr/>
        </p:nvSpPr>
        <p:spPr>
          <a:xfrm flipH="false" flipV="false" rot="0">
            <a:off x="3950440" y="2733779"/>
            <a:ext cx="10962167" cy="1235735"/>
          </a:xfrm>
          <a:custGeom>
            <a:avLst/>
            <a:gdLst/>
            <a:ahLst/>
            <a:cxnLst/>
            <a:rect r="r" b="b" t="t" l="l"/>
            <a:pathLst>
              <a:path h="1235735" w="10962167">
                <a:moveTo>
                  <a:pt x="0" y="0"/>
                </a:moveTo>
                <a:lnTo>
                  <a:pt x="10962167" y="0"/>
                </a:lnTo>
                <a:lnTo>
                  <a:pt x="10962167" y="1235735"/>
                </a:lnTo>
                <a:lnTo>
                  <a:pt x="0" y="12357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4076431" y="2526713"/>
            <a:ext cx="10880120" cy="1859724"/>
          </a:xfrm>
          <a:prstGeom prst="rect">
            <a:avLst/>
          </a:prstGeom>
        </p:spPr>
        <p:txBody>
          <a:bodyPr anchor="t" rtlCol="false" tIns="0" lIns="0" bIns="0" rIns="0">
            <a:spAutoFit/>
          </a:bodyPr>
          <a:lstStyle/>
          <a:p>
            <a:pPr algn="l">
              <a:lnSpc>
                <a:spcPts val="2086"/>
              </a:lnSpc>
            </a:pPr>
          </a:p>
          <a:p>
            <a:pPr algn="l">
              <a:lnSpc>
                <a:spcPts val="2086"/>
              </a:lnSpc>
            </a:pPr>
            <a:r>
              <a:rPr lang="en-US" sz="1846">
                <a:solidFill>
                  <a:srgbClr val="FFFFFF"/>
                </a:solidFill>
                <a:latin typeface="Montserrat"/>
                <a:ea typeface="Montserrat"/>
                <a:cs typeface="Montserrat"/>
                <a:sym typeface="Montserrat"/>
              </a:rPr>
              <a:t>2-</a:t>
            </a:r>
            <a:r>
              <a:rPr lang="en-US" sz="1846" b="true">
                <a:solidFill>
                  <a:srgbClr val="FFFFFF"/>
                </a:solidFill>
                <a:latin typeface="Montserrat Bold"/>
                <a:ea typeface="Montserrat Bold"/>
                <a:cs typeface="Montserrat Bold"/>
                <a:sym typeface="Montserrat Bold"/>
              </a:rPr>
              <a:t> Anomaly Detection</a:t>
            </a:r>
          </a:p>
          <a:p>
            <a:pPr algn="l">
              <a:lnSpc>
                <a:spcPts val="2086"/>
              </a:lnSpc>
            </a:pPr>
            <a:r>
              <a:rPr lang="en-US" sz="1846">
                <a:solidFill>
                  <a:srgbClr val="FFFFFF"/>
                </a:solidFill>
                <a:latin typeface="Montserrat"/>
                <a:ea typeface="Montserrat"/>
                <a:cs typeface="Montserrat"/>
                <a:sym typeface="Montserrat"/>
              </a:rPr>
              <a:t>Helps spot rare or unusual patterns—like errors or fraud.</a:t>
            </a:r>
          </a:p>
          <a:p>
            <a:pPr algn="l" marL="398583" indent="-199291" lvl="1">
              <a:lnSpc>
                <a:spcPts val="2086"/>
              </a:lnSpc>
              <a:buFont typeface="Arial"/>
              <a:buChar char="•"/>
            </a:pPr>
            <a:r>
              <a:rPr lang="en-US" b="true" sz="1846">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These methods help the AI stay general enough to notice things it hasn't seen before.</a:t>
            </a:r>
          </a:p>
          <a:p>
            <a:pPr algn="l">
              <a:lnSpc>
                <a:spcPts val="2086"/>
              </a:lnSpc>
            </a:pPr>
          </a:p>
          <a:p>
            <a:pPr algn="l">
              <a:lnSpc>
                <a:spcPts val="2086"/>
              </a:lnSpc>
            </a:pPr>
          </a:p>
        </p:txBody>
      </p:sp>
      <p:sp>
        <p:nvSpPr>
          <p:cNvPr name="TextBox 18" id="18"/>
          <p:cNvSpPr txBox="true"/>
          <p:nvPr/>
        </p:nvSpPr>
        <p:spPr>
          <a:xfrm rot="0">
            <a:off x="4382509" y="6847947"/>
            <a:ext cx="4145903" cy="3141980"/>
          </a:xfrm>
          <a:prstGeom prst="rect">
            <a:avLst/>
          </a:prstGeom>
        </p:spPr>
        <p:txBody>
          <a:bodyPr anchor="t" rtlCol="false" tIns="0" lIns="0" bIns="0" rIns="0">
            <a:spAutoFit/>
          </a:bodyPr>
          <a:lstStyle/>
          <a:p>
            <a:pPr algn="l" marL="431801" indent="-215900" lvl="1">
              <a:lnSpc>
                <a:spcPts val="2260"/>
              </a:lnSpc>
              <a:buFont typeface="Arial"/>
              <a:buChar char="•"/>
            </a:pPr>
            <a:r>
              <a:rPr lang="en-US" sz="2000">
                <a:solidFill>
                  <a:srgbClr val="AEEFE5"/>
                </a:solidFill>
                <a:latin typeface="Montserrat"/>
                <a:ea typeface="Montserrat"/>
                <a:cs typeface="Montserrat"/>
                <a:sym typeface="Montserrat"/>
              </a:rPr>
              <a:t>TANGOS</a:t>
            </a:r>
            <a:r>
              <a:rPr lang="en-US" sz="2000">
                <a:solidFill>
                  <a:srgbClr val="FFFFFF"/>
                </a:solidFill>
                <a:latin typeface="Montserrat"/>
                <a:ea typeface="Montserrat"/>
                <a:cs typeface="Montserrat"/>
                <a:sym typeface="Montserrat"/>
              </a:rPr>
              <a:t> helps different parts of the AI </a:t>
            </a:r>
            <a:r>
              <a:rPr lang="en-US" sz="2000">
                <a:solidFill>
                  <a:srgbClr val="AEEFE5"/>
                </a:solidFill>
                <a:latin typeface="Montserrat"/>
                <a:ea typeface="Montserrat"/>
                <a:cs typeface="Montserrat"/>
                <a:sym typeface="Montserrat"/>
              </a:rPr>
              <a:t>focus on different features</a:t>
            </a:r>
            <a:r>
              <a:rPr lang="en-US" sz="2000">
                <a:solidFill>
                  <a:srgbClr val="FFFFFF"/>
                </a:solidFill>
                <a:latin typeface="Montserrat"/>
                <a:ea typeface="Montserrat"/>
                <a:cs typeface="Montserrat"/>
                <a:sym typeface="Montserrat"/>
              </a:rPr>
              <a:t> (like teamwork).</a:t>
            </a:r>
          </a:p>
          <a:p>
            <a:pPr algn="l" marL="431801" indent="-215900" lvl="1">
              <a:lnSpc>
                <a:spcPts val="2260"/>
              </a:lnSpc>
              <a:buFont typeface="Arial"/>
              <a:buChar char="•"/>
            </a:pPr>
            <a:r>
              <a:rPr lang="en-US" sz="2000">
                <a:solidFill>
                  <a:srgbClr val="AEEFE5"/>
                </a:solidFill>
                <a:latin typeface="Montserrat"/>
                <a:ea typeface="Montserrat"/>
                <a:cs typeface="Montserrat"/>
                <a:sym typeface="Montserrat"/>
              </a:rPr>
              <a:t>SwitchTab</a:t>
            </a:r>
            <a:r>
              <a:rPr lang="en-US" sz="2000">
                <a:solidFill>
                  <a:srgbClr val="FFFFFF"/>
                </a:solidFill>
                <a:latin typeface="Montserrat"/>
                <a:ea typeface="Montserrat"/>
                <a:cs typeface="Montserrat"/>
                <a:sym typeface="Montserrat"/>
              </a:rPr>
              <a:t> is great when you don’t have a lot of labeled examples to learn from.</a:t>
            </a:r>
          </a:p>
          <a:p>
            <a:pPr algn="l" marL="431801" indent="-215900" lvl="1">
              <a:lnSpc>
                <a:spcPts val="2260"/>
              </a:lnSpc>
              <a:buFont typeface="Arial"/>
              <a:buChar char="•"/>
            </a:pPr>
            <a:r>
              <a:rPr lang="en-US" sz="2000">
                <a:solidFill>
                  <a:srgbClr val="AEEFE5"/>
                </a:solidFill>
                <a:latin typeface="Montserrat"/>
                <a:ea typeface="Montserrat"/>
                <a:cs typeface="Montserrat"/>
                <a:sym typeface="Montserrat"/>
              </a:rPr>
              <a:t>PTaRL</a:t>
            </a:r>
            <a:r>
              <a:rPr lang="en-US" sz="2000">
                <a:solidFill>
                  <a:srgbClr val="FFFFFF"/>
                </a:solidFill>
                <a:latin typeface="Montserrat"/>
                <a:ea typeface="Montserrat"/>
                <a:cs typeface="Montserrat"/>
                <a:sym typeface="Montserrat"/>
              </a:rPr>
              <a:t> improves </a:t>
            </a:r>
            <a:r>
              <a:rPr lang="en-US" sz="2000">
                <a:solidFill>
                  <a:srgbClr val="AEEFE5"/>
                </a:solidFill>
                <a:latin typeface="Montserrat"/>
                <a:ea typeface="Montserrat"/>
                <a:cs typeface="Montserrat"/>
                <a:sym typeface="Montserrat"/>
              </a:rPr>
              <a:t>accuracy</a:t>
            </a:r>
            <a:r>
              <a:rPr lang="en-US" sz="2000">
                <a:solidFill>
                  <a:srgbClr val="FFFFFF"/>
                </a:solidFill>
                <a:latin typeface="Montserrat"/>
                <a:ea typeface="Montserrat"/>
                <a:cs typeface="Montserrat"/>
                <a:sym typeface="Montserrat"/>
              </a:rPr>
              <a:t> by comparing data to "typical" examples (prototypes).</a:t>
            </a:r>
          </a:p>
          <a:p>
            <a:pPr algn="l">
              <a:lnSpc>
                <a:spcPts val="2260"/>
              </a:lnSpc>
            </a:pPr>
          </a:p>
        </p:txBody>
      </p:sp>
      <p:sp>
        <p:nvSpPr>
          <p:cNvPr name="TextBox 19" id="19"/>
          <p:cNvSpPr txBox="true"/>
          <p:nvPr/>
        </p:nvSpPr>
        <p:spPr>
          <a:xfrm rot="0">
            <a:off x="9461320" y="7004221"/>
            <a:ext cx="4818577" cy="2829433"/>
          </a:xfrm>
          <a:prstGeom prst="rect">
            <a:avLst/>
          </a:prstGeom>
        </p:spPr>
        <p:txBody>
          <a:bodyPr anchor="t" rtlCol="false" tIns="0" lIns="0" bIns="0" rIns="0">
            <a:spAutoFit/>
          </a:bodyPr>
          <a:lstStyle/>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They’re </a:t>
            </a:r>
            <a:r>
              <a:rPr lang="en-US" sz="2199">
                <a:solidFill>
                  <a:srgbClr val="AEEFE5"/>
                </a:solidFill>
                <a:latin typeface="Montserrat"/>
                <a:ea typeface="Montserrat"/>
                <a:cs typeface="Montserrat"/>
                <a:sym typeface="Montserrat"/>
              </a:rPr>
              <a:t>harder to build</a:t>
            </a:r>
            <a:r>
              <a:rPr lang="en-US" sz="2199">
                <a:solidFill>
                  <a:srgbClr val="FFFFFF"/>
                </a:solidFill>
                <a:latin typeface="Montserrat"/>
                <a:ea typeface="Montserrat"/>
                <a:cs typeface="Montserrat"/>
                <a:sym typeface="Montserrat"/>
              </a:rPr>
              <a:t> and need technical know-how.</a:t>
            </a:r>
          </a:p>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You have to </a:t>
            </a:r>
            <a:r>
              <a:rPr lang="en-US" sz="2199">
                <a:solidFill>
                  <a:srgbClr val="AEEFE5"/>
                </a:solidFill>
                <a:latin typeface="Montserrat"/>
                <a:ea typeface="Montserrat"/>
                <a:cs typeface="Montserrat"/>
                <a:sym typeface="Montserrat"/>
              </a:rPr>
              <a:t>carefully adjust them</a:t>
            </a:r>
            <a:r>
              <a:rPr lang="en-US" sz="2199">
                <a:solidFill>
                  <a:srgbClr val="FFFFFF"/>
                </a:solidFill>
                <a:latin typeface="Montserrat"/>
                <a:ea typeface="Montserrat"/>
                <a:cs typeface="Montserrat"/>
                <a:sym typeface="Montserrat"/>
              </a:rPr>
              <a:t> so they don’t over-limit the model.</a:t>
            </a:r>
          </a:p>
          <a:p>
            <a:pPr algn="l" marL="474979" indent="-237490" lvl="1">
              <a:lnSpc>
                <a:spcPts val="2485"/>
              </a:lnSpc>
              <a:buFont typeface="Arial"/>
              <a:buChar char="•"/>
            </a:pPr>
            <a:r>
              <a:rPr lang="en-US" sz="2199">
                <a:solidFill>
                  <a:srgbClr val="AEEFE5"/>
                </a:solidFill>
                <a:latin typeface="Montserrat"/>
                <a:ea typeface="Montserrat"/>
                <a:cs typeface="Montserrat"/>
                <a:sym typeface="Montserrat"/>
              </a:rPr>
              <a:t>Training might take longer</a:t>
            </a:r>
            <a:r>
              <a:rPr lang="en-US" sz="2199">
                <a:solidFill>
                  <a:srgbClr val="FFFFFF"/>
                </a:solidFill>
                <a:latin typeface="Montserrat"/>
                <a:ea typeface="Montserrat"/>
                <a:cs typeface="Montserrat"/>
                <a:sym typeface="Montserrat"/>
              </a:rPr>
              <a:t> and need </a:t>
            </a:r>
            <a:r>
              <a:rPr lang="en-US" sz="2199">
                <a:solidFill>
                  <a:srgbClr val="AEEFE5"/>
                </a:solidFill>
                <a:latin typeface="Montserrat"/>
                <a:ea typeface="Montserrat"/>
                <a:cs typeface="Montserrat"/>
                <a:sym typeface="Montserrat"/>
              </a:rPr>
              <a:t>more computer power.</a:t>
            </a:r>
          </a:p>
          <a:p>
            <a:pPr algn="l">
              <a:lnSpc>
                <a:spcPts val="2485"/>
              </a:lnSpc>
            </a:pPr>
          </a:p>
        </p:txBody>
      </p:sp>
      <p:sp>
        <p:nvSpPr>
          <p:cNvPr name="Freeform 20" id="20"/>
          <p:cNvSpPr/>
          <p:nvPr/>
        </p:nvSpPr>
        <p:spPr>
          <a:xfrm flipH="false" flipV="false" rot="0">
            <a:off x="3950440" y="4172899"/>
            <a:ext cx="10689025" cy="1204945"/>
          </a:xfrm>
          <a:custGeom>
            <a:avLst/>
            <a:gdLst/>
            <a:ahLst/>
            <a:cxnLst/>
            <a:rect r="r" b="b" t="t" l="l"/>
            <a:pathLst>
              <a:path h="1204945" w="10689025">
                <a:moveTo>
                  <a:pt x="0" y="0"/>
                </a:moveTo>
                <a:lnTo>
                  <a:pt x="10689025" y="0"/>
                </a:lnTo>
                <a:lnTo>
                  <a:pt x="10689025" y="1204945"/>
                </a:lnTo>
                <a:lnTo>
                  <a:pt x="0" y="1204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4113873" y="4323207"/>
            <a:ext cx="10694894" cy="1035587"/>
          </a:xfrm>
          <a:prstGeom prst="rect">
            <a:avLst/>
          </a:prstGeom>
        </p:spPr>
        <p:txBody>
          <a:bodyPr anchor="t" rtlCol="false" tIns="0" lIns="0" bIns="0" rIns="0">
            <a:spAutoFit/>
          </a:bodyPr>
          <a:lstStyle/>
          <a:p>
            <a:pPr algn="l">
              <a:lnSpc>
                <a:spcPts val="2086"/>
              </a:lnSpc>
            </a:pPr>
            <a:r>
              <a:rPr lang="en-US" sz="1846">
                <a:solidFill>
                  <a:srgbClr val="FFFFFF"/>
                </a:solidFill>
                <a:latin typeface="Montserrat"/>
                <a:ea typeface="Montserrat"/>
                <a:cs typeface="Montserrat"/>
                <a:sym typeface="Montserrat"/>
              </a:rPr>
              <a:t>3- </a:t>
            </a:r>
            <a:r>
              <a:rPr lang="en-US" sz="1846" b="true">
                <a:solidFill>
                  <a:srgbClr val="FFFFFF"/>
                </a:solidFill>
                <a:latin typeface="Montserrat Bold"/>
                <a:ea typeface="Montserrat Bold"/>
                <a:cs typeface="Montserrat Bold"/>
                <a:sym typeface="Montserrat Bold"/>
              </a:rPr>
              <a:t>Medical Diagnosis</a:t>
            </a:r>
            <a:r>
              <a:rPr lang="en-US" sz="1846" b="true">
                <a:solidFill>
                  <a:srgbClr val="FFFFFF"/>
                </a:solidFill>
                <a:latin typeface="Montserrat Bold"/>
                <a:ea typeface="Montserrat Bold"/>
                <a:cs typeface="Montserrat Bold"/>
                <a:sym typeface="Montserrat Bold"/>
              </a:rPr>
              <a:t> Support</a:t>
            </a:r>
          </a:p>
          <a:p>
            <a:pPr algn="l">
              <a:lnSpc>
                <a:spcPts val="2086"/>
              </a:lnSpc>
            </a:pPr>
            <a:r>
              <a:rPr lang="en-US" sz="1846">
                <a:solidFill>
                  <a:srgbClr val="FFFFFF"/>
                </a:solidFill>
                <a:latin typeface="Montserrat"/>
                <a:ea typeface="Montserrat"/>
                <a:cs typeface="Montserrat"/>
                <a:sym typeface="Montserrat"/>
              </a:rPr>
              <a:t>Assists doctors in identifying health issues.</a:t>
            </a:r>
          </a:p>
          <a:p>
            <a:pPr algn="l">
              <a:lnSpc>
                <a:spcPts val="2086"/>
              </a:lnSpc>
            </a:pPr>
            <a:r>
              <a:rPr lang="en-US" sz="1846" b="true">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PTaRL compares new patient data to known cases, which makes the AI’s decision more trustworthy and easier to understand.</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7311786" y="4804606"/>
            <a:ext cx="9474505" cy="1946580"/>
          </a:xfrm>
          <a:custGeom>
            <a:avLst/>
            <a:gdLst/>
            <a:ahLst/>
            <a:cxnLst/>
            <a:rect r="r" b="b" t="t" l="l"/>
            <a:pathLst>
              <a:path h="1946580" w="9474505">
                <a:moveTo>
                  <a:pt x="0" y="0"/>
                </a:moveTo>
                <a:lnTo>
                  <a:pt x="9474505" y="0"/>
                </a:lnTo>
                <a:lnTo>
                  <a:pt x="9474505" y="1946580"/>
                </a:lnTo>
                <a:lnTo>
                  <a:pt x="0" y="1946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670493" y="1462542"/>
            <a:ext cx="846646" cy="886611"/>
            <a:chOff x="0" y="0"/>
            <a:chExt cx="162591" cy="170265"/>
          </a:xfrm>
        </p:grpSpPr>
        <p:sp>
          <p:nvSpPr>
            <p:cNvPr name="Freeform 8" id="8"/>
            <p:cNvSpPr/>
            <p:nvPr/>
          </p:nvSpPr>
          <p:spPr>
            <a:xfrm flipH="false" flipV="false" rot="0">
              <a:off x="0" y="0"/>
              <a:ext cx="162591" cy="170265"/>
            </a:xfrm>
            <a:custGeom>
              <a:avLst/>
              <a:gdLst/>
              <a:ahLst/>
              <a:cxnLst/>
              <a:rect r="r" b="b" t="t" l="l"/>
              <a:pathLst>
                <a:path h="170265" w="162591">
                  <a:moveTo>
                    <a:pt x="0" y="0"/>
                  </a:moveTo>
                  <a:lnTo>
                    <a:pt x="162591" y="0"/>
                  </a:lnTo>
                  <a:lnTo>
                    <a:pt x="162591" y="170265"/>
                  </a:lnTo>
                  <a:lnTo>
                    <a:pt x="0" y="170265"/>
                  </a:lnTo>
                  <a:close/>
                </a:path>
              </a:pathLst>
            </a:custGeom>
            <a:solidFill>
              <a:srgbClr val="B49CCD">
                <a:alpha val="35686"/>
              </a:srgbClr>
            </a:solidFill>
          </p:spPr>
        </p:sp>
        <p:sp>
          <p:nvSpPr>
            <p:cNvPr name="TextBox 9" id="9"/>
            <p:cNvSpPr txBox="true"/>
            <p:nvPr/>
          </p:nvSpPr>
          <p:spPr>
            <a:xfrm>
              <a:off x="0" y="38100"/>
              <a:ext cx="162591" cy="132165"/>
            </a:xfrm>
            <a:prstGeom prst="rect">
              <a:avLst/>
            </a:prstGeom>
          </p:spPr>
          <p:txBody>
            <a:bodyPr anchor="ctr" rtlCol="false" tIns="50800" lIns="50800" bIns="50800" rIns="50800"/>
            <a:lstStyle/>
            <a:p>
              <a:pPr algn="ctr">
                <a:lnSpc>
                  <a:spcPts val="2163"/>
                </a:lnSpc>
              </a:pPr>
            </a:p>
          </p:txBody>
        </p:sp>
      </p:grpSp>
      <p:sp>
        <p:nvSpPr>
          <p:cNvPr name="Freeform 10" id="10"/>
          <p:cNvSpPr/>
          <p:nvPr/>
        </p:nvSpPr>
        <p:spPr>
          <a:xfrm flipH="false" flipV="false" rot="0">
            <a:off x="1983477" y="1462542"/>
            <a:ext cx="2167043" cy="2174952"/>
          </a:xfrm>
          <a:custGeom>
            <a:avLst/>
            <a:gdLst/>
            <a:ahLst/>
            <a:cxnLst/>
            <a:rect r="r" b="b" t="t" l="l"/>
            <a:pathLst>
              <a:path h="2174952" w="2167043">
                <a:moveTo>
                  <a:pt x="0" y="0"/>
                </a:moveTo>
                <a:lnTo>
                  <a:pt x="2167043" y="0"/>
                </a:lnTo>
                <a:lnTo>
                  <a:pt x="2167043" y="2174951"/>
                </a:lnTo>
                <a:lnTo>
                  <a:pt x="0" y="21749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219899" y="3616461"/>
            <a:ext cx="5035359" cy="1034537"/>
          </a:xfrm>
          <a:custGeom>
            <a:avLst/>
            <a:gdLst/>
            <a:ahLst/>
            <a:cxnLst/>
            <a:rect r="r" b="b" t="t" l="l"/>
            <a:pathLst>
              <a:path h="1034537" w="5035359">
                <a:moveTo>
                  <a:pt x="0" y="0"/>
                </a:moveTo>
                <a:lnTo>
                  <a:pt x="5035359" y="0"/>
                </a:lnTo>
                <a:lnTo>
                  <a:pt x="5035359" y="1034538"/>
                </a:lnTo>
                <a:lnTo>
                  <a:pt x="0" y="10345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166031" y="6924556"/>
            <a:ext cx="7406843" cy="1521770"/>
          </a:xfrm>
          <a:custGeom>
            <a:avLst/>
            <a:gdLst/>
            <a:ahLst/>
            <a:cxnLst/>
            <a:rect r="r" b="b" t="t" l="l"/>
            <a:pathLst>
              <a:path h="1521770" w="7406843">
                <a:moveTo>
                  <a:pt x="0" y="0"/>
                </a:moveTo>
                <a:lnTo>
                  <a:pt x="7406844" y="0"/>
                </a:lnTo>
                <a:lnTo>
                  <a:pt x="7406844" y="1521770"/>
                </a:lnTo>
                <a:lnTo>
                  <a:pt x="0" y="1521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983477" y="4226996"/>
            <a:ext cx="4855422" cy="4150165"/>
          </a:xfrm>
          <a:prstGeom prst="rect">
            <a:avLst/>
          </a:prstGeom>
        </p:spPr>
        <p:txBody>
          <a:bodyPr anchor="t" rtlCol="false" tIns="0" lIns="0" bIns="0" rIns="0">
            <a:spAutoFit/>
          </a:bodyPr>
          <a:lstStyle/>
          <a:p>
            <a:pPr algn="l">
              <a:lnSpc>
                <a:spcPts val="5431"/>
              </a:lnSpc>
            </a:pPr>
            <a:r>
              <a:rPr lang="en-US" sz="5431">
                <a:solidFill>
                  <a:srgbClr val="B49CCD"/>
                </a:solidFill>
                <a:latin typeface="Gagalin"/>
                <a:ea typeface="Gagalin"/>
                <a:cs typeface="Gagalin"/>
                <a:sym typeface="Gagalin"/>
              </a:rPr>
              <a:t>SIX</a:t>
            </a:r>
            <a:r>
              <a:rPr lang="en-US" sz="5431">
                <a:solidFill>
                  <a:srgbClr val="FFFFFF"/>
                </a:solidFill>
                <a:latin typeface="Gagalin"/>
                <a:ea typeface="Gagalin"/>
                <a:cs typeface="Gagalin"/>
                <a:sym typeface="Gagalin"/>
              </a:rPr>
              <a:t> MAIN APPROACHES FOR DEEP NEURAL NETWORKS ON TABULAR DATA</a:t>
            </a:r>
          </a:p>
        </p:txBody>
      </p:sp>
      <p:sp>
        <p:nvSpPr>
          <p:cNvPr name="TextBox 14" id="14"/>
          <p:cNvSpPr txBox="true"/>
          <p:nvPr/>
        </p:nvSpPr>
        <p:spPr>
          <a:xfrm rot="0">
            <a:off x="7670493" y="5145967"/>
            <a:ext cx="9069367" cy="1292434"/>
          </a:xfrm>
          <a:prstGeom prst="rect">
            <a:avLst/>
          </a:prstGeom>
        </p:spPr>
        <p:txBody>
          <a:bodyPr anchor="t" rtlCol="false" tIns="0" lIns="0" bIns="0" rIns="0">
            <a:spAutoFit/>
          </a:bodyPr>
          <a:lstStyle/>
          <a:p>
            <a:pPr algn="l">
              <a:lnSpc>
                <a:spcPts val="3399"/>
              </a:lnSpc>
            </a:pPr>
            <a:r>
              <a:rPr lang="en-US" sz="3008">
                <a:solidFill>
                  <a:srgbClr val="FFFFFF"/>
                </a:solidFill>
                <a:latin typeface="Montserrat"/>
                <a:ea typeface="Montserrat"/>
                <a:cs typeface="Montserrat"/>
                <a:sym typeface="Montserrat"/>
              </a:rPr>
              <a:t>N</a:t>
            </a:r>
            <a:r>
              <a:rPr lang="en-US" sz="3008">
                <a:solidFill>
                  <a:srgbClr val="FFFFFF"/>
                </a:solidFill>
                <a:latin typeface="Montserrat"/>
                <a:ea typeface="Montserrat"/>
                <a:cs typeface="Montserrat"/>
                <a:sym typeface="Montserrat"/>
              </a:rPr>
              <a:t>eural network</a:t>
            </a:r>
            <a:r>
              <a:rPr lang="en-US" sz="3008">
                <a:solidFill>
                  <a:srgbClr val="FFFFFF"/>
                </a:solidFill>
                <a:latin typeface="Montserrat"/>
                <a:ea typeface="Montserrat"/>
                <a:cs typeface="Montserrat"/>
                <a:sym typeface="Montserrat"/>
              </a:rPr>
              <a:t>s</a:t>
            </a:r>
            <a:r>
              <a:rPr lang="en-US" sz="3008">
                <a:solidFill>
                  <a:srgbClr val="FFFFFF"/>
                </a:solidFill>
                <a:latin typeface="Montserrat"/>
                <a:ea typeface="Montserrat"/>
                <a:cs typeface="Montserrat"/>
                <a:sym typeface="Montserrat"/>
              </a:rPr>
              <a:t> </a:t>
            </a:r>
            <a:r>
              <a:rPr lang="en-US" sz="3008">
                <a:solidFill>
                  <a:srgbClr val="FFFFFF"/>
                </a:solidFill>
                <a:latin typeface="Montserrat"/>
                <a:ea typeface="Montserrat"/>
                <a:cs typeface="Montserrat"/>
                <a:sym typeface="Montserrat"/>
              </a:rPr>
              <a:t>d</a:t>
            </a:r>
            <a:r>
              <a:rPr lang="en-US" sz="3008">
                <a:solidFill>
                  <a:srgbClr val="FFFFFF"/>
                </a:solidFill>
                <a:latin typeface="Montserrat"/>
                <a:ea typeface="Montserrat"/>
                <a:cs typeface="Montserrat"/>
                <a:sym typeface="Montserrat"/>
              </a:rPr>
              <a:t>es</a:t>
            </a:r>
            <a:r>
              <a:rPr lang="en-US" sz="3008">
                <a:solidFill>
                  <a:srgbClr val="FFFFFF"/>
                </a:solidFill>
                <a:latin typeface="Montserrat"/>
                <a:ea typeface="Montserrat"/>
                <a:cs typeface="Montserrat"/>
                <a:sym typeface="Montserrat"/>
              </a:rPr>
              <a:t>igned</a:t>
            </a:r>
            <a:r>
              <a:rPr lang="en-US" sz="3008">
                <a:solidFill>
                  <a:srgbClr val="FFFFFF"/>
                </a:solidFill>
                <a:latin typeface="Montserrat"/>
                <a:ea typeface="Montserrat"/>
                <a:cs typeface="Montserrat"/>
                <a:sym typeface="Montserrat"/>
              </a:rPr>
              <a:t> t</a:t>
            </a:r>
            <a:r>
              <a:rPr lang="en-US" sz="3008">
                <a:solidFill>
                  <a:srgbClr val="FFFFFF"/>
                </a:solidFill>
                <a:latin typeface="Montserrat"/>
                <a:ea typeface="Montserrat"/>
                <a:cs typeface="Montserrat"/>
                <a:sym typeface="Montserrat"/>
              </a:rPr>
              <a:t>o behave a bi</a:t>
            </a:r>
            <a:r>
              <a:rPr lang="en-US" sz="3008">
                <a:solidFill>
                  <a:srgbClr val="FFFFFF"/>
                </a:solidFill>
                <a:latin typeface="Montserrat"/>
                <a:ea typeface="Montserrat"/>
                <a:cs typeface="Montserrat"/>
                <a:sym typeface="Montserrat"/>
              </a:rPr>
              <a:t>t</a:t>
            </a:r>
            <a:r>
              <a:rPr lang="en-US" sz="3008">
                <a:solidFill>
                  <a:srgbClr val="FFFFFF"/>
                </a:solidFill>
                <a:latin typeface="Montserrat"/>
                <a:ea typeface="Montserrat"/>
                <a:cs typeface="Montserrat"/>
                <a:sym typeface="Montserrat"/>
              </a:rPr>
              <a:t> </a:t>
            </a:r>
            <a:r>
              <a:rPr lang="en-US" sz="3008" b="true">
                <a:solidFill>
                  <a:srgbClr val="AEEFE5"/>
                </a:solidFill>
                <a:latin typeface="Montserrat Bold"/>
                <a:ea typeface="Montserrat Bold"/>
                <a:cs typeface="Montserrat Bold"/>
                <a:sym typeface="Montserrat Bold"/>
              </a:rPr>
              <a:t>like</a:t>
            </a:r>
            <a:r>
              <a:rPr lang="en-US" sz="3008">
                <a:solidFill>
                  <a:srgbClr val="FFFFFF"/>
                </a:solidFill>
                <a:latin typeface="Montserrat"/>
                <a:ea typeface="Montserrat"/>
                <a:cs typeface="Montserrat"/>
                <a:sym typeface="Montserrat"/>
              </a:rPr>
              <a:t> </a:t>
            </a:r>
            <a:r>
              <a:rPr lang="en-US" sz="3008" b="true">
                <a:solidFill>
                  <a:srgbClr val="AEEFE5"/>
                </a:solidFill>
                <a:latin typeface="Montserrat Bold"/>
                <a:ea typeface="Montserrat Bold"/>
                <a:cs typeface="Montserrat Bold"/>
                <a:sym typeface="Montserrat Bold"/>
              </a:rPr>
              <a:t>decision trees</a:t>
            </a:r>
            <a:r>
              <a:rPr lang="en-US" sz="3008">
                <a:solidFill>
                  <a:srgbClr val="FFFFFF"/>
                </a:solidFill>
                <a:latin typeface="Montserrat"/>
                <a:ea typeface="Montserrat"/>
                <a:cs typeface="Montserrat"/>
                <a:sym typeface="Montserrat"/>
              </a:rPr>
              <a:t> — the kind of models that ask yes/no questions to make decisions.</a:t>
            </a:r>
          </a:p>
        </p:txBody>
      </p:sp>
      <p:sp>
        <p:nvSpPr>
          <p:cNvPr name="TextBox 15" id="15"/>
          <p:cNvSpPr txBox="true"/>
          <p:nvPr/>
        </p:nvSpPr>
        <p:spPr>
          <a:xfrm rot="0">
            <a:off x="8708319" y="1440464"/>
            <a:ext cx="8550981" cy="1692615"/>
          </a:xfrm>
          <a:prstGeom prst="rect">
            <a:avLst/>
          </a:prstGeom>
        </p:spPr>
        <p:txBody>
          <a:bodyPr anchor="t" rtlCol="false" tIns="0" lIns="0" bIns="0" rIns="0">
            <a:spAutoFit/>
          </a:bodyPr>
          <a:lstStyle/>
          <a:p>
            <a:pPr algn="l">
              <a:lnSpc>
                <a:spcPts val="4482"/>
              </a:lnSpc>
            </a:pPr>
            <a:r>
              <a:rPr lang="en-US" sz="3966" b="true">
                <a:solidFill>
                  <a:srgbClr val="B49CCD"/>
                </a:solidFill>
                <a:latin typeface="Montserrat Bold"/>
                <a:ea typeface="Montserrat Bold"/>
                <a:cs typeface="Montserrat Bold"/>
                <a:sym typeface="Montserrat Bold"/>
              </a:rPr>
              <a:t>Tree-Mimic Methods: </a:t>
            </a:r>
            <a:r>
              <a:rPr lang="en-US" sz="3966" b="true">
                <a:solidFill>
                  <a:srgbClr val="FFFFFF"/>
                </a:solidFill>
                <a:latin typeface="Montserrat Bold"/>
                <a:ea typeface="Montserrat Bold"/>
                <a:cs typeface="Montserrat Bold"/>
                <a:sym typeface="Montserrat Bold"/>
              </a:rPr>
              <a:t>Combining Decision Tree Logic with Neural Networks</a:t>
            </a:r>
          </a:p>
        </p:txBody>
      </p:sp>
      <p:sp>
        <p:nvSpPr>
          <p:cNvPr name="TextBox 16" id="16"/>
          <p:cNvSpPr txBox="true"/>
          <p:nvPr/>
        </p:nvSpPr>
        <p:spPr>
          <a:xfrm rot="0">
            <a:off x="7862977" y="1668108"/>
            <a:ext cx="461678" cy="494528"/>
          </a:xfrm>
          <a:prstGeom prst="rect">
            <a:avLst/>
          </a:prstGeom>
        </p:spPr>
        <p:txBody>
          <a:bodyPr anchor="t" rtlCol="false" tIns="0" lIns="0" bIns="0" rIns="0">
            <a:spAutoFit/>
          </a:bodyPr>
          <a:lstStyle/>
          <a:p>
            <a:pPr algn="l">
              <a:lnSpc>
                <a:spcPts val="3844"/>
              </a:lnSpc>
            </a:pPr>
            <a:r>
              <a:rPr lang="en-US" sz="3402" b="true">
                <a:solidFill>
                  <a:srgbClr val="FFFFFF"/>
                </a:solidFill>
                <a:latin typeface="Montserrat Bold"/>
                <a:ea typeface="Montserrat Bold"/>
                <a:cs typeface="Montserrat Bold"/>
                <a:sym typeface="Montserrat Bold"/>
              </a:rPr>
              <a:t>5.</a:t>
            </a:r>
          </a:p>
        </p:txBody>
      </p:sp>
      <p:sp>
        <p:nvSpPr>
          <p:cNvPr name="TextBox 17" id="17"/>
          <p:cNvSpPr txBox="true"/>
          <p:nvPr/>
        </p:nvSpPr>
        <p:spPr>
          <a:xfrm rot="0">
            <a:off x="7408995" y="3945909"/>
            <a:ext cx="4657167" cy="410523"/>
          </a:xfrm>
          <a:prstGeom prst="rect">
            <a:avLst/>
          </a:prstGeom>
        </p:spPr>
        <p:txBody>
          <a:bodyPr anchor="t" rtlCol="false" tIns="0" lIns="0" bIns="0" rIns="0">
            <a:spAutoFit/>
          </a:bodyPr>
          <a:lstStyle/>
          <a:p>
            <a:pPr algn="l">
              <a:lnSpc>
                <a:spcPts val="3263"/>
              </a:lnSpc>
            </a:pPr>
            <a:r>
              <a:rPr lang="en-US" sz="2887" b="true">
                <a:solidFill>
                  <a:srgbClr val="FFFFFF"/>
                </a:solidFill>
                <a:latin typeface="Montserrat Bold"/>
                <a:ea typeface="Montserrat Bold"/>
                <a:cs typeface="Montserrat Bold"/>
                <a:sym typeface="Montserrat Bold"/>
              </a:rPr>
              <a:t>What are they?</a:t>
            </a:r>
          </a:p>
        </p:txBody>
      </p:sp>
      <p:sp>
        <p:nvSpPr>
          <p:cNvPr name="TextBox 18" id="18"/>
          <p:cNvSpPr txBox="true"/>
          <p:nvPr/>
        </p:nvSpPr>
        <p:spPr>
          <a:xfrm rot="0">
            <a:off x="8517139" y="7189336"/>
            <a:ext cx="6966521" cy="1427076"/>
          </a:xfrm>
          <a:prstGeom prst="rect">
            <a:avLst/>
          </a:prstGeom>
        </p:spPr>
        <p:txBody>
          <a:bodyPr anchor="t" rtlCol="false" tIns="0" lIns="0" bIns="0" rIns="0">
            <a:spAutoFit/>
          </a:bodyPr>
          <a:lstStyle/>
          <a:p>
            <a:pPr algn="l">
              <a:lnSpc>
                <a:spcPts val="2875"/>
              </a:lnSpc>
            </a:pPr>
            <a:r>
              <a:rPr lang="en-US" sz="2544">
                <a:solidFill>
                  <a:srgbClr val="FFFFFF"/>
                </a:solidFill>
                <a:latin typeface="Montserrat"/>
                <a:ea typeface="Montserrat"/>
                <a:cs typeface="Montserrat"/>
                <a:sym typeface="Montserrat"/>
              </a:rPr>
              <a:t>Like combining the creativity of a human (neural networks) with the clear decision-making of a flowchart (decision trees).</a:t>
            </a:r>
          </a:p>
          <a:p>
            <a:pPr algn="l">
              <a:lnSpc>
                <a:spcPts val="2875"/>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4076431" y="395004"/>
            <a:ext cx="3681150" cy="756309"/>
          </a:xfrm>
          <a:custGeom>
            <a:avLst/>
            <a:gdLst/>
            <a:ahLst/>
            <a:cxnLst/>
            <a:rect r="r" b="b" t="t" l="l"/>
            <a:pathLst>
              <a:path h="756309" w="3681150">
                <a:moveTo>
                  <a:pt x="0" y="0"/>
                </a:moveTo>
                <a:lnTo>
                  <a:pt x="3681150" y="0"/>
                </a:lnTo>
                <a:lnTo>
                  <a:pt x="3681150" y="756309"/>
                </a:lnTo>
                <a:lnTo>
                  <a:pt x="0" y="7563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391853" y="5577869"/>
            <a:ext cx="3424393" cy="703557"/>
          </a:xfrm>
          <a:custGeom>
            <a:avLst/>
            <a:gdLst/>
            <a:ahLst/>
            <a:cxnLst/>
            <a:rect r="r" b="b" t="t" l="l"/>
            <a:pathLst>
              <a:path h="703557" w="3424393">
                <a:moveTo>
                  <a:pt x="0" y="0"/>
                </a:moveTo>
                <a:lnTo>
                  <a:pt x="3424393" y="0"/>
                </a:lnTo>
                <a:lnTo>
                  <a:pt x="3424393" y="703557"/>
                </a:lnTo>
                <a:lnTo>
                  <a:pt x="0" y="703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447187" y="5683061"/>
            <a:ext cx="2400399" cy="493173"/>
          </a:xfrm>
          <a:custGeom>
            <a:avLst/>
            <a:gdLst/>
            <a:ahLst/>
            <a:cxnLst/>
            <a:rect r="r" b="b" t="t" l="l"/>
            <a:pathLst>
              <a:path h="493173" w="2400399">
                <a:moveTo>
                  <a:pt x="0" y="0"/>
                </a:moveTo>
                <a:lnTo>
                  <a:pt x="2400399" y="0"/>
                </a:lnTo>
                <a:lnTo>
                  <a:pt x="2400399" y="493173"/>
                </a:lnTo>
                <a:lnTo>
                  <a:pt x="0" y="4931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076431" y="6500501"/>
            <a:ext cx="4900890" cy="3484087"/>
          </a:xfrm>
          <a:custGeom>
            <a:avLst/>
            <a:gdLst/>
            <a:ahLst/>
            <a:cxnLst/>
            <a:rect r="r" b="b" t="t" l="l"/>
            <a:pathLst>
              <a:path h="3484087" w="4900890">
                <a:moveTo>
                  <a:pt x="0" y="0"/>
                </a:moveTo>
                <a:lnTo>
                  <a:pt x="4900890" y="0"/>
                </a:lnTo>
                <a:lnTo>
                  <a:pt x="4900890" y="3484088"/>
                </a:lnTo>
                <a:lnTo>
                  <a:pt x="0" y="3484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193395" y="6363763"/>
            <a:ext cx="5346165" cy="3800637"/>
          </a:xfrm>
          <a:custGeom>
            <a:avLst/>
            <a:gdLst/>
            <a:ahLst/>
            <a:cxnLst/>
            <a:rect r="r" b="b" t="t" l="l"/>
            <a:pathLst>
              <a:path h="3800637" w="5346165">
                <a:moveTo>
                  <a:pt x="0" y="0"/>
                </a:moveTo>
                <a:lnTo>
                  <a:pt x="5346165" y="0"/>
                </a:lnTo>
                <a:lnTo>
                  <a:pt x="5346165" y="3800637"/>
                </a:lnTo>
                <a:lnTo>
                  <a:pt x="0" y="38006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950440" y="1369830"/>
            <a:ext cx="10836324" cy="1221549"/>
          </a:xfrm>
          <a:custGeom>
            <a:avLst/>
            <a:gdLst/>
            <a:ahLst/>
            <a:cxnLst/>
            <a:rect r="r" b="b" t="t" l="l"/>
            <a:pathLst>
              <a:path h="1221549" w="10836324">
                <a:moveTo>
                  <a:pt x="0" y="0"/>
                </a:moveTo>
                <a:lnTo>
                  <a:pt x="10836324" y="0"/>
                </a:lnTo>
                <a:lnTo>
                  <a:pt x="10836324" y="1221549"/>
                </a:lnTo>
                <a:lnTo>
                  <a:pt x="0" y="12215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135876" y="1279437"/>
            <a:ext cx="10650889" cy="1083342"/>
          </a:xfrm>
          <a:prstGeom prst="rect">
            <a:avLst/>
          </a:prstGeom>
        </p:spPr>
        <p:txBody>
          <a:bodyPr anchor="t" rtlCol="false" tIns="0" lIns="0" bIns="0" rIns="0">
            <a:spAutoFit/>
          </a:bodyPr>
          <a:lstStyle/>
          <a:p>
            <a:pPr algn="l">
              <a:lnSpc>
                <a:spcPts val="2102"/>
              </a:lnSpc>
            </a:pPr>
          </a:p>
          <a:p>
            <a:pPr algn="l">
              <a:lnSpc>
                <a:spcPts val="2102"/>
              </a:lnSpc>
            </a:pPr>
            <a:r>
              <a:rPr lang="en-US" b="true" sz="1860">
                <a:solidFill>
                  <a:srgbClr val="FFFFFF"/>
                </a:solidFill>
                <a:latin typeface="Montserrat Bold"/>
                <a:ea typeface="Montserrat Bold"/>
                <a:cs typeface="Montserrat Bold"/>
                <a:sym typeface="Montserrat Bold"/>
              </a:rPr>
              <a:t> </a:t>
            </a:r>
            <a:r>
              <a:rPr lang="en-US" sz="1860">
                <a:solidFill>
                  <a:srgbClr val="FFFFFF"/>
                </a:solidFill>
                <a:latin typeface="Montserrat"/>
                <a:ea typeface="Montserrat"/>
                <a:cs typeface="Montserrat"/>
                <a:sym typeface="Montserrat"/>
              </a:rPr>
              <a:t>1- </a:t>
            </a:r>
            <a:r>
              <a:rPr lang="en-US" b="true" sz="1860">
                <a:solidFill>
                  <a:srgbClr val="FFFFFF"/>
                </a:solidFill>
                <a:latin typeface="Montserrat Bold"/>
                <a:ea typeface="Montserrat Bold"/>
                <a:cs typeface="Montserrat Bold"/>
                <a:sym typeface="Montserrat Bold"/>
              </a:rPr>
              <a:t>Credit</a:t>
            </a:r>
            <a:r>
              <a:rPr lang="en-US" b="true" sz="1860">
                <a:solidFill>
                  <a:srgbClr val="FFFFFF"/>
                </a:solidFill>
                <a:latin typeface="Montserrat Bold"/>
                <a:ea typeface="Montserrat Bold"/>
                <a:cs typeface="Montserrat Bold"/>
                <a:sym typeface="Montserrat Bold"/>
              </a:rPr>
              <a:t> Scoring</a:t>
            </a:r>
          </a:p>
          <a:p>
            <a:pPr algn="l">
              <a:lnSpc>
                <a:spcPts val="2102"/>
              </a:lnSpc>
            </a:pPr>
            <a:r>
              <a:rPr lang="en-US" sz="1860">
                <a:solidFill>
                  <a:srgbClr val="FFFFFF"/>
                </a:solidFill>
                <a:latin typeface="Montserrat"/>
                <a:ea typeface="Montserrat"/>
                <a:cs typeface="Montserrat"/>
                <a:sym typeface="Montserrat"/>
              </a:rPr>
              <a:t>Helping banks decide who should get a loan.</a:t>
            </a:r>
          </a:p>
          <a:p>
            <a:pPr algn="l" marL="401742" indent="-200871" lvl="1">
              <a:lnSpc>
                <a:spcPts val="2102"/>
              </a:lnSpc>
              <a:buFont typeface="Arial"/>
              <a:buChar char="•"/>
            </a:pPr>
            <a:r>
              <a:rPr lang="en-US" b="true" sz="1860">
                <a:solidFill>
                  <a:srgbClr val="FEE04E"/>
                </a:solidFill>
                <a:latin typeface="Montserrat Bold"/>
                <a:ea typeface="Montserrat Bold"/>
                <a:cs typeface="Montserrat Bold"/>
                <a:sym typeface="Montserrat Bold"/>
              </a:rPr>
              <a:t>Advantage</a:t>
            </a:r>
            <a:r>
              <a:rPr lang="en-US" sz="1860">
                <a:solidFill>
                  <a:srgbClr val="FFFFFF"/>
                </a:solidFill>
                <a:latin typeface="Montserrat"/>
                <a:ea typeface="Montserrat"/>
                <a:cs typeface="Montserrat"/>
                <a:sym typeface="Montserrat"/>
              </a:rPr>
              <a:t>: NODE makes decisions that are easier to explain to regulators.</a:t>
            </a:r>
          </a:p>
        </p:txBody>
      </p:sp>
      <p:sp>
        <p:nvSpPr>
          <p:cNvPr name="TextBox 13" id="13"/>
          <p:cNvSpPr txBox="true"/>
          <p:nvPr/>
        </p:nvSpPr>
        <p:spPr>
          <a:xfrm rot="0">
            <a:off x="4216340" y="635187"/>
            <a:ext cx="3759487" cy="294993"/>
          </a:xfrm>
          <a:prstGeom prst="rect">
            <a:avLst/>
          </a:prstGeom>
        </p:spPr>
        <p:txBody>
          <a:bodyPr anchor="t" rtlCol="false" tIns="0" lIns="0" bIns="0" rIns="0">
            <a:spAutoFit/>
          </a:bodyPr>
          <a:lstStyle/>
          <a:p>
            <a:pPr algn="l">
              <a:lnSpc>
                <a:spcPts val="2385"/>
              </a:lnSpc>
            </a:pPr>
            <a:r>
              <a:rPr lang="en-US" sz="2111" b="true">
                <a:solidFill>
                  <a:srgbClr val="FFFFFF"/>
                </a:solidFill>
                <a:latin typeface="Montserrat Bold"/>
                <a:ea typeface="Montserrat Bold"/>
                <a:cs typeface="Montserrat Bold"/>
                <a:sym typeface="Montserrat Bold"/>
              </a:rPr>
              <a:t>Real-world applications</a:t>
            </a:r>
          </a:p>
        </p:txBody>
      </p:sp>
      <p:sp>
        <p:nvSpPr>
          <p:cNvPr name="TextBox 14" id="14"/>
          <p:cNvSpPr txBox="true"/>
          <p:nvPr/>
        </p:nvSpPr>
        <p:spPr>
          <a:xfrm rot="0">
            <a:off x="4548678" y="5779892"/>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Why they are useful</a:t>
            </a:r>
          </a:p>
        </p:txBody>
      </p:sp>
      <p:sp>
        <p:nvSpPr>
          <p:cNvPr name="TextBox 15" id="15"/>
          <p:cNvSpPr txBox="true"/>
          <p:nvPr/>
        </p:nvSpPr>
        <p:spPr>
          <a:xfrm rot="0">
            <a:off x="9591551" y="5761864"/>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Challenges</a:t>
            </a:r>
          </a:p>
        </p:txBody>
      </p:sp>
      <p:sp>
        <p:nvSpPr>
          <p:cNvPr name="Freeform 16" id="16"/>
          <p:cNvSpPr/>
          <p:nvPr/>
        </p:nvSpPr>
        <p:spPr>
          <a:xfrm flipH="false" flipV="false" rot="0">
            <a:off x="3950440" y="2733779"/>
            <a:ext cx="10962167" cy="1235735"/>
          </a:xfrm>
          <a:custGeom>
            <a:avLst/>
            <a:gdLst/>
            <a:ahLst/>
            <a:cxnLst/>
            <a:rect r="r" b="b" t="t" l="l"/>
            <a:pathLst>
              <a:path h="1235735" w="10962167">
                <a:moveTo>
                  <a:pt x="0" y="0"/>
                </a:moveTo>
                <a:lnTo>
                  <a:pt x="10962167" y="0"/>
                </a:lnTo>
                <a:lnTo>
                  <a:pt x="10962167" y="1235735"/>
                </a:lnTo>
                <a:lnTo>
                  <a:pt x="0" y="12357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4076431" y="2526713"/>
            <a:ext cx="10880120" cy="1595033"/>
          </a:xfrm>
          <a:prstGeom prst="rect">
            <a:avLst/>
          </a:prstGeom>
        </p:spPr>
        <p:txBody>
          <a:bodyPr anchor="t" rtlCol="false" tIns="0" lIns="0" bIns="0" rIns="0">
            <a:spAutoFit/>
          </a:bodyPr>
          <a:lstStyle/>
          <a:p>
            <a:pPr algn="l">
              <a:lnSpc>
                <a:spcPts val="2086"/>
              </a:lnSpc>
            </a:pPr>
          </a:p>
          <a:p>
            <a:pPr algn="l">
              <a:lnSpc>
                <a:spcPts val="2086"/>
              </a:lnSpc>
            </a:pPr>
            <a:r>
              <a:rPr lang="en-US" sz="1846">
                <a:solidFill>
                  <a:srgbClr val="FFFFFF"/>
                </a:solidFill>
                <a:latin typeface="Montserrat"/>
                <a:ea typeface="Montserrat"/>
                <a:cs typeface="Montserrat"/>
                <a:sym typeface="Montserrat"/>
              </a:rPr>
              <a:t>2-</a:t>
            </a:r>
            <a:r>
              <a:rPr lang="en-US" sz="1846" b="true">
                <a:solidFill>
                  <a:srgbClr val="FFFFFF"/>
                </a:solidFill>
                <a:latin typeface="Montserrat Bold"/>
                <a:ea typeface="Montserrat Bold"/>
                <a:cs typeface="Montserrat Bold"/>
                <a:sym typeface="Montserrat Bold"/>
              </a:rPr>
              <a:t> Predictive Maintenance</a:t>
            </a:r>
          </a:p>
          <a:p>
            <a:pPr algn="l">
              <a:lnSpc>
                <a:spcPts val="2086"/>
              </a:lnSpc>
            </a:pPr>
            <a:r>
              <a:rPr lang="en-US" sz="1846">
                <a:solidFill>
                  <a:srgbClr val="FFFFFF"/>
                </a:solidFill>
                <a:latin typeface="Montserrat"/>
                <a:ea typeface="Montserrat"/>
                <a:cs typeface="Montserrat"/>
                <a:sym typeface="Montserrat"/>
              </a:rPr>
              <a:t>Predicting when machines will break down.</a:t>
            </a:r>
          </a:p>
          <a:p>
            <a:pPr algn="l" marL="398583" indent="-199291" lvl="1">
              <a:lnSpc>
                <a:spcPts val="2086"/>
              </a:lnSpc>
              <a:buFont typeface="Arial"/>
              <a:buChar char="•"/>
            </a:pPr>
            <a:r>
              <a:rPr lang="en-US" b="true" sz="1846">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GrowNet can handle lots of different machine-related factors.</a:t>
            </a:r>
          </a:p>
          <a:p>
            <a:pPr algn="l">
              <a:lnSpc>
                <a:spcPts val="2086"/>
              </a:lnSpc>
            </a:pPr>
          </a:p>
          <a:p>
            <a:pPr algn="l">
              <a:lnSpc>
                <a:spcPts val="2086"/>
              </a:lnSpc>
            </a:pPr>
          </a:p>
        </p:txBody>
      </p:sp>
      <p:sp>
        <p:nvSpPr>
          <p:cNvPr name="TextBox 18" id="18"/>
          <p:cNvSpPr txBox="true"/>
          <p:nvPr/>
        </p:nvSpPr>
        <p:spPr>
          <a:xfrm rot="0">
            <a:off x="4382509" y="6847947"/>
            <a:ext cx="4145903" cy="2856230"/>
          </a:xfrm>
          <a:prstGeom prst="rect">
            <a:avLst/>
          </a:prstGeom>
        </p:spPr>
        <p:txBody>
          <a:bodyPr anchor="t" rtlCol="false" tIns="0" lIns="0" bIns="0" rIns="0">
            <a:spAutoFit/>
          </a:bodyPr>
          <a:lstStyle/>
          <a:p>
            <a:pPr algn="l" marL="431801" indent="-215900" lvl="1">
              <a:lnSpc>
                <a:spcPts val="2260"/>
              </a:lnSpc>
              <a:buFont typeface="Arial"/>
              <a:buChar char="•"/>
            </a:pPr>
            <a:r>
              <a:rPr lang="en-US" sz="2000">
                <a:solidFill>
                  <a:srgbClr val="FFFFFF"/>
                </a:solidFill>
                <a:latin typeface="Montserrat"/>
                <a:ea typeface="Montserrat"/>
                <a:cs typeface="Montserrat"/>
                <a:sym typeface="Montserrat"/>
              </a:rPr>
              <a:t>Can </a:t>
            </a:r>
            <a:r>
              <a:rPr lang="en-US" sz="2000">
                <a:solidFill>
                  <a:srgbClr val="AEEFE5"/>
                </a:solidFill>
                <a:latin typeface="Montserrat"/>
                <a:ea typeface="Montserrat"/>
                <a:cs typeface="Montserrat"/>
                <a:sym typeface="Montserrat"/>
              </a:rPr>
              <a:t>explain how they made decisions</a:t>
            </a:r>
            <a:r>
              <a:rPr lang="en-US" sz="2000">
                <a:solidFill>
                  <a:srgbClr val="FFFFFF"/>
                </a:solidFill>
                <a:latin typeface="Montserrat"/>
                <a:ea typeface="Montserrat"/>
                <a:cs typeface="Montserrat"/>
                <a:sym typeface="Montserrat"/>
              </a:rPr>
              <a:t>, which is important in industries like finance and healthcare</a:t>
            </a:r>
          </a:p>
          <a:p>
            <a:pPr algn="l" marL="431801" indent="-215900" lvl="1">
              <a:lnSpc>
                <a:spcPts val="2260"/>
              </a:lnSpc>
              <a:buFont typeface="Arial"/>
              <a:buChar char="•"/>
            </a:pPr>
            <a:r>
              <a:rPr lang="en-US" sz="2000">
                <a:solidFill>
                  <a:srgbClr val="AEEFE5"/>
                </a:solidFill>
                <a:latin typeface="Montserrat"/>
                <a:ea typeface="Montserrat"/>
                <a:cs typeface="Montserrat"/>
                <a:sym typeface="Montserrat"/>
              </a:rPr>
              <a:t>NODE</a:t>
            </a:r>
            <a:r>
              <a:rPr lang="en-US" sz="2000">
                <a:solidFill>
                  <a:srgbClr val="FFFFFF"/>
                </a:solidFill>
                <a:latin typeface="Montserrat"/>
                <a:ea typeface="Montserrat"/>
                <a:cs typeface="Montserrat"/>
                <a:sym typeface="Montserrat"/>
              </a:rPr>
              <a:t> is great at blending decision logic with flexible learning</a:t>
            </a:r>
          </a:p>
          <a:p>
            <a:pPr algn="l" marL="431801" indent="-215900" lvl="1">
              <a:lnSpc>
                <a:spcPts val="2260"/>
              </a:lnSpc>
              <a:buFont typeface="Arial"/>
              <a:buChar char="•"/>
            </a:pPr>
            <a:r>
              <a:rPr lang="en-US" sz="2000">
                <a:solidFill>
                  <a:srgbClr val="AEEFE5"/>
                </a:solidFill>
                <a:latin typeface="Montserrat"/>
                <a:ea typeface="Montserrat"/>
                <a:cs typeface="Montserrat"/>
                <a:sym typeface="Montserrat"/>
              </a:rPr>
              <a:t>TabNet</a:t>
            </a:r>
            <a:r>
              <a:rPr lang="en-US" sz="2000">
                <a:solidFill>
                  <a:srgbClr val="FFFFFF"/>
                </a:solidFill>
                <a:latin typeface="Montserrat"/>
                <a:ea typeface="Montserrat"/>
                <a:cs typeface="Montserrat"/>
                <a:sym typeface="Montserrat"/>
              </a:rPr>
              <a:t> shows which pieces of info it focused on</a:t>
            </a:r>
          </a:p>
          <a:p>
            <a:pPr algn="l">
              <a:lnSpc>
                <a:spcPts val="2260"/>
              </a:lnSpc>
            </a:pPr>
          </a:p>
        </p:txBody>
      </p:sp>
      <p:sp>
        <p:nvSpPr>
          <p:cNvPr name="TextBox 19" id="19"/>
          <p:cNvSpPr txBox="true"/>
          <p:nvPr/>
        </p:nvSpPr>
        <p:spPr>
          <a:xfrm rot="0">
            <a:off x="9461320" y="7175671"/>
            <a:ext cx="4818577" cy="2200783"/>
          </a:xfrm>
          <a:prstGeom prst="rect">
            <a:avLst/>
          </a:prstGeom>
        </p:spPr>
        <p:txBody>
          <a:bodyPr anchor="t" rtlCol="false" tIns="0" lIns="0" bIns="0" rIns="0">
            <a:spAutoFit/>
          </a:bodyPr>
          <a:lstStyle/>
          <a:p>
            <a:pPr algn="l" marL="474979" indent="-237490" lvl="1">
              <a:lnSpc>
                <a:spcPts val="2485"/>
              </a:lnSpc>
              <a:buFont typeface="Arial"/>
              <a:buChar char="•"/>
            </a:pPr>
            <a:r>
              <a:rPr lang="en-US" sz="2199">
                <a:solidFill>
                  <a:srgbClr val="AEEFE5"/>
                </a:solidFill>
                <a:latin typeface="Montserrat"/>
                <a:ea typeface="Montserrat"/>
                <a:cs typeface="Montserrat"/>
                <a:sym typeface="Montserrat"/>
              </a:rPr>
              <a:t>Doesn’t</a:t>
            </a:r>
            <a:r>
              <a:rPr lang="en-US" sz="2199">
                <a:solidFill>
                  <a:srgbClr val="FFFFFF"/>
                </a:solidFill>
                <a:latin typeface="Montserrat"/>
                <a:ea typeface="Montserrat"/>
                <a:cs typeface="Montserrat"/>
                <a:sym typeface="Montserrat"/>
              </a:rPr>
              <a:t> always use the </a:t>
            </a:r>
            <a:r>
              <a:rPr lang="en-US" sz="2199">
                <a:solidFill>
                  <a:srgbClr val="AEEFE5"/>
                </a:solidFill>
                <a:latin typeface="Montserrat"/>
                <a:ea typeface="Montserrat"/>
                <a:cs typeface="Montserrat"/>
                <a:sym typeface="Montserrat"/>
              </a:rPr>
              <a:t>full power</a:t>
            </a:r>
            <a:r>
              <a:rPr lang="en-US" sz="2199">
                <a:solidFill>
                  <a:srgbClr val="FFFFFF"/>
                </a:solidFill>
                <a:latin typeface="Montserrat"/>
                <a:ea typeface="Montserrat"/>
                <a:cs typeface="Montserrat"/>
                <a:sym typeface="Montserrat"/>
              </a:rPr>
              <a:t> of neural networks</a:t>
            </a:r>
          </a:p>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Can be </a:t>
            </a:r>
            <a:r>
              <a:rPr lang="en-US" sz="2199">
                <a:solidFill>
                  <a:srgbClr val="AEEFE5"/>
                </a:solidFill>
                <a:latin typeface="Montserrat"/>
                <a:ea typeface="Montserrat"/>
                <a:cs typeface="Montserrat"/>
                <a:sym typeface="Montserrat"/>
              </a:rPr>
              <a:t>trickier to set up</a:t>
            </a:r>
            <a:r>
              <a:rPr lang="en-US" sz="2199">
                <a:solidFill>
                  <a:srgbClr val="FFFFFF"/>
                </a:solidFill>
                <a:latin typeface="Montserrat"/>
                <a:ea typeface="Montserrat"/>
                <a:cs typeface="Montserrat"/>
                <a:sym typeface="Montserrat"/>
              </a:rPr>
              <a:t> than simpler models</a:t>
            </a:r>
          </a:p>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May be </a:t>
            </a:r>
            <a:r>
              <a:rPr lang="en-US" sz="2199">
                <a:solidFill>
                  <a:srgbClr val="AEEFE5"/>
                </a:solidFill>
                <a:latin typeface="Montserrat"/>
                <a:ea typeface="Montserrat"/>
                <a:cs typeface="Montserrat"/>
                <a:sym typeface="Montserrat"/>
              </a:rPr>
              <a:t>too complex for basic problems</a:t>
            </a:r>
          </a:p>
          <a:p>
            <a:pPr algn="l">
              <a:lnSpc>
                <a:spcPts val="2485"/>
              </a:lnSpc>
            </a:pPr>
          </a:p>
        </p:txBody>
      </p:sp>
      <p:sp>
        <p:nvSpPr>
          <p:cNvPr name="Freeform 20" id="20"/>
          <p:cNvSpPr/>
          <p:nvPr/>
        </p:nvSpPr>
        <p:spPr>
          <a:xfrm flipH="false" flipV="false" rot="0">
            <a:off x="3950440" y="4172899"/>
            <a:ext cx="10689025" cy="1204945"/>
          </a:xfrm>
          <a:custGeom>
            <a:avLst/>
            <a:gdLst/>
            <a:ahLst/>
            <a:cxnLst/>
            <a:rect r="r" b="b" t="t" l="l"/>
            <a:pathLst>
              <a:path h="1204945" w="10689025">
                <a:moveTo>
                  <a:pt x="0" y="0"/>
                </a:moveTo>
                <a:lnTo>
                  <a:pt x="10689025" y="0"/>
                </a:lnTo>
                <a:lnTo>
                  <a:pt x="10689025" y="1204945"/>
                </a:lnTo>
                <a:lnTo>
                  <a:pt x="0" y="1204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4113873" y="4370832"/>
            <a:ext cx="10694894" cy="778412"/>
          </a:xfrm>
          <a:prstGeom prst="rect">
            <a:avLst/>
          </a:prstGeom>
        </p:spPr>
        <p:txBody>
          <a:bodyPr anchor="t" rtlCol="false" tIns="0" lIns="0" bIns="0" rIns="0">
            <a:spAutoFit/>
          </a:bodyPr>
          <a:lstStyle/>
          <a:p>
            <a:pPr algn="l">
              <a:lnSpc>
                <a:spcPts val="2086"/>
              </a:lnSpc>
            </a:pPr>
            <a:r>
              <a:rPr lang="en-US" sz="1846">
                <a:solidFill>
                  <a:srgbClr val="FFFFFF"/>
                </a:solidFill>
                <a:latin typeface="Montserrat"/>
                <a:ea typeface="Montserrat"/>
                <a:cs typeface="Montserrat"/>
                <a:sym typeface="Montserrat"/>
              </a:rPr>
              <a:t>3- </a:t>
            </a:r>
            <a:r>
              <a:rPr lang="en-US" sz="1846" b="true">
                <a:solidFill>
                  <a:srgbClr val="FFFFFF"/>
                </a:solidFill>
                <a:latin typeface="Montserrat Bold"/>
                <a:ea typeface="Montserrat Bold"/>
                <a:cs typeface="Montserrat Bold"/>
                <a:sym typeface="Montserrat Bold"/>
              </a:rPr>
              <a:t>Insurance Underwriting</a:t>
            </a:r>
          </a:p>
          <a:p>
            <a:pPr algn="l">
              <a:lnSpc>
                <a:spcPts val="2086"/>
              </a:lnSpc>
            </a:pPr>
            <a:r>
              <a:rPr lang="en-US" sz="1846">
                <a:solidFill>
                  <a:srgbClr val="FFFFFF"/>
                </a:solidFill>
                <a:latin typeface="Montserrat"/>
                <a:ea typeface="Montserrat"/>
                <a:cs typeface="Montserrat"/>
                <a:sym typeface="Montserrat"/>
              </a:rPr>
              <a:t>Deciding who qualifies for insurance.</a:t>
            </a:r>
          </a:p>
          <a:p>
            <a:pPr algn="l">
              <a:lnSpc>
                <a:spcPts val="2086"/>
              </a:lnSpc>
            </a:pPr>
            <a:r>
              <a:rPr lang="en-US" sz="1846" b="true">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TabNet highlights which info mattered most in the decision.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7311786" y="4804606"/>
            <a:ext cx="9474505" cy="1946580"/>
          </a:xfrm>
          <a:custGeom>
            <a:avLst/>
            <a:gdLst/>
            <a:ahLst/>
            <a:cxnLst/>
            <a:rect r="r" b="b" t="t" l="l"/>
            <a:pathLst>
              <a:path h="1946580" w="9474505">
                <a:moveTo>
                  <a:pt x="0" y="0"/>
                </a:moveTo>
                <a:lnTo>
                  <a:pt x="9474505" y="0"/>
                </a:lnTo>
                <a:lnTo>
                  <a:pt x="9474505" y="1946580"/>
                </a:lnTo>
                <a:lnTo>
                  <a:pt x="0" y="1946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670493" y="1462542"/>
            <a:ext cx="846646" cy="886611"/>
            <a:chOff x="0" y="0"/>
            <a:chExt cx="162591" cy="170265"/>
          </a:xfrm>
        </p:grpSpPr>
        <p:sp>
          <p:nvSpPr>
            <p:cNvPr name="Freeform 8" id="8"/>
            <p:cNvSpPr/>
            <p:nvPr/>
          </p:nvSpPr>
          <p:spPr>
            <a:xfrm flipH="false" flipV="false" rot="0">
              <a:off x="0" y="0"/>
              <a:ext cx="162591" cy="170265"/>
            </a:xfrm>
            <a:custGeom>
              <a:avLst/>
              <a:gdLst/>
              <a:ahLst/>
              <a:cxnLst/>
              <a:rect r="r" b="b" t="t" l="l"/>
              <a:pathLst>
                <a:path h="170265" w="162591">
                  <a:moveTo>
                    <a:pt x="0" y="0"/>
                  </a:moveTo>
                  <a:lnTo>
                    <a:pt x="162591" y="0"/>
                  </a:lnTo>
                  <a:lnTo>
                    <a:pt x="162591" y="170265"/>
                  </a:lnTo>
                  <a:lnTo>
                    <a:pt x="0" y="170265"/>
                  </a:lnTo>
                  <a:close/>
                </a:path>
              </a:pathLst>
            </a:custGeom>
            <a:solidFill>
              <a:srgbClr val="B49CCD">
                <a:alpha val="35686"/>
              </a:srgbClr>
            </a:solidFill>
          </p:spPr>
        </p:sp>
        <p:sp>
          <p:nvSpPr>
            <p:cNvPr name="TextBox 9" id="9"/>
            <p:cNvSpPr txBox="true"/>
            <p:nvPr/>
          </p:nvSpPr>
          <p:spPr>
            <a:xfrm>
              <a:off x="0" y="38100"/>
              <a:ext cx="162591" cy="132165"/>
            </a:xfrm>
            <a:prstGeom prst="rect">
              <a:avLst/>
            </a:prstGeom>
          </p:spPr>
          <p:txBody>
            <a:bodyPr anchor="ctr" rtlCol="false" tIns="50800" lIns="50800" bIns="50800" rIns="50800"/>
            <a:lstStyle/>
            <a:p>
              <a:pPr algn="ctr">
                <a:lnSpc>
                  <a:spcPts val="2163"/>
                </a:lnSpc>
              </a:pPr>
            </a:p>
          </p:txBody>
        </p:sp>
      </p:grpSp>
      <p:sp>
        <p:nvSpPr>
          <p:cNvPr name="Freeform 10" id="10"/>
          <p:cNvSpPr/>
          <p:nvPr/>
        </p:nvSpPr>
        <p:spPr>
          <a:xfrm flipH="false" flipV="false" rot="0">
            <a:off x="1983477" y="1462542"/>
            <a:ext cx="2167043" cy="2174952"/>
          </a:xfrm>
          <a:custGeom>
            <a:avLst/>
            <a:gdLst/>
            <a:ahLst/>
            <a:cxnLst/>
            <a:rect r="r" b="b" t="t" l="l"/>
            <a:pathLst>
              <a:path h="2174952" w="2167043">
                <a:moveTo>
                  <a:pt x="0" y="0"/>
                </a:moveTo>
                <a:lnTo>
                  <a:pt x="2167043" y="0"/>
                </a:lnTo>
                <a:lnTo>
                  <a:pt x="2167043" y="2174951"/>
                </a:lnTo>
                <a:lnTo>
                  <a:pt x="0" y="21749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219899" y="3616461"/>
            <a:ext cx="5035359" cy="1034537"/>
          </a:xfrm>
          <a:custGeom>
            <a:avLst/>
            <a:gdLst/>
            <a:ahLst/>
            <a:cxnLst/>
            <a:rect r="r" b="b" t="t" l="l"/>
            <a:pathLst>
              <a:path h="1034537" w="5035359">
                <a:moveTo>
                  <a:pt x="0" y="0"/>
                </a:moveTo>
                <a:lnTo>
                  <a:pt x="5035359" y="0"/>
                </a:lnTo>
                <a:lnTo>
                  <a:pt x="5035359" y="1034538"/>
                </a:lnTo>
                <a:lnTo>
                  <a:pt x="0" y="10345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166031" y="6924556"/>
            <a:ext cx="7406843" cy="1521770"/>
          </a:xfrm>
          <a:custGeom>
            <a:avLst/>
            <a:gdLst/>
            <a:ahLst/>
            <a:cxnLst/>
            <a:rect r="r" b="b" t="t" l="l"/>
            <a:pathLst>
              <a:path h="1521770" w="7406843">
                <a:moveTo>
                  <a:pt x="0" y="0"/>
                </a:moveTo>
                <a:lnTo>
                  <a:pt x="7406844" y="0"/>
                </a:lnTo>
                <a:lnTo>
                  <a:pt x="7406844" y="1521770"/>
                </a:lnTo>
                <a:lnTo>
                  <a:pt x="0" y="1521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983477" y="4226996"/>
            <a:ext cx="4855422" cy="4150165"/>
          </a:xfrm>
          <a:prstGeom prst="rect">
            <a:avLst/>
          </a:prstGeom>
        </p:spPr>
        <p:txBody>
          <a:bodyPr anchor="t" rtlCol="false" tIns="0" lIns="0" bIns="0" rIns="0">
            <a:spAutoFit/>
          </a:bodyPr>
          <a:lstStyle/>
          <a:p>
            <a:pPr algn="l">
              <a:lnSpc>
                <a:spcPts val="5431"/>
              </a:lnSpc>
            </a:pPr>
            <a:r>
              <a:rPr lang="en-US" sz="5431">
                <a:solidFill>
                  <a:srgbClr val="B49CCD"/>
                </a:solidFill>
                <a:latin typeface="Gagalin"/>
                <a:ea typeface="Gagalin"/>
                <a:cs typeface="Gagalin"/>
                <a:sym typeface="Gagalin"/>
              </a:rPr>
              <a:t>SIX</a:t>
            </a:r>
            <a:r>
              <a:rPr lang="en-US" sz="5431">
                <a:solidFill>
                  <a:srgbClr val="FFFFFF"/>
                </a:solidFill>
                <a:latin typeface="Gagalin"/>
                <a:ea typeface="Gagalin"/>
                <a:cs typeface="Gagalin"/>
                <a:sym typeface="Gagalin"/>
              </a:rPr>
              <a:t> MAIN APPROACHES FOR DEEP NEURAL NETWORKS ON TABULAR DATA</a:t>
            </a:r>
          </a:p>
        </p:txBody>
      </p:sp>
      <p:sp>
        <p:nvSpPr>
          <p:cNvPr name="TextBox 14" id="14"/>
          <p:cNvSpPr txBox="true"/>
          <p:nvPr/>
        </p:nvSpPr>
        <p:spPr>
          <a:xfrm rot="0">
            <a:off x="7439270" y="5335458"/>
            <a:ext cx="9347021" cy="923690"/>
          </a:xfrm>
          <a:prstGeom prst="rect">
            <a:avLst/>
          </a:prstGeom>
        </p:spPr>
        <p:txBody>
          <a:bodyPr anchor="t" rtlCol="false" tIns="0" lIns="0" bIns="0" rIns="0">
            <a:spAutoFit/>
          </a:bodyPr>
          <a:lstStyle/>
          <a:p>
            <a:pPr algn="l">
              <a:lnSpc>
                <a:spcPts val="3602"/>
              </a:lnSpc>
            </a:pPr>
            <a:r>
              <a:rPr lang="en-US" sz="3187">
                <a:solidFill>
                  <a:srgbClr val="FFFFFF"/>
                </a:solidFill>
                <a:latin typeface="Montserrat"/>
                <a:ea typeface="Montserrat"/>
                <a:cs typeface="Montserrat"/>
                <a:sym typeface="Montserrat"/>
              </a:rPr>
              <a:t>M</a:t>
            </a:r>
            <a:r>
              <a:rPr lang="en-US" sz="3187">
                <a:solidFill>
                  <a:srgbClr val="FFFFFF"/>
                </a:solidFill>
                <a:latin typeface="Montserrat"/>
                <a:ea typeface="Montserrat"/>
                <a:cs typeface="Montserrat"/>
                <a:sym typeface="Montserrat"/>
              </a:rPr>
              <a:t>o</a:t>
            </a:r>
            <a:r>
              <a:rPr lang="en-US" sz="3187">
                <a:solidFill>
                  <a:srgbClr val="FFFFFF"/>
                </a:solidFill>
                <a:latin typeface="Montserrat"/>
                <a:ea typeface="Montserrat"/>
                <a:cs typeface="Montserrat"/>
                <a:sym typeface="Montserrat"/>
              </a:rPr>
              <a:t>d</a:t>
            </a:r>
            <a:r>
              <a:rPr lang="en-US" sz="3187">
                <a:solidFill>
                  <a:srgbClr val="FFFFFF"/>
                </a:solidFill>
                <a:latin typeface="Montserrat"/>
                <a:ea typeface="Montserrat"/>
                <a:cs typeface="Montserrat"/>
                <a:sym typeface="Montserrat"/>
              </a:rPr>
              <a:t>els t</a:t>
            </a:r>
            <a:r>
              <a:rPr lang="en-US" sz="3187">
                <a:solidFill>
                  <a:srgbClr val="FFFFFF"/>
                </a:solidFill>
                <a:latin typeface="Montserrat"/>
                <a:ea typeface="Montserrat"/>
                <a:cs typeface="Montserrat"/>
                <a:sym typeface="Montserrat"/>
              </a:rPr>
              <a:t>ha</a:t>
            </a:r>
            <a:r>
              <a:rPr lang="en-US" sz="3187">
                <a:solidFill>
                  <a:srgbClr val="FFFFFF"/>
                </a:solidFill>
                <a:latin typeface="Montserrat"/>
                <a:ea typeface="Montserrat"/>
                <a:cs typeface="Montserrat"/>
                <a:sym typeface="Montserrat"/>
              </a:rPr>
              <a:t>t</a:t>
            </a:r>
            <a:r>
              <a:rPr lang="en-US" sz="3187">
                <a:solidFill>
                  <a:srgbClr val="FFFFFF"/>
                </a:solidFill>
                <a:latin typeface="Montserrat"/>
                <a:ea typeface="Montserrat"/>
                <a:cs typeface="Montserrat"/>
                <a:sym typeface="Montserrat"/>
              </a:rPr>
              <a:t> ma</a:t>
            </a:r>
            <a:r>
              <a:rPr lang="en-US" sz="3187">
                <a:solidFill>
                  <a:srgbClr val="FFFFFF"/>
                </a:solidFill>
                <a:latin typeface="Montserrat"/>
                <a:ea typeface="Montserrat"/>
                <a:cs typeface="Montserrat"/>
                <a:sym typeface="Montserrat"/>
              </a:rPr>
              <a:t>ke</a:t>
            </a:r>
            <a:r>
              <a:rPr lang="en-US" sz="3187">
                <a:solidFill>
                  <a:srgbClr val="FFFFFF"/>
                </a:solidFill>
                <a:latin typeface="Montserrat"/>
                <a:ea typeface="Montserrat"/>
                <a:cs typeface="Montserrat"/>
                <a:sym typeface="Montserrat"/>
              </a:rPr>
              <a:t> pre</a:t>
            </a:r>
            <a:r>
              <a:rPr lang="en-US" sz="3187">
                <a:solidFill>
                  <a:srgbClr val="FFFFFF"/>
                </a:solidFill>
                <a:latin typeface="Montserrat"/>
                <a:ea typeface="Montserrat"/>
                <a:cs typeface="Montserrat"/>
                <a:sym typeface="Montserrat"/>
              </a:rPr>
              <a:t>d</a:t>
            </a:r>
            <a:r>
              <a:rPr lang="en-US" sz="3187">
                <a:solidFill>
                  <a:srgbClr val="FFFFFF"/>
                </a:solidFill>
                <a:latin typeface="Montserrat"/>
                <a:ea typeface="Montserrat"/>
                <a:cs typeface="Montserrat"/>
                <a:sym typeface="Montserrat"/>
              </a:rPr>
              <a:t>i</a:t>
            </a:r>
            <a:r>
              <a:rPr lang="en-US" sz="3187">
                <a:solidFill>
                  <a:srgbClr val="FFFFFF"/>
                </a:solidFill>
                <a:latin typeface="Montserrat"/>
                <a:ea typeface="Montserrat"/>
                <a:cs typeface="Montserrat"/>
                <a:sym typeface="Montserrat"/>
              </a:rPr>
              <a:t>c</a:t>
            </a:r>
            <a:r>
              <a:rPr lang="en-US" sz="3187">
                <a:solidFill>
                  <a:srgbClr val="FFFFFF"/>
                </a:solidFill>
                <a:latin typeface="Montserrat"/>
                <a:ea typeface="Montserrat"/>
                <a:cs typeface="Montserrat"/>
                <a:sym typeface="Montserrat"/>
              </a:rPr>
              <a:t>t</a:t>
            </a:r>
            <a:r>
              <a:rPr lang="en-US" sz="3187">
                <a:solidFill>
                  <a:srgbClr val="FFFFFF"/>
                </a:solidFill>
                <a:latin typeface="Montserrat"/>
                <a:ea typeface="Montserrat"/>
                <a:cs typeface="Montserrat"/>
                <a:sym typeface="Montserrat"/>
              </a:rPr>
              <a:t>ions</a:t>
            </a:r>
            <a:r>
              <a:rPr lang="en-US" sz="3187">
                <a:solidFill>
                  <a:srgbClr val="FFFFFF"/>
                </a:solidFill>
                <a:latin typeface="Montserrat"/>
                <a:ea typeface="Montserrat"/>
                <a:cs typeface="Montserrat"/>
                <a:sym typeface="Montserrat"/>
              </a:rPr>
              <a:t> by looking at examples that are </a:t>
            </a:r>
            <a:r>
              <a:rPr lang="en-US" sz="3187" b="true">
                <a:solidFill>
                  <a:srgbClr val="AEEFE5"/>
                </a:solidFill>
                <a:latin typeface="Montserrat Bold"/>
                <a:ea typeface="Montserrat Bold"/>
                <a:cs typeface="Montserrat Bold"/>
                <a:sym typeface="Montserrat Bold"/>
              </a:rPr>
              <a:t>similar</a:t>
            </a:r>
            <a:r>
              <a:rPr lang="en-US" sz="3187">
                <a:solidFill>
                  <a:srgbClr val="FFFFFF"/>
                </a:solidFill>
                <a:latin typeface="Montserrat"/>
                <a:ea typeface="Montserrat"/>
                <a:cs typeface="Montserrat"/>
                <a:sym typeface="Montserrat"/>
              </a:rPr>
              <a:t> to the current case</a:t>
            </a:r>
          </a:p>
        </p:txBody>
      </p:sp>
      <p:sp>
        <p:nvSpPr>
          <p:cNvPr name="TextBox 15" id="15"/>
          <p:cNvSpPr txBox="true"/>
          <p:nvPr/>
        </p:nvSpPr>
        <p:spPr>
          <a:xfrm rot="0">
            <a:off x="8708319" y="1440464"/>
            <a:ext cx="8550981" cy="1692615"/>
          </a:xfrm>
          <a:prstGeom prst="rect">
            <a:avLst/>
          </a:prstGeom>
        </p:spPr>
        <p:txBody>
          <a:bodyPr anchor="t" rtlCol="false" tIns="0" lIns="0" bIns="0" rIns="0">
            <a:spAutoFit/>
          </a:bodyPr>
          <a:lstStyle/>
          <a:p>
            <a:pPr algn="l">
              <a:lnSpc>
                <a:spcPts val="4482"/>
              </a:lnSpc>
            </a:pPr>
            <a:r>
              <a:rPr lang="en-US" sz="3966" b="true">
                <a:solidFill>
                  <a:srgbClr val="B49CCD"/>
                </a:solidFill>
                <a:latin typeface="Montserrat Bold"/>
                <a:ea typeface="Montserrat Bold"/>
                <a:cs typeface="Montserrat Bold"/>
                <a:sym typeface="Montserrat Bold"/>
              </a:rPr>
              <a:t>Context-Based Methods: </a:t>
            </a:r>
            <a:r>
              <a:rPr lang="en-US" sz="3966" b="true">
                <a:solidFill>
                  <a:srgbClr val="FFFFFF"/>
                </a:solidFill>
                <a:latin typeface="Montserrat Bold"/>
                <a:ea typeface="Montserrat Bold"/>
                <a:cs typeface="Montserrat Bold"/>
                <a:sym typeface="Montserrat Bold"/>
              </a:rPr>
              <a:t>Learning From Similar Examples</a:t>
            </a:r>
          </a:p>
        </p:txBody>
      </p:sp>
      <p:sp>
        <p:nvSpPr>
          <p:cNvPr name="TextBox 16" id="16"/>
          <p:cNvSpPr txBox="true"/>
          <p:nvPr/>
        </p:nvSpPr>
        <p:spPr>
          <a:xfrm rot="0">
            <a:off x="7862977" y="1668108"/>
            <a:ext cx="461678" cy="494528"/>
          </a:xfrm>
          <a:prstGeom prst="rect">
            <a:avLst/>
          </a:prstGeom>
        </p:spPr>
        <p:txBody>
          <a:bodyPr anchor="t" rtlCol="false" tIns="0" lIns="0" bIns="0" rIns="0">
            <a:spAutoFit/>
          </a:bodyPr>
          <a:lstStyle/>
          <a:p>
            <a:pPr algn="l">
              <a:lnSpc>
                <a:spcPts val="3844"/>
              </a:lnSpc>
            </a:pPr>
            <a:r>
              <a:rPr lang="en-US" sz="3402" b="true">
                <a:solidFill>
                  <a:srgbClr val="FFFFFF"/>
                </a:solidFill>
                <a:latin typeface="Montserrat Bold"/>
                <a:ea typeface="Montserrat Bold"/>
                <a:cs typeface="Montserrat Bold"/>
                <a:sym typeface="Montserrat Bold"/>
              </a:rPr>
              <a:t>6.</a:t>
            </a:r>
          </a:p>
        </p:txBody>
      </p:sp>
      <p:sp>
        <p:nvSpPr>
          <p:cNvPr name="TextBox 17" id="17"/>
          <p:cNvSpPr txBox="true"/>
          <p:nvPr/>
        </p:nvSpPr>
        <p:spPr>
          <a:xfrm rot="0">
            <a:off x="7408995" y="3945909"/>
            <a:ext cx="4657167" cy="410523"/>
          </a:xfrm>
          <a:prstGeom prst="rect">
            <a:avLst/>
          </a:prstGeom>
        </p:spPr>
        <p:txBody>
          <a:bodyPr anchor="t" rtlCol="false" tIns="0" lIns="0" bIns="0" rIns="0">
            <a:spAutoFit/>
          </a:bodyPr>
          <a:lstStyle/>
          <a:p>
            <a:pPr algn="l">
              <a:lnSpc>
                <a:spcPts val="3263"/>
              </a:lnSpc>
            </a:pPr>
            <a:r>
              <a:rPr lang="en-US" sz="2887" b="true">
                <a:solidFill>
                  <a:srgbClr val="FFFFFF"/>
                </a:solidFill>
                <a:latin typeface="Montserrat Bold"/>
                <a:ea typeface="Montserrat Bold"/>
                <a:cs typeface="Montserrat Bold"/>
                <a:sym typeface="Montserrat Bold"/>
              </a:rPr>
              <a:t>What are they?</a:t>
            </a:r>
          </a:p>
        </p:txBody>
      </p:sp>
      <p:sp>
        <p:nvSpPr>
          <p:cNvPr name="TextBox 18" id="18"/>
          <p:cNvSpPr txBox="true"/>
          <p:nvPr/>
        </p:nvSpPr>
        <p:spPr>
          <a:xfrm rot="0">
            <a:off x="8517139" y="7189336"/>
            <a:ext cx="6966521" cy="1071200"/>
          </a:xfrm>
          <a:prstGeom prst="rect">
            <a:avLst/>
          </a:prstGeom>
        </p:spPr>
        <p:txBody>
          <a:bodyPr anchor="t" rtlCol="false" tIns="0" lIns="0" bIns="0" rIns="0">
            <a:spAutoFit/>
          </a:bodyPr>
          <a:lstStyle/>
          <a:p>
            <a:pPr algn="l">
              <a:lnSpc>
                <a:spcPts val="2875"/>
              </a:lnSpc>
            </a:pPr>
            <a:r>
              <a:rPr lang="en-US" sz="2544">
                <a:solidFill>
                  <a:srgbClr val="FFFFFF"/>
                </a:solidFill>
                <a:latin typeface="Montserrat"/>
                <a:ea typeface="Montserrat"/>
                <a:cs typeface="Montserrat"/>
                <a:sym typeface="Montserrat"/>
              </a:rPr>
              <a:t>Like if you’re trying to decide which movie to watch, and you pick one based on what similar people enjoyed.</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1566" y="395004"/>
            <a:ext cx="646477" cy="646477"/>
            <a:chOff x="0" y="0"/>
            <a:chExt cx="170265" cy="170265"/>
          </a:xfrm>
        </p:grpSpPr>
        <p:sp>
          <p:nvSpPr>
            <p:cNvPr name="Freeform 4" id="4"/>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5" id="5"/>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6" id="6"/>
          <p:cNvSpPr/>
          <p:nvPr/>
        </p:nvSpPr>
        <p:spPr>
          <a:xfrm flipH="false" flipV="false" rot="0">
            <a:off x="4076431" y="395004"/>
            <a:ext cx="3681150" cy="756309"/>
          </a:xfrm>
          <a:custGeom>
            <a:avLst/>
            <a:gdLst/>
            <a:ahLst/>
            <a:cxnLst/>
            <a:rect r="r" b="b" t="t" l="l"/>
            <a:pathLst>
              <a:path h="756309" w="3681150">
                <a:moveTo>
                  <a:pt x="0" y="0"/>
                </a:moveTo>
                <a:lnTo>
                  <a:pt x="3681150" y="0"/>
                </a:lnTo>
                <a:lnTo>
                  <a:pt x="3681150" y="756309"/>
                </a:lnTo>
                <a:lnTo>
                  <a:pt x="0" y="7563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391853" y="5577869"/>
            <a:ext cx="3424393" cy="703557"/>
          </a:xfrm>
          <a:custGeom>
            <a:avLst/>
            <a:gdLst/>
            <a:ahLst/>
            <a:cxnLst/>
            <a:rect r="r" b="b" t="t" l="l"/>
            <a:pathLst>
              <a:path h="703557" w="3424393">
                <a:moveTo>
                  <a:pt x="0" y="0"/>
                </a:moveTo>
                <a:lnTo>
                  <a:pt x="3424393" y="0"/>
                </a:lnTo>
                <a:lnTo>
                  <a:pt x="3424393" y="703557"/>
                </a:lnTo>
                <a:lnTo>
                  <a:pt x="0" y="703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447187" y="5683061"/>
            <a:ext cx="2400399" cy="493173"/>
          </a:xfrm>
          <a:custGeom>
            <a:avLst/>
            <a:gdLst/>
            <a:ahLst/>
            <a:cxnLst/>
            <a:rect r="r" b="b" t="t" l="l"/>
            <a:pathLst>
              <a:path h="493173" w="2400399">
                <a:moveTo>
                  <a:pt x="0" y="0"/>
                </a:moveTo>
                <a:lnTo>
                  <a:pt x="2400399" y="0"/>
                </a:lnTo>
                <a:lnTo>
                  <a:pt x="2400399" y="493173"/>
                </a:lnTo>
                <a:lnTo>
                  <a:pt x="0" y="4931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076431" y="6500501"/>
            <a:ext cx="4900890" cy="3484087"/>
          </a:xfrm>
          <a:custGeom>
            <a:avLst/>
            <a:gdLst/>
            <a:ahLst/>
            <a:cxnLst/>
            <a:rect r="r" b="b" t="t" l="l"/>
            <a:pathLst>
              <a:path h="3484087" w="4900890">
                <a:moveTo>
                  <a:pt x="0" y="0"/>
                </a:moveTo>
                <a:lnTo>
                  <a:pt x="4900890" y="0"/>
                </a:lnTo>
                <a:lnTo>
                  <a:pt x="4900890" y="3484088"/>
                </a:lnTo>
                <a:lnTo>
                  <a:pt x="0" y="3484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193395" y="6363763"/>
            <a:ext cx="5346165" cy="3800637"/>
          </a:xfrm>
          <a:custGeom>
            <a:avLst/>
            <a:gdLst/>
            <a:ahLst/>
            <a:cxnLst/>
            <a:rect r="r" b="b" t="t" l="l"/>
            <a:pathLst>
              <a:path h="3800637" w="5346165">
                <a:moveTo>
                  <a:pt x="0" y="0"/>
                </a:moveTo>
                <a:lnTo>
                  <a:pt x="5346165" y="0"/>
                </a:lnTo>
                <a:lnTo>
                  <a:pt x="5346165" y="3800637"/>
                </a:lnTo>
                <a:lnTo>
                  <a:pt x="0" y="38006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950440" y="1369830"/>
            <a:ext cx="10836324" cy="1221549"/>
          </a:xfrm>
          <a:custGeom>
            <a:avLst/>
            <a:gdLst/>
            <a:ahLst/>
            <a:cxnLst/>
            <a:rect r="r" b="b" t="t" l="l"/>
            <a:pathLst>
              <a:path h="1221549" w="10836324">
                <a:moveTo>
                  <a:pt x="0" y="0"/>
                </a:moveTo>
                <a:lnTo>
                  <a:pt x="10836324" y="0"/>
                </a:lnTo>
                <a:lnTo>
                  <a:pt x="10836324" y="1221549"/>
                </a:lnTo>
                <a:lnTo>
                  <a:pt x="0" y="12215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043158" y="1151313"/>
            <a:ext cx="10650889" cy="1350042"/>
          </a:xfrm>
          <a:prstGeom prst="rect">
            <a:avLst/>
          </a:prstGeom>
        </p:spPr>
        <p:txBody>
          <a:bodyPr anchor="t" rtlCol="false" tIns="0" lIns="0" bIns="0" rIns="0">
            <a:spAutoFit/>
          </a:bodyPr>
          <a:lstStyle/>
          <a:p>
            <a:pPr algn="l">
              <a:lnSpc>
                <a:spcPts val="2102"/>
              </a:lnSpc>
            </a:pPr>
          </a:p>
          <a:p>
            <a:pPr algn="l">
              <a:lnSpc>
                <a:spcPts val="2102"/>
              </a:lnSpc>
            </a:pPr>
            <a:r>
              <a:rPr lang="en-US" b="true" sz="1860">
                <a:solidFill>
                  <a:srgbClr val="FFFFFF"/>
                </a:solidFill>
                <a:latin typeface="Montserrat Bold"/>
                <a:ea typeface="Montserrat Bold"/>
                <a:cs typeface="Montserrat Bold"/>
                <a:sym typeface="Montserrat Bold"/>
              </a:rPr>
              <a:t> </a:t>
            </a:r>
            <a:r>
              <a:rPr lang="en-US" sz="1860">
                <a:solidFill>
                  <a:srgbClr val="FFFFFF"/>
                </a:solidFill>
                <a:latin typeface="Montserrat"/>
                <a:ea typeface="Montserrat"/>
                <a:cs typeface="Montserrat"/>
                <a:sym typeface="Montserrat"/>
              </a:rPr>
              <a:t>1- </a:t>
            </a:r>
            <a:r>
              <a:rPr lang="en-US" b="true" sz="1860">
                <a:solidFill>
                  <a:srgbClr val="FFFFFF"/>
                </a:solidFill>
                <a:latin typeface="Montserrat Bold"/>
                <a:ea typeface="Montserrat Bold"/>
                <a:cs typeface="Montserrat Bold"/>
                <a:sym typeface="Montserrat Bold"/>
              </a:rPr>
              <a:t>P</a:t>
            </a:r>
            <a:r>
              <a:rPr lang="en-US" b="true" sz="1860">
                <a:solidFill>
                  <a:srgbClr val="FFFFFF"/>
                </a:solidFill>
                <a:latin typeface="Montserrat Bold"/>
                <a:ea typeface="Montserrat Bold"/>
                <a:cs typeface="Montserrat Bold"/>
                <a:sym typeface="Montserrat Bold"/>
              </a:rPr>
              <a:t>ersonalized Medicine</a:t>
            </a:r>
          </a:p>
          <a:p>
            <a:pPr algn="l">
              <a:lnSpc>
                <a:spcPts val="2102"/>
              </a:lnSpc>
            </a:pPr>
            <a:r>
              <a:rPr lang="en-US" sz="1860">
                <a:solidFill>
                  <a:srgbClr val="FFFFFF"/>
                </a:solidFill>
                <a:latin typeface="Montserrat"/>
                <a:ea typeface="Montserrat"/>
                <a:cs typeface="Montserrat"/>
                <a:sym typeface="Montserrat"/>
              </a:rPr>
              <a:t>Creating treatments tailored to individual patients.</a:t>
            </a:r>
          </a:p>
          <a:p>
            <a:pPr algn="l" marL="401742" indent="-200871" lvl="1">
              <a:lnSpc>
                <a:spcPts val="2102"/>
              </a:lnSpc>
              <a:buFont typeface="Arial"/>
              <a:buChar char="•"/>
            </a:pPr>
            <a:r>
              <a:rPr lang="en-US" b="true" sz="1860">
                <a:solidFill>
                  <a:srgbClr val="FEE04E"/>
                </a:solidFill>
                <a:latin typeface="Montserrat Bold"/>
                <a:ea typeface="Montserrat Bold"/>
                <a:cs typeface="Montserrat Bold"/>
                <a:sym typeface="Montserrat Bold"/>
              </a:rPr>
              <a:t>Advantage</a:t>
            </a:r>
            <a:r>
              <a:rPr lang="en-US" sz="1860">
                <a:solidFill>
                  <a:srgbClr val="FFFFFF"/>
                </a:solidFill>
                <a:latin typeface="Montserrat"/>
                <a:ea typeface="Montserrat"/>
                <a:cs typeface="Montserrat"/>
                <a:sym typeface="Montserrat"/>
              </a:rPr>
              <a:t>: ModernNCA looks for similar cases to suggest the best treatment for each person.</a:t>
            </a:r>
          </a:p>
        </p:txBody>
      </p:sp>
      <p:sp>
        <p:nvSpPr>
          <p:cNvPr name="TextBox 13" id="13"/>
          <p:cNvSpPr txBox="true"/>
          <p:nvPr/>
        </p:nvSpPr>
        <p:spPr>
          <a:xfrm rot="0">
            <a:off x="4216340" y="635187"/>
            <a:ext cx="3759487" cy="294993"/>
          </a:xfrm>
          <a:prstGeom prst="rect">
            <a:avLst/>
          </a:prstGeom>
        </p:spPr>
        <p:txBody>
          <a:bodyPr anchor="t" rtlCol="false" tIns="0" lIns="0" bIns="0" rIns="0">
            <a:spAutoFit/>
          </a:bodyPr>
          <a:lstStyle/>
          <a:p>
            <a:pPr algn="l">
              <a:lnSpc>
                <a:spcPts val="2385"/>
              </a:lnSpc>
            </a:pPr>
            <a:r>
              <a:rPr lang="en-US" sz="2111" b="true">
                <a:solidFill>
                  <a:srgbClr val="FFFFFF"/>
                </a:solidFill>
                <a:latin typeface="Montserrat Bold"/>
                <a:ea typeface="Montserrat Bold"/>
                <a:cs typeface="Montserrat Bold"/>
                <a:sym typeface="Montserrat Bold"/>
              </a:rPr>
              <a:t>Real-world applications</a:t>
            </a:r>
          </a:p>
        </p:txBody>
      </p:sp>
      <p:sp>
        <p:nvSpPr>
          <p:cNvPr name="TextBox 14" id="14"/>
          <p:cNvSpPr txBox="true"/>
          <p:nvPr/>
        </p:nvSpPr>
        <p:spPr>
          <a:xfrm rot="0">
            <a:off x="4548678" y="5779892"/>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Why they are useful</a:t>
            </a:r>
          </a:p>
        </p:txBody>
      </p:sp>
      <p:sp>
        <p:nvSpPr>
          <p:cNvPr name="TextBox 15" id="15"/>
          <p:cNvSpPr txBox="true"/>
          <p:nvPr/>
        </p:nvSpPr>
        <p:spPr>
          <a:xfrm rot="0">
            <a:off x="9591551" y="5761864"/>
            <a:ext cx="3813564" cy="309036"/>
          </a:xfrm>
          <a:prstGeom prst="rect">
            <a:avLst/>
          </a:prstGeom>
        </p:spPr>
        <p:txBody>
          <a:bodyPr anchor="t" rtlCol="false" tIns="0" lIns="0" bIns="0" rIns="0">
            <a:spAutoFit/>
          </a:bodyPr>
          <a:lstStyle/>
          <a:p>
            <a:pPr algn="l">
              <a:lnSpc>
                <a:spcPts val="2419"/>
              </a:lnSpc>
            </a:pPr>
            <a:r>
              <a:rPr lang="en-US" sz="2141" b="true">
                <a:solidFill>
                  <a:srgbClr val="FFFFFF"/>
                </a:solidFill>
                <a:latin typeface="Montserrat Bold"/>
                <a:ea typeface="Montserrat Bold"/>
                <a:cs typeface="Montserrat Bold"/>
                <a:sym typeface="Montserrat Bold"/>
              </a:rPr>
              <a:t>Challenges</a:t>
            </a:r>
          </a:p>
        </p:txBody>
      </p:sp>
      <p:sp>
        <p:nvSpPr>
          <p:cNvPr name="Freeform 16" id="16"/>
          <p:cNvSpPr/>
          <p:nvPr/>
        </p:nvSpPr>
        <p:spPr>
          <a:xfrm flipH="false" flipV="false" rot="0">
            <a:off x="3950440" y="2733779"/>
            <a:ext cx="10962167" cy="1235735"/>
          </a:xfrm>
          <a:custGeom>
            <a:avLst/>
            <a:gdLst/>
            <a:ahLst/>
            <a:cxnLst/>
            <a:rect r="r" b="b" t="t" l="l"/>
            <a:pathLst>
              <a:path h="1235735" w="10962167">
                <a:moveTo>
                  <a:pt x="0" y="0"/>
                </a:moveTo>
                <a:lnTo>
                  <a:pt x="10962167" y="0"/>
                </a:lnTo>
                <a:lnTo>
                  <a:pt x="10962167" y="1235735"/>
                </a:lnTo>
                <a:lnTo>
                  <a:pt x="0" y="12357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4076431" y="2659777"/>
            <a:ext cx="10880120" cy="1595033"/>
          </a:xfrm>
          <a:prstGeom prst="rect">
            <a:avLst/>
          </a:prstGeom>
        </p:spPr>
        <p:txBody>
          <a:bodyPr anchor="t" rtlCol="false" tIns="0" lIns="0" bIns="0" rIns="0">
            <a:spAutoFit/>
          </a:bodyPr>
          <a:lstStyle/>
          <a:p>
            <a:pPr algn="l">
              <a:lnSpc>
                <a:spcPts val="2086"/>
              </a:lnSpc>
            </a:pPr>
          </a:p>
          <a:p>
            <a:pPr algn="l">
              <a:lnSpc>
                <a:spcPts val="2086"/>
              </a:lnSpc>
            </a:pPr>
            <a:r>
              <a:rPr lang="en-US" sz="1846">
                <a:solidFill>
                  <a:srgbClr val="FFFFFF"/>
                </a:solidFill>
                <a:latin typeface="Montserrat"/>
                <a:ea typeface="Montserrat"/>
                <a:cs typeface="Montserrat"/>
                <a:sym typeface="Montserrat"/>
              </a:rPr>
              <a:t>2-</a:t>
            </a:r>
            <a:r>
              <a:rPr lang="en-US" sz="1846" b="true">
                <a:solidFill>
                  <a:srgbClr val="FFFFFF"/>
                </a:solidFill>
                <a:latin typeface="Montserrat Bold"/>
                <a:ea typeface="Montserrat Bold"/>
                <a:cs typeface="Montserrat Bold"/>
                <a:sym typeface="Montserrat Bold"/>
              </a:rPr>
              <a:t> Market Segmentation</a:t>
            </a:r>
          </a:p>
          <a:p>
            <a:pPr algn="l">
              <a:lnSpc>
                <a:spcPts val="2086"/>
              </a:lnSpc>
            </a:pPr>
            <a:r>
              <a:rPr lang="en-US" sz="1846">
                <a:solidFill>
                  <a:srgbClr val="FFFFFF"/>
                </a:solidFill>
                <a:latin typeface="Montserrat"/>
                <a:ea typeface="Montserrat"/>
                <a:cs typeface="Montserrat"/>
                <a:sym typeface="Montserrat"/>
              </a:rPr>
              <a:t>Grouping similar customers or products together.</a:t>
            </a:r>
          </a:p>
          <a:p>
            <a:pPr algn="l" marL="398583" indent="-199291" lvl="1">
              <a:lnSpc>
                <a:spcPts val="2086"/>
              </a:lnSpc>
              <a:buFont typeface="Arial"/>
              <a:buChar char="•"/>
            </a:pPr>
            <a:r>
              <a:rPr lang="en-US" b="true" sz="1846">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Automatically sorts similar items or people into categories.</a:t>
            </a:r>
          </a:p>
          <a:p>
            <a:pPr algn="l">
              <a:lnSpc>
                <a:spcPts val="2086"/>
              </a:lnSpc>
            </a:pPr>
          </a:p>
          <a:p>
            <a:pPr algn="l">
              <a:lnSpc>
                <a:spcPts val="2086"/>
              </a:lnSpc>
            </a:pPr>
          </a:p>
        </p:txBody>
      </p:sp>
      <p:sp>
        <p:nvSpPr>
          <p:cNvPr name="TextBox 18" id="18"/>
          <p:cNvSpPr txBox="true"/>
          <p:nvPr/>
        </p:nvSpPr>
        <p:spPr>
          <a:xfrm rot="0">
            <a:off x="4382509" y="6900551"/>
            <a:ext cx="4145903" cy="2829433"/>
          </a:xfrm>
          <a:prstGeom prst="rect">
            <a:avLst/>
          </a:prstGeom>
        </p:spPr>
        <p:txBody>
          <a:bodyPr anchor="t" rtlCol="false" tIns="0" lIns="0" bIns="0" rIns="0">
            <a:spAutoFit/>
          </a:bodyPr>
          <a:lstStyle/>
          <a:p>
            <a:pPr algn="l" marL="474979" indent="-237490" lvl="1">
              <a:lnSpc>
                <a:spcPts val="2485"/>
              </a:lnSpc>
              <a:buFont typeface="Arial"/>
              <a:buChar char="•"/>
            </a:pPr>
            <a:r>
              <a:rPr lang="en-US" sz="2199">
                <a:solidFill>
                  <a:srgbClr val="AEEFE5"/>
                </a:solidFill>
                <a:latin typeface="Montserrat"/>
                <a:ea typeface="Montserrat"/>
                <a:cs typeface="Montserrat"/>
                <a:sym typeface="Montserrat"/>
              </a:rPr>
              <a:t>Works well across many different areas</a:t>
            </a:r>
          </a:p>
          <a:p>
            <a:pPr algn="l" marL="474979" indent="-237490" lvl="1">
              <a:lnSpc>
                <a:spcPts val="2485"/>
              </a:lnSpc>
              <a:buFont typeface="Arial"/>
              <a:buChar char="•"/>
            </a:pPr>
            <a:r>
              <a:rPr lang="en-US" sz="2199">
                <a:solidFill>
                  <a:srgbClr val="AEEFE5"/>
                </a:solidFill>
                <a:latin typeface="Montserrat"/>
                <a:ea typeface="Montserrat"/>
                <a:cs typeface="Montserrat"/>
                <a:sym typeface="Montserrat"/>
              </a:rPr>
              <a:t>Minimal setup</a:t>
            </a:r>
            <a:r>
              <a:rPr lang="en-US" sz="2199">
                <a:solidFill>
                  <a:srgbClr val="FFFFFF"/>
                </a:solidFill>
                <a:latin typeface="Montserrat"/>
                <a:ea typeface="Montserrat"/>
                <a:cs typeface="Montserrat"/>
                <a:sym typeface="Montserrat"/>
              </a:rPr>
              <a:t> needed, saving time on development</a:t>
            </a:r>
          </a:p>
          <a:p>
            <a:pPr algn="l" marL="474979" indent="-237490" lvl="1">
              <a:lnSpc>
                <a:spcPts val="2485"/>
              </a:lnSpc>
              <a:buFont typeface="Arial"/>
              <a:buChar char="•"/>
            </a:pPr>
            <a:r>
              <a:rPr lang="en-US" sz="2199">
                <a:solidFill>
                  <a:srgbClr val="AEEFE5"/>
                </a:solidFill>
                <a:latin typeface="Montserrat"/>
                <a:ea typeface="Montserrat"/>
                <a:cs typeface="Montserrat"/>
                <a:sym typeface="Montserrat"/>
              </a:rPr>
              <a:t>TabPFN</a:t>
            </a:r>
            <a:r>
              <a:rPr lang="en-US" sz="2199">
                <a:solidFill>
                  <a:srgbClr val="FFFFFF"/>
                </a:solidFill>
                <a:latin typeface="Montserrat"/>
                <a:ea typeface="Montserrat"/>
                <a:cs typeface="Montserrat"/>
                <a:sym typeface="Montserrat"/>
              </a:rPr>
              <a:t> doesn’t need much tuning, so it’s easier to use</a:t>
            </a:r>
          </a:p>
          <a:p>
            <a:pPr algn="l">
              <a:lnSpc>
                <a:spcPts val="2485"/>
              </a:lnSpc>
            </a:pPr>
          </a:p>
        </p:txBody>
      </p:sp>
      <p:sp>
        <p:nvSpPr>
          <p:cNvPr name="TextBox 19" id="19"/>
          <p:cNvSpPr txBox="true"/>
          <p:nvPr/>
        </p:nvSpPr>
        <p:spPr>
          <a:xfrm rot="0">
            <a:off x="9423878" y="6900551"/>
            <a:ext cx="4818577" cy="2829433"/>
          </a:xfrm>
          <a:prstGeom prst="rect">
            <a:avLst/>
          </a:prstGeom>
        </p:spPr>
        <p:txBody>
          <a:bodyPr anchor="t" rtlCol="false" tIns="0" lIns="0" bIns="0" rIns="0">
            <a:spAutoFit/>
          </a:bodyPr>
          <a:lstStyle/>
          <a:p>
            <a:pPr algn="l" marL="474979" indent="-237490" lvl="1">
              <a:lnSpc>
                <a:spcPts val="2485"/>
              </a:lnSpc>
              <a:buFont typeface="Arial"/>
              <a:buChar char="•"/>
            </a:pPr>
            <a:r>
              <a:rPr lang="en-US" sz="2199">
                <a:solidFill>
                  <a:srgbClr val="AEEFE5"/>
                </a:solidFill>
                <a:latin typeface="Montserrat"/>
                <a:ea typeface="Montserrat"/>
                <a:cs typeface="Montserrat"/>
                <a:sym typeface="Montserrat"/>
              </a:rPr>
              <a:t>TabPFN</a:t>
            </a:r>
            <a:r>
              <a:rPr lang="en-US" sz="2199">
                <a:solidFill>
                  <a:srgbClr val="FFFFFF"/>
                </a:solidFill>
                <a:latin typeface="Montserrat"/>
                <a:ea typeface="Montserrat"/>
                <a:cs typeface="Montserrat"/>
                <a:sym typeface="Montserrat"/>
              </a:rPr>
              <a:t> only works for smaller tasks</a:t>
            </a:r>
          </a:p>
          <a:p>
            <a:pPr algn="l" marL="474979" indent="-237490" lvl="1">
              <a:lnSpc>
                <a:spcPts val="2485"/>
              </a:lnSpc>
              <a:buFont typeface="Arial"/>
              <a:buChar char="•"/>
            </a:pPr>
            <a:r>
              <a:rPr lang="en-US" sz="2199">
                <a:solidFill>
                  <a:srgbClr val="FFFFFF"/>
                </a:solidFill>
                <a:latin typeface="Montserrat"/>
                <a:ea typeface="Montserrat"/>
                <a:cs typeface="Montserrat"/>
                <a:sym typeface="Montserrat"/>
              </a:rPr>
              <a:t>Can </a:t>
            </a:r>
            <a:r>
              <a:rPr lang="en-US" sz="2199">
                <a:solidFill>
                  <a:srgbClr val="AEEFE5"/>
                </a:solidFill>
                <a:latin typeface="Montserrat"/>
                <a:ea typeface="Montserrat"/>
                <a:cs typeface="Montserrat"/>
                <a:sym typeface="Montserrat"/>
              </a:rPr>
              <a:t>slow down</a:t>
            </a:r>
            <a:r>
              <a:rPr lang="en-US" sz="2199">
                <a:solidFill>
                  <a:srgbClr val="FFFFFF"/>
                </a:solidFill>
                <a:latin typeface="Montserrat"/>
                <a:ea typeface="Montserrat"/>
                <a:cs typeface="Montserrat"/>
                <a:sym typeface="Montserrat"/>
              </a:rPr>
              <a:t> with large datasets and may lose some information</a:t>
            </a:r>
          </a:p>
          <a:p>
            <a:pPr algn="l" marL="474979" indent="-237490" lvl="1">
              <a:lnSpc>
                <a:spcPts val="2485"/>
              </a:lnSpc>
              <a:buFont typeface="Arial"/>
              <a:buChar char="•"/>
            </a:pPr>
            <a:r>
              <a:rPr lang="en-US" sz="2199">
                <a:solidFill>
                  <a:srgbClr val="AEEFE5"/>
                </a:solidFill>
                <a:latin typeface="Montserrat"/>
                <a:ea typeface="Montserrat"/>
                <a:cs typeface="Montserrat"/>
                <a:sym typeface="Montserrat"/>
              </a:rPr>
              <a:t>Requires sampling</a:t>
            </a:r>
            <a:r>
              <a:rPr lang="en-US" sz="2199">
                <a:solidFill>
                  <a:srgbClr val="FFFFFF"/>
                </a:solidFill>
                <a:latin typeface="Montserrat"/>
                <a:ea typeface="Montserrat"/>
                <a:cs typeface="Montserrat"/>
                <a:sym typeface="Montserrat"/>
              </a:rPr>
              <a:t>, which might miss key details from big data sets</a:t>
            </a:r>
          </a:p>
          <a:p>
            <a:pPr algn="l">
              <a:lnSpc>
                <a:spcPts val="2485"/>
              </a:lnSpc>
            </a:pPr>
          </a:p>
        </p:txBody>
      </p:sp>
      <p:sp>
        <p:nvSpPr>
          <p:cNvPr name="Freeform 20" id="20"/>
          <p:cNvSpPr/>
          <p:nvPr/>
        </p:nvSpPr>
        <p:spPr>
          <a:xfrm flipH="false" flipV="false" rot="0">
            <a:off x="3950440" y="4172899"/>
            <a:ext cx="10689025" cy="1204945"/>
          </a:xfrm>
          <a:custGeom>
            <a:avLst/>
            <a:gdLst/>
            <a:ahLst/>
            <a:cxnLst/>
            <a:rect r="r" b="b" t="t" l="l"/>
            <a:pathLst>
              <a:path h="1204945" w="10689025">
                <a:moveTo>
                  <a:pt x="0" y="0"/>
                </a:moveTo>
                <a:lnTo>
                  <a:pt x="10689025" y="0"/>
                </a:lnTo>
                <a:lnTo>
                  <a:pt x="10689025" y="1204945"/>
                </a:lnTo>
                <a:lnTo>
                  <a:pt x="0" y="1204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4076431" y="4389882"/>
            <a:ext cx="10694894" cy="778412"/>
          </a:xfrm>
          <a:prstGeom prst="rect">
            <a:avLst/>
          </a:prstGeom>
        </p:spPr>
        <p:txBody>
          <a:bodyPr anchor="t" rtlCol="false" tIns="0" lIns="0" bIns="0" rIns="0">
            <a:spAutoFit/>
          </a:bodyPr>
          <a:lstStyle/>
          <a:p>
            <a:pPr algn="l">
              <a:lnSpc>
                <a:spcPts val="2086"/>
              </a:lnSpc>
            </a:pPr>
            <a:r>
              <a:rPr lang="en-US" sz="1846">
                <a:solidFill>
                  <a:srgbClr val="FFFFFF"/>
                </a:solidFill>
                <a:latin typeface="Montserrat"/>
                <a:ea typeface="Montserrat"/>
                <a:cs typeface="Montserrat"/>
                <a:sym typeface="Montserrat"/>
              </a:rPr>
              <a:t>3- </a:t>
            </a:r>
            <a:r>
              <a:rPr lang="en-US" sz="1846" b="true">
                <a:solidFill>
                  <a:srgbClr val="FFFFFF"/>
                </a:solidFill>
                <a:latin typeface="Montserrat Bold"/>
                <a:ea typeface="Montserrat Bold"/>
                <a:cs typeface="Montserrat Bold"/>
                <a:sym typeface="Montserrat Bold"/>
              </a:rPr>
              <a:t>Customer Churn</a:t>
            </a:r>
            <a:r>
              <a:rPr lang="en-US" sz="1846" b="true">
                <a:solidFill>
                  <a:srgbClr val="FFFFFF"/>
                </a:solidFill>
                <a:latin typeface="Montserrat Bold"/>
                <a:ea typeface="Montserrat Bold"/>
                <a:cs typeface="Montserrat Bold"/>
                <a:sym typeface="Montserrat Bold"/>
              </a:rPr>
              <a:t> Prediction</a:t>
            </a:r>
          </a:p>
          <a:p>
            <a:pPr algn="l">
              <a:lnSpc>
                <a:spcPts val="2086"/>
              </a:lnSpc>
            </a:pPr>
            <a:r>
              <a:rPr lang="en-US" sz="1846">
                <a:solidFill>
                  <a:srgbClr val="FFFFFF"/>
                </a:solidFill>
                <a:latin typeface="Montserrat"/>
                <a:ea typeface="Montserrat"/>
                <a:cs typeface="Montserrat"/>
                <a:sym typeface="Montserrat"/>
              </a:rPr>
              <a:t>Predicting which customers might leave.</a:t>
            </a:r>
          </a:p>
          <a:p>
            <a:pPr algn="l">
              <a:lnSpc>
                <a:spcPts val="2086"/>
              </a:lnSpc>
            </a:pPr>
            <a:r>
              <a:rPr lang="en-US" sz="1846" b="true">
                <a:solidFill>
                  <a:srgbClr val="FEE04E"/>
                </a:solidFill>
                <a:latin typeface="Montserrat Bold"/>
                <a:ea typeface="Montserrat Bold"/>
                <a:cs typeface="Montserrat Bold"/>
                <a:sym typeface="Montserrat Bold"/>
              </a:rPr>
              <a:t>Advantage</a:t>
            </a:r>
            <a:r>
              <a:rPr lang="en-US" sz="1846">
                <a:solidFill>
                  <a:srgbClr val="FFFFFF"/>
                </a:solidFill>
                <a:latin typeface="Montserrat"/>
                <a:ea typeface="Montserrat"/>
                <a:cs typeface="Montserrat"/>
                <a:sym typeface="Montserrat"/>
              </a:rPr>
              <a:t>: TabR identifies patterns from customers who have left before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10800000">
            <a:off x="5452862" y="-1290778"/>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78262" y="1028700"/>
            <a:ext cx="456656" cy="413481"/>
          </a:xfrm>
          <a:custGeom>
            <a:avLst/>
            <a:gdLst/>
            <a:ahLst/>
            <a:cxnLst/>
            <a:rect r="r" b="b" t="t" l="l"/>
            <a:pathLst>
              <a:path h="413481" w="456656">
                <a:moveTo>
                  <a:pt x="0" y="0"/>
                </a:moveTo>
                <a:lnTo>
                  <a:pt x="456656" y="0"/>
                </a:lnTo>
                <a:lnTo>
                  <a:pt x="456656" y="413481"/>
                </a:lnTo>
                <a:lnTo>
                  <a:pt x="0" y="413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519054" y="8496531"/>
            <a:ext cx="1480491" cy="1523538"/>
          </a:xfrm>
          <a:custGeom>
            <a:avLst/>
            <a:gdLst/>
            <a:ahLst/>
            <a:cxnLst/>
            <a:rect r="r" b="b" t="t" l="l"/>
            <a:pathLst>
              <a:path h="1523538" w="1480491">
                <a:moveTo>
                  <a:pt x="0" y="0"/>
                </a:moveTo>
                <a:lnTo>
                  <a:pt x="1480492" y="0"/>
                </a:lnTo>
                <a:lnTo>
                  <a:pt x="1480492" y="1523538"/>
                </a:lnTo>
                <a:lnTo>
                  <a:pt x="0" y="15235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805740" y="2750587"/>
            <a:ext cx="1825288" cy="2479168"/>
          </a:xfrm>
          <a:custGeom>
            <a:avLst/>
            <a:gdLst/>
            <a:ahLst/>
            <a:cxnLst/>
            <a:rect r="r" b="b" t="t" l="l"/>
            <a:pathLst>
              <a:path h="2479168" w="1825288">
                <a:moveTo>
                  <a:pt x="0" y="0"/>
                </a:moveTo>
                <a:lnTo>
                  <a:pt x="1825287" y="0"/>
                </a:lnTo>
                <a:lnTo>
                  <a:pt x="1825287" y="2479168"/>
                </a:lnTo>
                <a:lnTo>
                  <a:pt x="0" y="24791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808839" y="5556135"/>
            <a:ext cx="1822189" cy="2479168"/>
          </a:xfrm>
          <a:custGeom>
            <a:avLst/>
            <a:gdLst/>
            <a:ahLst/>
            <a:cxnLst/>
            <a:rect r="r" b="b" t="t" l="l"/>
            <a:pathLst>
              <a:path h="2479168" w="1822189">
                <a:moveTo>
                  <a:pt x="0" y="0"/>
                </a:moveTo>
                <a:lnTo>
                  <a:pt x="1822188" y="0"/>
                </a:lnTo>
                <a:lnTo>
                  <a:pt x="1822188" y="2479168"/>
                </a:lnTo>
                <a:lnTo>
                  <a:pt x="0" y="24791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378262" y="1715290"/>
            <a:ext cx="8624465" cy="1116460"/>
          </a:xfrm>
          <a:prstGeom prst="rect">
            <a:avLst/>
          </a:prstGeom>
        </p:spPr>
        <p:txBody>
          <a:bodyPr anchor="t" rtlCol="false" tIns="0" lIns="0" bIns="0" rIns="0">
            <a:spAutoFit/>
          </a:bodyPr>
          <a:lstStyle/>
          <a:p>
            <a:pPr algn="l">
              <a:lnSpc>
                <a:spcPts val="8330"/>
              </a:lnSpc>
            </a:pPr>
            <a:r>
              <a:rPr lang="en-US" sz="8330">
                <a:solidFill>
                  <a:srgbClr val="FFFFFF"/>
                </a:solidFill>
                <a:latin typeface="Gagalin"/>
                <a:ea typeface="Gagalin"/>
                <a:cs typeface="Gagalin"/>
                <a:sym typeface="Gagalin"/>
              </a:rPr>
              <a:t>EMBEDDING LAYERS</a:t>
            </a:r>
          </a:p>
        </p:txBody>
      </p:sp>
      <p:sp>
        <p:nvSpPr>
          <p:cNvPr name="TextBox 12" id="12"/>
          <p:cNvSpPr txBox="true"/>
          <p:nvPr/>
        </p:nvSpPr>
        <p:spPr>
          <a:xfrm rot="0">
            <a:off x="1235952" y="3535471"/>
            <a:ext cx="8766776" cy="3920173"/>
          </a:xfrm>
          <a:prstGeom prst="rect">
            <a:avLst/>
          </a:prstGeom>
        </p:spPr>
        <p:txBody>
          <a:bodyPr anchor="t" rtlCol="false" tIns="0" lIns="0" bIns="0" rIns="0">
            <a:spAutoFit/>
          </a:bodyPr>
          <a:lstStyle/>
          <a:p>
            <a:pPr algn="l" marL="593726" indent="-296863" lvl="1">
              <a:lnSpc>
                <a:spcPts val="3107"/>
              </a:lnSpc>
              <a:buFont typeface="Arial"/>
              <a:buChar char="•"/>
            </a:pPr>
            <a:r>
              <a:rPr lang="en-US" b="true" sz="2750">
                <a:solidFill>
                  <a:srgbClr val="FFFFFF"/>
                </a:solidFill>
                <a:latin typeface="Montserrat Bold"/>
                <a:ea typeface="Montserrat Bold"/>
                <a:cs typeface="Montserrat Bold"/>
                <a:sym typeface="Montserrat Bold"/>
              </a:rPr>
              <a:t>Translates categories into numbers</a:t>
            </a:r>
          </a:p>
          <a:p>
            <a:pPr algn="l">
              <a:lnSpc>
                <a:spcPts val="3107"/>
              </a:lnSpc>
            </a:pPr>
          </a:p>
          <a:p>
            <a:pPr algn="l" marL="593726" indent="-296863" lvl="1">
              <a:lnSpc>
                <a:spcPts val="3107"/>
              </a:lnSpc>
              <a:buFont typeface="Arial"/>
              <a:buChar char="•"/>
            </a:pPr>
            <a:r>
              <a:rPr lang="en-US" b="true" sz="2750">
                <a:solidFill>
                  <a:srgbClr val="FFFFFF"/>
                </a:solidFill>
                <a:latin typeface="Montserrat Bold"/>
                <a:ea typeface="Montserrat Bold"/>
                <a:cs typeface="Montserrat Bold"/>
                <a:sym typeface="Montserrat Bold"/>
              </a:rPr>
              <a:t>Stores them as compact vectors (</a:t>
            </a:r>
            <a:r>
              <a:rPr lang="en-US" b="true" sz="2750" i="true">
                <a:solidFill>
                  <a:srgbClr val="FFFFFF"/>
                </a:solidFill>
                <a:latin typeface="Montserrat Bold Italics"/>
                <a:ea typeface="Montserrat Bold Italics"/>
                <a:cs typeface="Montserrat Bold Italics"/>
                <a:sym typeface="Montserrat Bold Italics"/>
              </a:rPr>
              <a:t>lists of n</a:t>
            </a:r>
            <a:r>
              <a:rPr lang="en-US" b="true" sz="2750" i="true">
                <a:solidFill>
                  <a:srgbClr val="FFFFFF"/>
                </a:solidFill>
                <a:latin typeface="Montserrat Bold Italics"/>
                <a:ea typeface="Montserrat Bold Italics"/>
                <a:cs typeface="Montserrat Bold Italics"/>
                <a:sym typeface="Montserrat Bold Italics"/>
              </a:rPr>
              <a:t>umbers</a:t>
            </a:r>
            <a:r>
              <a:rPr lang="en-US" b="true" sz="2750">
                <a:solidFill>
                  <a:srgbClr val="FFFFFF"/>
                </a:solidFill>
                <a:latin typeface="Montserrat Bold"/>
                <a:ea typeface="Montserrat Bold"/>
                <a:cs typeface="Montserrat Bold"/>
                <a:sym typeface="Montserrat Bold"/>
              </a:rPr>
              <a:t>) the model can learn from</a:t>
            </a:r>
          </a:p>
          <a:p>
            <a:pPr algn="l">
              <a:lnSpc>
                <a:spcPts val="3107"/>
              </a:lnSpc>
            </a:pPr>
          </a:p>
          <a:p>
            <a:pPr algn="l" marL="593726" indent="-296863" lvl="1">
              <a:lnSpc>
                <a:spcPts val="3107"/>
              </a:lnSpc>
              <a:buFont typeface="Arial"/>
              <a:buChar char="•"/>
            </a:pPr>
            <a:r>
              <a:rPr lang="en-US" b="true" sz="2750">
                <a:solidFill>
                  <a:srgbClr val="FFFFFF"/>
                </a:solidFill>
                <a:latin typeface="Montserrat Bold"/>
                <a:ea typeface="Montserrat Bold"/>
                <a:cs typeface="Montserrat Bold"/>
                <a:sym typeface="Montserrat Bold"/>
              </a:rPr>
              <a:t>Helps the model find relationships between different categories</a:t>
            </a:r>
          </a:p>
          <a:p>
            <a:pPr algn="l">
              <a:lnSpc>
                <a:spcPts val="3107"/>
              </a:lnSpc>
            </a:pPr>
          </a:p>
          <a:p>
            <a:pPr algn="l" marL="1187451" indent="-395817" lvl="2">
              <a:lnSpc>
                <a:spcPts val="3107"/>
              </a:lnSpc>
              <a:buFont typeface="Arial"/>
              <a:buChar char="⚬"/>
            </a:pPr>
            <a:r>
              <a:rPr lang="en-US" b="true" sz="2750">
                <a:solidFill>
                  <a:srgbClr val="FFFFFF"/>
                </a:solidFill>
                <a:latin typeface="Montserrat Bold"/>
                <a:ea typeface="Montserrat Bold"/>
                <a:cs typeface="Montserrat Bold"/>
                <a:sym typeface="Montserrat Bold"/>
              </a:rPr>
              <a:t>“King” and “Queen” have similar embeddings both royalty</a:t>
            </a:r>
          </a:p>
        </p:txBody>
      </p:sp>
      <p:sp>
        <p:nvSpPr>
          <p:cNvPr name="TextBox 13" id="13"/>
          <p:cNvSpPr txBox="true"/>
          <p:nvPr/>
        </p:nvSpPr>
        <p:spPr>
          <a:xfrm rot="0">
            <a:off x="13827200" y="3445341"/>
            <a:ext cx="2691854" cy="544830"/>
          </a:xfrm>
          <a:prstGeom prst="rect">
            <a:avLst/>
          </a:prstGeom>
        </p:spPr>
        <p:txBody>
          <a:bodyPr anchor="t" rtlCol="false" tIns="0" lIns="0" bIns="0" rIns="0">
            <a:spAutoFit/>
          </a:bodyPr>
          <a:lstStyle/>
          <a:p>
            <a:pPr algn="ctr">
              <a:lnSpc>
                <a:spcPts val="4199"/>
              </a:lnSpc>
              <a:spcBef>
                <a:spcPct val="0"/>
              </a:spcBef>
            </a:pPr>
            <a:r>
              <a:rPr lang="en-US" sz="4199">
                <a:solidFill>
                  <a:srgbClr val="FFFFFF"/>
                </a:solidFill>
                <a:latin typeface="Gagalin"/>
                <a:ea typeface="Gagalin"/>
                <a:cs typeface="Gagalin"/>
                <a:sym typeface="Gagalin"/>
              </a:rPr>
              <a:t>[0.9, 0.2, 0.1]</a:t>
            </a:r>
          </a:p>
        </p:txBody>
      </p:sp>
      <p:sp>
        <p:nvSpPr>
          <p:cNvPr name="TextBox 14" id="14"/>
          <p:cNvSpPr txBox="true"/>
          <p:nvPr/>
        </p:nvSpPr>
        <p:spPr>
          <a:xfrm rot="0">
            <a:off x="13526051" y="6566167"/>
            <a:ext cx="3468960" cy="544830"/>
          </a:xfrm>
          <a:prstGeom prst="rect">
            <a:avLst/>
          </a:prstGeom>
        </p:spPr>
        <p:txBody>
          <a:bodyPr anchor="t" rtlCol="false" tIns="0" lIns="0" bIns="0" rIns="0">
            <a:spAutoFit/>
          </a:bodyPr>
          <a:lstStyle/>
          <a:p>
            <a:pPr algn="ctr">
              <a:lnSpc>
                <a:spcPts val="4199"/>
              </a:lnSpc>
              <a:spcBef>
                <a:spcPct val="0"/>
              </a:spcBef>
            </a:pPr>
            <a:r>
              <a:rPr lang="en-US" sz="4199">
                <a:solidFill>
                  <a:srgbClr val="FFFFFF"/>
                </a:solidFill>
                <a:latin typeface="Gagalin"/>
                <a:ea typeface="Gagalin"/>
                <a:cs typeface="Gagalin"/>
                <a:sym typeface="Gagalin"/>
              </a:rPr>
              <a:t>[0.88, 0.25, 0.12]</a:t>
            </a:r>
          </a:p>
        </p:txBody>
      </p:sp>
      <p:sp>
        <p:nvSpPr>
          <p:cNvPr name="TextBox 15" id="15"/>
          <p:cNvSpPr txBox="true"/>
          <p:nvPr/>
        </p:nvSpPr>
        <p:spPr>
          <a:xfrm rot="0">
            <a:off x="13704979" y="1967768"/>
            <a:ext cx="3111103" cy="544830"/>
          </a:xfrm>
          <a:prstGeom prst="rect">
            <a:avLst/>
          </a:prstGeom>
        </p:spPr>
        <p:txBody>
          <a:bodyPr anchor="t" rtlCol="false" tIns="0" lIns="0" bIns="0" rIns="0">
            <a:spAutoFit/>
          </a:bodyPr>
          <a:lstStyle/>
          <a:p>
            <a:pPr algn="ctr">
              <a:lnSpc>
                <a:spcPts val="4199"/>
              </a:lnSpc>
              <a:spcBef>
                <a:spcPct val="0"/>
              </a:spcBef>
            </a:pPr>
            <a:r>
              <a:rPr lang="en-US" sz="4199">
                <a:solidFill>
                  <a:srgbClr val="FFFFFF"/>
                </a:solidFill>
                <a:latin typeface="Gagalin"/>
                <a:ea typeface="Gagalin"/>
                <a:cs typeface="Gagalin"/>
                <a:sym typeface="Gagalin"/>
              </a:rPr>
              <a:t>*DUMMY DATA*</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105998" y="0"/>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378262" y="1028700"/>
            <a:ext cx="456656" cy="413481"/>
          </a:xfrm>
          <a:custGeom>
            <a:avLst/>
            <a:gdLst/>
            <a:ahLst/>
            <a:cxnLst/>
            <a:rect r="r" b="b" t="t" l="l"/>
            <a:pathLst>
              <a:path h="413481" w="456656">
                <a:moveTo>
                  <a:pt x="0" y="0"/>
                </a:moveTo>
                <a:lnTo>
                  <a:pt x="456656" y="0"/>
                </a:lnTo>
                <a:lnTo>
                  <a:pt x="456656" y="413481"/>
                </a:lnTo>
                <a:lnTo>
                  <a:pt x="0" y="413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88942" y="2762176"/>
            <a:ext cx="8539356" cy="3397035"/>
          </a:xfrm>
          <a:custGeom>
            <a:avLst/>
            <a:gdLst/>
            <a:ahLst/>
            <a:cxnLst/>
            <a:rect r="r" b="b" t="t" l="l"/>
            <a:pathLst>
              <a:path h="3397035" w="8539356">
                <a:moveTo>
                  <a:pt x="0" y="0"/>
                </a:moveTo>
                <a:lnTo>
                  <a:pt x="8539356" y="0"/>
                </a:lnTo>
                <a:lnTo>
                  <a:pt x="8539356" y="3397035"/>
                </a:lnTo>
                <a:lnTo>
                  <a:pt x="0" y="3397035"/>
                </a:lnTo>
                <a:lnTo>
                  <a:pt x="0" y="0"/>
                </a:lnTo>
                <a:close/>
              </a:path>
            </a:pathLst>
          </a:custGeom>
          <a:blipFill>
            <a:blip r:embed="rId7"/>
            <a:stretch>
              <a:fillRect l="0" t="-18147" r="0" b="0"/>
            </a:stretch>
          </a:blipFill>
        </p:spPr>
      </p:sp>
      <p:sp>
        <p:nvSpPr>
          <p:cNvPr name="Freeform 12" id="12"/>
          <p:cNvSpPr/>
          <p:nvPr/>
        </p:nvSpPr>
        <p:spPr>
          <a:xfrm flipH="false" flipV="false" rot="0">
            <a:off x="11101171" y="4893080"/>
            <a:ext cx="7186829" cy="5393920"/>
          </a:xfrm>
          <a:custGeom>
            <a:avLst/>
            <a:gdLst/>
            <a:ahLst/>
            <a:cxnLst/>
            <a:rect r="r" b="b" t="t" l="l"/>
            <a:pathLst>
              <a:path h="5393920" w="7186829">
                <a:moveTo>
                  <a:pt x="0" y="0"/>
                </a:moveTo>
                <a:lnTo>
                  <a:pt x="7186829" y="0"/>
                </a:lnTo>
                <a:lnTo>
                  <a:pt x="7186829" y="5393920"/>
                </a:lnTo>
                <a:lnTo>
                  <a:pt x="0" y="5393920"/>
                </a:lnTo>
                <a:lnTo>
                  <a:pt x="0" y="0"/>
                </a:lnTo>
                <a:close/>
              </a:path>
            </a:pathLst>
          </a:custGeom>
          <a:blipFill>
            <a:blip r:embed="rId8"/>
            <a:stretch>
              <a:fillRect l="0" t="0" r="0" b="0"/>
            </a:stretch>
          </a:blipFill>
        </p:spPr>
      </p:sp>
      <p:sp>
        <p:nvSpPr>
          <p:cNvPr name="TextBox 13" id="13"/>
          <p:cNvSpPr txBox="true"/>
          <p:nvPr/>
        </p:nvSpPr>
        <p:spPr>
          <a:xfrm rot="0">
            <a:off x="5061050" y="872763"/>
            <a:ext cx="6672780" cy="1114128"/>
          </a:xfrm>
          <a:prstGeom prst="rect">
            <a:avLst/>
          </a:prstGeom>
        </p:spPr>
        <p:txBody>
          <a:bodyPr anchor="t" rtlCol="false" tIns="0" lIns="0" bIns="0" rIns="0">
            <a:spAutoFit/>
          </a:bodyPr>
          <a:lstStyle/>
          <a:p>
            <a:pPr algn="l">
              <a:lnSpc>
                <a:spcPts val="8330"/>
              </a:lnSpc>
            </a:pPr>
            <a:r>
              <a:rPr lang="en-US" sz="8330">
                <a:solidFill>
                  <a:srgbClr val="FFFFFF"/>
                </a:solidFill>
                <a:latin typeface="Anton"/>
                <a:ea typeface="Anton"/>
                <a:cs typeface="Anton"/>
                <a:sym typeface="Anton"/>
              </a:rPr>
              <a:t>MATH INVOLVED </a:t>
            </a:r>
          </a:p>
        </p:txBody>
      </p:sp>
      <p:sp>
        <p:nvSpPr>
          <p:cNvPr name="TextBox 14" id="14"/>
          <p:cNvSpPr txBox="true"/>
          <p:nvPr/>
        </p:nvSpPr>
        <p:spPr>
          <a:xfrm rot="0">
            <a:off x="10444202" y="2139290"/>
            <a:ext cx="7684306" cy="2169070"/>
          </a:xfrm>
          <a:prstGeom prst="rect">
            <a:avLst/>
          </a:prstGeom>
        </p:spPr>
        <p:txBody>
          <a:bodyPr anchor="t" rtlCol="false" tIns="0" lIns="0" bIns="0" rIns="0">
            <a:spAutoFit/>
          </a:bodyPr>
          <a:lstStyle/>
          <a:p>
            <a:pPr algn="l">
              <a:lnSpc>
                <a:spcPts val="8330"/>
              </a:lnSpc>
            </a:pPr>
            <a:r>
              <a:rPr lang="en-US" sz="8330">
                <a:solidFill>
                  <a:srgbClr val="FFFFFF"/>
                </a:solidFill>
                <a:latin typeface="Anton"/>
                <a:ea typeface="Anton"/>
                <a:cs typeface="Anton"/>
                <a:sym typeface="Anton"/>
              </a:rPr>
              <a:t>MATRIX MULTIPLICATION </a:t>
            </a:r>
          </a:p>
        </p:txBody>
      </p:sp>
      <p:sp>
        <p:nvSpPr>
          <p:cNvPr name="TextBox 15" id="15"/>
          <p:cNvSpPr txBox="true"/>
          <p:nvPr/>
        </p:nvSpPr>
        <p:spPr>
          <a:xfrm rot="0">
            <a:off x="751606" y="7507781"/>
            <a:ext cx="8392394" cy="1596517"/>
          </a:xfrm>
          <a:prstGeom prst="rect">
            <a:avLst/>
          </a:prstGeom>
        </p:spPr>
        <p:txBody>
          <a:bodyPr anchor="t" rtlCol="false" tIns="0" lIns="0" bIns="0" rIns="0">
            <a:spAutoFit/>
          </a:bodyPr>
          <a:lstStyle/>
          <a:p>
            <a:pPr algn="ctr">
              <a:lnSpc>
                <a:spcPts val="3163"/>
              </a:lnSpc>
            </a:pPr>
            <a:r>
              <a:rPr lang="en-US" b="true" sz="2799">
                <a:solidFill>
                  <a:srgbClr val="FFFFFF"/>
                </a:solidFill>
                <a:latin typeface="Montserrat Bold"/>
                <a:ea typeface="Montserrat Bold"/>
                <a:cs typeface="Montserrat Bold"/>
                <a:sym typeface="Montserrat Bold"/>
              </a:rPr>
              <a:t>RULES</a:t>
            </a:r>
            <a:r>
              <a:rPr lang="en-US" sz="2799">
                <a:solidFill>
                  <a:srgbClr val="FFFFFF"/>
                </a:solidFill>
                <a:latin typeface="Montserrat"/>
                <a:ea typeface="Montserrat"/>
                <a:cs typeface="Montserrat"/>
                <a:sym typeface="Montserrat"/>
              </a:rPr>
              <a:t>: For any two matrices for multiplication to be possible the number of columns of the first one has to equal the number of rows for the second one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514350" y="-831533"/>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378262" y="1028700"/>
            <a:ext cx="456656" cy="413481"/>
          </a:xfrm>
          <a:custGeom>
            <a:avLst/>
            <a:gdLst/>
            <a:ahLst/>
            <a:cxnLst/>
            <a:rect r="r" b="b" t="t" l="l"/>
            <a:pathLst>
              <a:path h="413481" w="456656">
                <a:moveTo>
                  <a:pt x="0" y="0"/>
                </a:moveTo>
                <a:lnTo>
                  <a:pt x="456656" y="0"/>
                </a:lnTo>
                <a:lnTo>
                  <a:pt x="456656" y="413481"/>
                </a:lnTo>
                <a:lnTo>
                  <a:pt x="0" y="413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378262" y="1715290"/>
            <a:ext cx="12385526" cy="1116460"/>
          </a:xfrm>
          <a:prstGeom prst="rect">
            <a:avLst/>
          </a:prstGeom>
        </p:spPr>
        <p:txBody>
          <a:bodyPr anchor="t" rtlCol="false" tIns="0" lIns="0" bIns="0" rIns="0">
            <a:spAutoFit/>
          </a:bodyPr>
          <a:lstStyle/>
          <a:p>
            <a:pPr algn="l">
              <a:lnSpc>
                <a:spcPts val="8330"/>
              </a:lnSpc>
            </a:pPr>
            <a:r>
              <a:rPr lang="en-US" sz="8330">
                <a:solidFill>
                  <a:srgbClr val="FFFFFF"/>
                </a:solidFill>
                <a:latin typeface="Gagalin"/>
                <a:ea typeface="Gagalin"/>
                <a:cs typeface="Gagalin"/>
                <a:sym typeface="Gagalin"/>
              </a:rPr>
              <a:t>IMPORTANCE OF EMBEDDING</a:t>
            </a:r>
          </a:p>
        </p:txBody>
      </p:sp>
      <p:sp>
        <p:nvSpPr>
          <p:cNvPr name="TextBox 12" id="12"/>
          <p:cNvSpPr txBox="true"/>
          <p:nvPr/>
        </p:nvSpPr>
        <p:spPr>
          <a:xfrm rot="0">
            <a:off x="1233770" y="3954324"/>
            <a:ext cx="9287343" cy="3507771"/>
          </a:xfrm>
          <a:prstGeom prst="rect">
            <a:avLst/>
          </a:prstGeom>
        </p:spPr>
        <p:txBody>
          <a:bodyPr anchor="t" rtlCol="false" tIns="0" lIns="0" bIns="0" rIns="0">
            <a:spAutoFit/>
          </a:bodyPr>
          <a:lstStyle/>
          <a:p>
            <a:pPr algn="l" marL="594373" indent="-297187" lvl="1">
              <a:lnSpc>
                <a:spcPts val="3110"/>
              </a:lnSpc>
              <a:buFont typeface="Arial"/>
              <a:buChar char="•"/>
            </a:pPr>
            <a:r>
              <a:rPr lang="en-US" b="true" sz="2753">
                <a:solidFill>
                  <a:srgbClr val="FFFFFF"/>
                </a:solidFill>
                <a:latin typeface="Montserrat Bold"/>
                <a:ea typeface="Montserrat Bold"/>
                <a:cs typeface="Montserrat Bold"/>
                <a:sym typeface="Montserrat Bold"/>
              </a:rPr>
              <a:t>Handles co</a:t>
            </a:r>
            <a:r>
              <a:rPr lang="en-US" b="true" sz="2753">
                <a:solidFill>
                  <a:srgbClr val="FFFFFF"/>
                </a:solidFill>
                <a:latin typeface="Montserrat Bold"/>
                <a:ea typeface="Montserrat Bold"/>
                <a:cs typeface="Montserrat Bold"/>
                <a:sym typeface="Montserrat Bold"/>
              </a:rPr>
              <a:t>l</a:t>
            </a:r>
            <a:r>
              <a:rPr lang="en-US" b="true" sz="2753">
                <a:solidFill>
                  <a:srgbClr val="FFFFFF"/>
                </a:solidFill>
                <a:latin typeface="Montserrat Bold"/>
                <a:ea typeface="Montserrat Bold"/>
                <a:cs typeface="Montserrat Bold"/>
                <a:sym typeface="Montserrat Bold"/>
              </a:rPr>
              <a:t>umns with many unique va</a:t>
            </a:r>
            <a:r>
              <a:rPr lang="en-US" b="true" sz="2753">
                <a:solidFill>
                  <a:srgbClr val="FFFFFF"/>
                </a:solidFill>
                <a:latin typeface="Montserrat Bold"/>
                <a:ea typeface="Montserrat Bold"/>
                <a:cs typeface="Montserrat Bold"/>
                <a:sym typeface="Montserrat Bold"/>
              </a:rPr>
              <a:t>l</a:t>
            </a:r>
            <a:r>
              <a:rPr lang="en-US" b="true" sz="2753">
                <a:solidFill>
                  <a:srgbClr val="FFFFFF"/>
                </a:solidFill>
                <a:latin typeface="Montserrat Bold"/>
                <a:ea typeface="Montserrat Bold"/>
                <a:cs typeface="Montserrat Bold"/>
                <a:sym typeface="Montserrat Bold"/>
              </a:rPr>
              <a:t>ues</a:t>
            </a:r>
            <a:r>
              <a:rPr lang="en-US" b="true" sz="2753">
                <a:solidFill>
                  <a:srgbClr val="FFFFFF"/>
                </a:solidFill>
                <a:latin typeface="Montserrat Bold"/>
                <a:ea typeface="Montserrat Bold"/>
                <a:cs typeface="Montserrat Bold"/>
                <a:sym typeface="Montserrat Bold"/>
              </a:rPr>
              <a:t> more efficiently</a:t>
            </a:r>
          </a:p>
          <a:p>
            <a:pPr algn="l">
              <a:lnSpc>
                <a:spcPts val="3110"/>
              </a:lnSpc>
            </a:pPr>
          </a:p>
          <a:p>
            <a:pPr algn="l" marL="594373" indent="-297187" lvl="1">
              <a:lnSpc>
                <a:spcPts val="3110"/>
              </a:lnSpc>
              <a:buFont typeface="Arial"/>
              <a:buChar char="•"/>
            </a:pPr>
            <a:r>
              <a:rPr lang="en-US" b="true" sz="2753">
                <a:solidFill>
                  <a:srgbClr val="FFFFFF"/>
                </a:solidFill>
                <a:latin typeface="Montserrat Bold"/>
                <a:ea typeface="Montserrat Bold"/>
                <a:cs typeface="Montserrat Bold"/>
                <a:sym typeface="Montserrat Bold"/>
              </a:rPr>
              <a:t>Help models learn and group similar items automatically</a:t>
            </a:r>
          </a:p>
          <a:p>
            <a:pPr algn="l">
              <a:lnSpc>
                <a:spcPts val="3110"/>
              </a:lnSpc>
            </a:pPr>
          </a:p>
          <a:p>
            <a:pPr algn="l" marL="594373" indent="-297187" lvl="1">
              <a:lnSpc>
                <a:spcPts val="3110"/>
              </a:lnSpc>
              <a:buFont typeface="Arial"/>
              <a:buChar char="•"/>
            </a:pPr>
            <a:r>
              <a:rPr lang="en-US" b="true" sz="2753">
                <a:solidFill>
                  <a:srgbClr val="FFFFFF"/>
                </a:solidFill>
                <a:latin typeface="Montserrat Bold"/>
                <a:ea typeface="Montserrat Bold"/>
                <a:cs typeface="Montserrat Bold"/>
                <a:sym typeface="Montserrat Bold"/>
              </a:rPr>
              <a:t>Reduc</a:t>
            </a:r>
            <a:r>
              <a:rPr lang="en-US" b="true" sz="2753">
                <a:solidFill>
                  <a:srgbClr val="FFFFFF"/>
                </a:solidFill>
                <a:latin typeface="Montserrat Bold"/>
                <a:ea typeface="Montserrat Bold"/>
                <a:cs typeface="Montserrat Bold"/>
                <a:sym typeface="Montserrat Bold"/>
              </a:rPr>
              <a:t>e input size and improve prediction performance</a:t>
            </a:r>
          </a:p>
          <a:p>
            <a:pPr algn="l">
              <a:lnSpc>
                <a:spcPts val="3110"/>
              </a:lnSpc>
            </a:pPr>
          </a:p>
        </p:txBody>
      </p:sp>
      <p:sp>
        <p:nvSpPr>
          <p:cNvPr name="Freeform 13" id="13"/>
          <p:cNvSpPr/>
          <p:nvPr/>
        </p:nvSpPr>
        <p:spPr>
          <a:xfrm flipH="false" flipV="false" rot="0">
            <a:off x="12778773" y="3944799"/>
            <a:ext cx="4194659" cy="4316622"/>
          </a:xfrm>
          <a:custGeom>
            <a:avLst/>
            <a:gdLst/>
            <a:ahLst/>
            <a:cxnLst/>
            <a:rect r="r" b="b" t="t" l="l"/>
            <a:pathLst>
              <a:path h="4316622" w="4194659">
                <a:moveTo>
                  <a:pt x="0" y="0"/>
                </a:moveTo>
                <a:lnTo>
                  <a:pt x="4194658" y="0"/>
                </a:lnTo>
                <a:lnTo>
                  <a:pt x="4194658" y="4316622"/>
                </a:lnTo>
                <a:lnTo>
                  <a:pt x="0" y="4316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514350" y="-703009"/>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378262" y="1028700"/>
            <a:ext cx="456656" cy="413481"/>
          </a:xfrm>
          <a:custGeom>
            <a:avLst/>
            <a:gdLst/>
            <a:ahLst/>
            <a:cxnLst/>
            <a:rect r="r" b="b" t="t" l="l"/>
            <a:pathLst>
              <a:path h="413481" w="456656">
                <a:moveTo>
                  <a:pt x="0" y="0"/>
                </a:moveTo>
                <a:lnTo>
                  <a:pt x="456656" y="0"/>
                </a:lnTo>
                <a:lnTo>
                  <a:pt x="456656" y="413481"/>
                </a:lnTo>
                <a:lnTo>
                  <a:pt x="0" y="413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7653787" y="2728073"/>
            <a:ext cx="2980427" cy="1114128"/>
          </a:xfrm>
          <a:prstGeom prst="rect">
            <a:avLst/>
          </a:prstGeom>
        </p:spPr>
        <p:txBody>
          <a:bodyPr anchor="t" rtlCol="false" tIns="0" lIns="0" bIns="0" rIns="0">
            <a:spAutoFit/>
          </a:bodyPr>
          <a:lstStyle/>
          <a:p>
            <a:pPr algn="l">
              <a:lnSpc>
                <a:spcPts val="8330"/>
              </a:lnSpc>
            </a:pPr>
            <a:r>
              <a:rPr lang="en-US" sz="8330">
                <a:solidFill>
                  <a:srgbClr val="FFFFFF"/>
                </a:solidFill>
                <a:latin typeface="Anton"/>
                <a:ea typeface="Anton"/>
                <a:cs typeface="Anton"/>
                <a:sym typeface="Anton"/>
              </a:rPr>
              <a:t>CODING</a:t>
            </a:r>
          </a:p>
        </p:txBody>
      </p:sp>
      <p:sp>
        <p:nvSpPr>
          <p:cNvPr name="TextBox 12" id="12"/>
          <p:cNvSpPr txBox="true"/>
          <p:nvPr/>
        </p:nvSpPr>
        <p:spPr>
          <a:xfrm rot="0">
            <a:off x="5108803" y="4422717"/>
            <a:ext cx="8070394" cy="1661795"/>
          </a:xfrm>
          <a:prstGeom prst="rect">
            <a:avLst/>
          </a:prstGeom>
        </p:spPr>
        <p:txBody>
          <a:bodyPr anchor="t" rtlCol="false" tIns="0" lIns="0" bIns="0" rIns="0">
            <a:spAutoFit/>
          </a:bodyPr>
          <a:lstStyle/>
          <a:p>
            <a:pPr algn="ctr">
              <a:lnSpc>
                <a:spcPts val="4479"/>
              </a:lnSpc>
            </a:pPr>
            <a:r>
              <a:rPr lang="en-US" sz="3199">
                <a:solidFill>
                  <a:srgbClr val="FFFFFF"/>
                </a:solidFill>
                <a:latin typeface="Canva Sans"/>
                <a:ea typeface="Canva Sans"/>
                <a:cs typeface="Canva Sans"/>
                <a:sym typeface="Canva Sans"/>
              </a:rPr>
              <a:t>What would the code for this look like?</a:t>
            </a:r>
          </a:p>
          <a:p>
            <a:pPr algn="ctr">
              <a:lnSpc>
                <a:spcPts val="4479"/>
              </a:lnSpc>
            </a:pPr>
          </a:p>
          <a:p>
            <a:pPr algn="ctr">
              <a:lnSpc>
                <a:spcPts val="4479"/>
              </a:lnSpc>
            </a:pPr>
            <a:r>
              <a:rPr lang="en-US" sz="3199">
                <a:solidFill>
                  <a:srgbClr val="FFFFFF"/>
                </a:solidFill>
                <a:latin typeface="Canva Sans"/>
                <a:ea typeface="Canva Sans"/>
                <a:cs typeface="Canva Sans"/>
                <a:sym typeface="Canva Sans"/>
              </a:rPr>
              <a:t>We can do this using PyTorch!</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514350" y="-831533"/>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378262" y="1028700"/>
            <a:ext cx="456656" cy="413481"/>
          </a:xfrm>
          <a:custGeom>
            <a:avLst/>
            <a:gdLst/>
            <a:ahLst/>
            <a:cxnLst/>
            <a:rect r="r" b="b" t="t" l="l"/>
            <a:pathLst>
              <a:path h="413481" w="456656">
                <a:moveTo>
                  <a:pt x="0" y="0"/>
                </a:moveTo>
                <a:lnTo>
                  <a:pt x="456656" y="0"/>
                </a:lnTo>
                <a:lnTo>
                  <a:pt x="456656" y="413481"/>
                </a:lnTo>
                <a:lnTo>
                  <a:pt x="0" y="413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753253" y="2821252"/>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8">
              <a:alphaModFix amt="47000"/>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2657882" y="5924550"/>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8">
              <a:alphaModFix amt="47000"/>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5206161" y="1862213"/>
            <a:ext cx="10905874" cy="8424787"/>
          </a:xfrm>
          <a:custGeom>
            <a:avLst/>
            <a:gdLst/>
            <a:ahLst/>
            <a:cxnLst/>
            <a:rect r="r" b="b" t="t" l="l"/>
            <a:pathLst>
              <a:path h="8424787" w="10905874">
                <a:moveTo>
                  <a:pt x="0" y="0"/>
                </a:moveTo>
                <a:lnTo>
                  <a:pt x="10905873" y="0"/>
                </a:lnTo>
                <a:lnTo>
                  <a:pt x="10905873" y="8424787"/>
                </a:lnTo>
                <a:lnTo>
                  <a:pt x="0" y="8424787"/>
                </a:lnTo>
                <a:lnTo>
                  <a:pt x="0" y="0"/>
                </a:lnTo>
                <a:close/>
              </a:path>
            </a:pathLst>
          </a:custGeom>
          <a:blipFill>
            <a:blip r:embed="rId10"/>
            <a:stretch>
              <a:fillRect l="0" t="0" r="0" b="0"/>
            </a:stretch>
          </a:blipFill>
        </p:spPr>
      </p:sp>
      <p:grpSp>
        <p:nvGrpSpPr>
          <p:cNvPr name="Group 14" id="14"/>
          <p:cNvGrpSpPr/>
          <p:nvPr/>
        </p:nvGrpSpPr>
        <p:grpSpPr>
          <a:xfrm rot="0">
            <a:off x="5206161" y="2821252"/>
            <a:ext cx="1607673" cy="568674"/>
            <a:chOff x="0" y="0"/>
            <a:chExt cx="423420" cy="149774"/>
          </a:xfrm>
        </p:grpSpPr>
        <p:sp>
          <p:nvSpPr>
            <p:cNvPr name="Freeform 15" id="15"/>
            <p:cNvSpPr/>
            <p:nvPr/>
          </p:nvSpPr>
          <p:spPr>
            <a:xfrm flipH="false" flipV="false" rot="0">
              <a:off x="0" y="0"/>
              <a:ext cx="423420" cy="149774"/>
            </a:xfrm>
            <a:custGeom>
              <a:avLst/>
              <a:gdLst/>
              <a:ahLst/>
              <a:cxnLst/>
              <a:rect r="r" b="b" t="t" l="l"/>
              <a:pathLst>
                <a:path h="149774" w="423420">
                  <a:moveTo>
                    <a:pt x="0" y="0"/>
                  </a:moveTo>
                  <a:lnTo>
                    <a:pt x="423420" y="0"/>
                  </a:lnTo>
                  <a:lnTo>
                    <a:pt x="423420" y="149774"/>
                  </a:lnTo>
                  <a:lnTo>
                    <a:pt x="0" y="149774"/>
                  </a:lnTo>
                  <a:close/>
                </a:path>
              </a:pathLst>
            </a:custGeom>
            <a:solidFill>
              <a:srgbClr val="000000">
                <a:alpha val="0"/>
              </a:srgbClr>
            </a:solidFill>
            <a:ln w="95250" cap="sq">
              <a:solidFill>
                <a:srgbClr val="FF0000"/>
              </a:solidFill>
              <a:prstDash val="solid"/>
              <a:miter/>
            </a:ln>
          </p:spPr>
        </p:sp>
        <p:sp>
          <p:nvSpPr>
            <p:cNvPr name="TextBox 16" id="16"/>
            <p:cNvSpPr txBox="true"/>
            <p:nvPr/>
          </p:nvSpPr>
          <p:spPr>
            <a:xfrm>
              <a:off x="0" y="38100"/>
              <a:ext cx="423420" cy="111674"/>
            </a:xfrm>
            <a:prstGeom prst="rect">
              <a:avLst/>
            </a:prstGeom>
          </p:spPr>
          <p:txBody>
            <a:bodyPr anchor="ctr" rtlCol="false" tIns="50800" lIns="50800" bIns="50800" rIns="50800"/>
            <a:lstStyle/>
            <a:p>
              <a:pPr algn="ctr">
                <a:lnSpc>
                  <a:spcPts val="2163"/>
                </a:lnSpc>
              </a:pPr>
            </a:p>
          </p:txBody>
        </p:sp>
      </p:grpSp>
      <p:sp>
        <p:nvSpPr>
          <p:cNvPr name="TextBox 17" id="17"/>
          <p:cNvSpPr txBox="true"/>
          <p:nvPr/>
        </p:nvSpPr>
        <p:spPr>
          <a:xfrm rot="0">
            <a:off x="366675" y="633132"/>
            <a:ext cx="10665892" cy="922306"/>
          </a:xfrm>
          <a:prstGeom prst="rect">
            <a:avLst/>
          </a:prstGeom>
        </p:spPr>
        <p:txBody>
          <a:bodyPr anchor="t" rtlCol="false" tIns="0" lIns="0" bIns="0" rIns="0">
            <a:spAutoFit/>
          </a:bodyPr>
          <a:lstStyle/>
          <a:p>
            <a:pPr algn="l">
              <a:lnSpc>
                <a:spcPts val="6943"/>
              </a:lnSpc>
            </a:pPr>
            <a:r>
              <a:rPr lang="en-US" sz="6943">
                <a:solidFill>
                  <a:srgbClr val="FFFFFF"/>
                </a:solidFill>
                <a:latin typeface="Anton"/>
                <a:ea typeface="Anton"/>
                <a:cs typeface="Anton"/>
                <a:sym typeface="Anton"/>
              </a:rPr>
              <a:t>IMPORTANT PYTORCH FUNCTIONS</a:t>
            </a:r>
          </a:p>
        </p:txBody>
      </p:sp>
      <p:grpSp>
        <p:nvGrpSpPr>
          <p:cNvPr name="Group 18" id="18"/>
          <p:cNvGrpSpPr/>
          <p:nvPr/>
        </p:nvGrpSpPr>
        <p:grpSpPr>
          <a:xfrm rot="0">
            <a:off x="5335352" y="3907769"/>
            <a:ext cx="2171220" cy="893020"/>
            <a:chOff x="0" y="0"/>
            <a:chExt cx="571844" cy="235199"/>
          </a:xfrm>
        </p:grpSpPr>
        <p:sp>
          <p:nvSpPr>
            <p:cNvPr name="Freeform 19" id="19"/>
            <p:cNvSpPr/>
            <p:nvPr/>
          </p:nvSpPr>
          <p:spPr>
            <a:xfrm flipH="false" flipV="false" rot="0">
              <a:off x="0" y="0"/>
              <a:ext cx="571844" cy="235199"/>
            </a:xfrm>
            <a:custGeom>
              <a:avLst/>
              <a:gdLst/>
              <a:ahLst/>
              <a:cxnLst/>
              <a:rect r="r" b="b" t="t" l="l"/>
              <a:pathLst>
                <a:path h="235199" w="571844">
                  <a:moveTo>
                    <a:pt x="0" y="0"/>
                  </a:moveTo>
                  <a:lnTo>
                    <a:pt x="571844" y="0"/>
                  </a:lnTo>
                  <a:lnTo>
                    <a:pt x="571844" y="235199"/>
                  </a:lnTo>
                  <a:lnTo>
                    <a:pt x="0" y="235199"/>
                  </a:lnTo>
                  <a:close/>
                </a:path>
              </a:pathLst>
            </a:custGeom>
            <a:solidFill>
              <a:srgbClr val="000000">
                <a:alpha val="0"/>
              </a:srgbClr>
            </a:solidFill>
            <a:ln w="95250" cap="sq">
              <a:solidFill>
                <a:srgbClr val="FF0000"/>
              </a:solidFill>
              <a:prstDash val="solid"/>
              <a:miter/>
            </a:ln>
          </p:spPr>
        </p:sp>
        <p:sp>
          <p:nvSpPr>
            <p:cNvPr name="TextBox 20" id="20"/>
            <p:cNvSpPr txBox="true"/>
            <p:nvPr/>
          </p:nvSpPr>
          <p:spPr>
            <a:xfrm>
              <a:off x="0" y="38100"/>
              <a:ext cx="571844" cy="197099"/>
            </a:xfrm>
            <a:prstGeom prst="rect">
              <a:avLst/>
            </a:prstGeom>
          </p:spPr>
          <p:txBody>
            <a:bodyPr anchor="ctr" rtlCol="false" tIns="50800" lIns="50800" bIns="50800" rIns="50800"/>
            <a:lstStyle/>
            <a:p>
              <a:pPr algn="ctr">
                <a:lnSpc>
                  <a:spcPts val="2163"/>
                </a:lnSpc>
              </a:pPr>
            </a:p>
          </p:txBody>
        </p:sp>
      </p:grpSp>
      <p:grpSp>
        <p:nvGrpSpPr>
          <p:cNvPr name="Group 21" id="21"/>
          <p:cNvGrpSpPr/>
          <p:nvPr/>
        </p:nvGrpSpPr>
        <p:grpSpPr>
          <a:xfrm rot="0">
            <a:off x="5335352" y="5505933"/>
            <a:ext cx="2171220" cy="568674"/>
            <a:chOff x="0" y="0"/>
            <a:chExt cx="571844" cy="149774"/>
          </a:xfrm>
        </p:grpSpPr>
        <p:sp>
          <p:nvSpPr>
            <p:cNvPr name="Freeform 22" id="22"/>
            <p:cNvSpPr/>
            <p:nvPr/>
          </p:nvSpPr>
          <p:spPr>
            <a:xfrm flipH="false" flipV="false" rot="0">
              <a:off x="0" y="0"/>
              <a:ext cx="571844" cy="149774"/>
            </a:xfrm>
            <a:custGeom>
              <a:avLst/>
              <a:gdLst/>
              <a:ahLst/>
              <a:cxnLst/>
              <a:rect r="r" b="b" t="t" l="l"/>
              <a:pathLst>
                <a:path h="149774" w="571844">
                  <a:moveTo>
                    <a:pt x="0" y="0"/>
                  </a:moveTo>
                  <a:lnTo>
                    <a:pt x="571844" y="0"/>
                  </a:lnTo>
                  <a:lnTo>
                    <a:pt x="571844" y="149774"/>
                  </a:lnTo>
                  <a:lnTo>
                    <a:pt x="0" y="149774"/>
                  </a:lnTo>
                  <a:close/>
                </a:path>
              </a:pathLst>
            </a:custGeom>
            <a:solidFill>
              <a:srgbClr val="000000">
                <a:alpha val="0"/>
              </a:srgbClr>
            </a:solidFill>
            <a:ln w="95250" cap="sq">
              <a:solidFill>
                <a:srgbClr val="FF0000"/>
              </a:solidFill>
              <a:prstDash val="solid"/>
              <a:miter/>
            </a:ln>
          </p:spPr>
        </p:sp>
        <p:sp>
          <p:nvSpPr>
            <p:cNvPr name="TextBox 23" id="23"/>
            <p:cNvSpPr txBox="true"/>
            <p:nvPr/>
          </p:nvSpPr>
          <p:spPr>
            <a:xfrm>
              <a:off x="0" y="38100"/>
              <a:ext cx="571844" cy="111674"/>
            </a:xfrm>
            <a:prstGeom prst="rect">
              <a:avLst/>
            </a:prstGeom>
          </p:spPr>
          <p:txBody>
            <a:bodyPr anchor="ctr" rtlCol="false" tIns="50800" lIns="50800" bIns="50800" rIns="50800"/>
            <a:lstStyle/>
            <a:p>
              <a:pPr algn="ctr">
                <a:lnSpc>
                  <a:spcPts val="2163"/>
                </a:lnSpc>
              </a:pPr>
            </a:p>
          </p:txBody>
        </p:sp>
      </p:grpSp>
      <p:grpSp>
        <p:nvGrpSpPr>
          <p:cNvPr name="Group 24" id="24"/>
          <p:cNvGrpSpPr/>
          <p:nvPr/>
        </p:nvGrpSpPr>
        <p:grpSpPr>
          <a:xfrm rot="0">
            <a:off x="5436404" y="7341431"/>
            <a:ext cx="1607673" cy="568674"/>
            <a:chOff x="0" y="0"/>
            <a:chExt cx="423420" cy="149774"/>
          </a:xfrm>
        </p:grpSpPr>
        <p:sp>
          <p:nvSpPr>
            <p:cNvPr name="Freeform 25" id="25"/>
            <p:cNvSpPr/>
            <p:nvPr/>
          </p:nvSpPr>
          <p:spPr>
            <a:xfrm flipH="false" flipV="false" rot="0">
              <a:off x="0" y="0"/>
              <a:ext cx="423420" cy="149774"/>
            </a:xfrm>
            <a:custGeom>
              <a:avLst/>
              <a:gdLst/>
              <a:ahLst/>
              <a:cxnLst/>
              <a:rect r="r" b="b" t="t" l="l"/>
              <a:pathLst>
                <a:path h="149774" w="423420">
                  <a:moveTo>
                    <a:pt x="0" y="0"/>
                  </a:moveTo>
                  <a:lnTo>
                    <a:pt x="423420" y="0"/>
                  </a:lnTo>
                  <a:lnTo>
                    <a:pt x="423420" y="149774"/>
                  </a:lnTo>
                  <a:lnTo>
                    <a:pt x="0" y="149774"/>
                  </a:lnTo>
                  <a:close/>
                </a:path>
              </a:pathLst>
            </a:custGeom>
            <a:solidFill>
              <a:srgbClr val="000000">
                <a:alpha val="0"/>
              </a:srgbClr>
            </a:solidFill>
            <a:ln w="95250" cap="sq">
              <a:solidFill>
                <a:srgbClr val="FF0000"/>
              </a:solidFill>
              <a:prstDash val="solid"/>
              <a:miter/>
            </a:ln>
          </p:spPr>
        </p:sp>
        <p:sp>
          <p:nvSpPr>
            <p:cNvPr name="TextBox 26" id="26"/>
            <p:cNvSpPr txBox="true"/>
            <p:nvPr/>
          </p:nvSpPr>
          <p:spPr>
            <a:xfrm>
              <a:off x="0" y="38100"/>
              <a:ext cx="423420" cy="111674"/>
            </a:xfrm>
            <a:prstGeom prst="rect">
              <a:avLst/>
            </a:prstGeom>
          </p:spPr>
          <p:txBody>
            <a:bodyPr anchor="ctr" rtlCol="false" tIns="50800" lIns="50800" bIns="50800" rIns="50800"/>
            <a:lstStyle/>
            <a:p>
              <a:pPr algn="ctr">
                <a:lnSpc>
                  <a:spcPts val="2163"/>
                </a:lnSpc>
              </a:pPr>
            </a:p>
          </p:txBody>
        </p:sp>
      </p:grpSp>
      <p:grpSp>
        <p:nvGrpSpPr>
          <p:cNvPr name="Group 27" id="27"/>
          <p:cNvGrpSpPr/>
          <p:nvPr/>
        </p:nvGrpSpPr>
        <p:grpSpPr>
          <a:xfrm rot="0">
            <a:off x="5335352" y="8905275"/>
            <a:ext cx="1981176" cy="568674"/>
            <a:chOff x="0" y="0"/>
            <a:chExt cx="521791" cy="149774"/>
          </a:xfrm>
        </p:grpSpPr>
        <p:sp>
          <p:nvSpPr>
            <p:cNvPr name="Freeform 28" id="28"/>
            <p:cNvSpPr/>
            <p:nvPr/>
          </p:nvSpPr>
          <p:spPr>
            <a:xfrm flipH="false" flipV="false" rot="0">
              <a:off x="0" y="0"/>
              <a:ext cx="521791" cy="149774"/>
            </a:xfrm>
            <a:custGeom>
              <a:avLst/>
              <a:gdLst/>
              <a:ahLst/>
              <a:cxnLst/>
              <a:rect r="r" b="b" t="t" l="l"/>
              <a:pathLst>
                <a:path h="149774" w="521791">
                  <a:moveTo>
                    <a:pt x="0" y="0"/>
                  </a:moveTo>
                  <a:lnTo>
                    <a:pt x="521791" y="0"/>
                  </a:lnTo>
                  <a:lnTo>
                    <a:pt x="521791" y="149774"/>
                  </a:lnTo>
                  <a:lnTo>
                    <a:pt x="0" y="149774"/>
                  </a:lnTo>
                  <a:close/>
                </a:path>
              </a:pathLst>
            </a:custGeom>
            <a:solidFill>
              <a:srgbClr val="000000">
                <a:alpha val="0"/>
              </a:srgbClr>
            </a:solidFill>
            <a:ln w="95250" cap="sq">
              <a:solidFill>
                <a:srgbClr val="FF0000"/>
              </a:solidFill>
              <a:prstDash val="solid"/>
              <a:miter/>
            </a:ln>
          </p:spPr>
        </p:sp>
        <p:sp>
          <p:nvSpPr>
            <p:cNvPr name="TextBox 29" id="29"/>
            <p:cNvSpPr txBox="true"/>
            <p:nvPr/>
          </p:nvSpPr>
          <p:spPr>
            <a:xfrm>
              <a:off x="0" y="38100"/>
              <a:ext cx="521791" cy="111674"/>
            </a:xfrm>
            <a:prstGeom prst="rect">
              <a:avLst/>
            </a:prstGeom>
          </p:spPr>
          <p:txBody>
            <a:bodyPr anchor="ctr" rtlCol="false" tIns="50800" lIns="50800" bIns="50800" rIns="50800"/>
            <a:lstStyle/>
            <a:p>
              <a:pPr algn="ctr">
                <a:lnSpc>
                  <a:spcPts val="2163"/>
                </a:lnSpc>
              </a:pP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33" r="0" b="-3333"/>
            </a:stretch>
          </a:blipFill>
        </p:spPr>
      </p:sp>
      <p:grpSp>
        <p:nvGrpSpPr>
          <p:cNvPr name="Group 3" id="3"/>
          <p:cNvGrpSpPr/>
          <p:nvPr/>
        </p:nvGrpSpPr>
        <p:grpSpPr>
          <a:xfrm rot="0">
            <a:off x="-514350" y="-831533"/>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596544" y="8492610"/>
            <a:ext cx="646477" cy="646477"/>
            <a:chOff x="0" y="0"/>
            <a:chExt cx="170265" cy="170265"/>
          </a:xfrm>
        </p:grpSpPr>
        <p:sp>
          <p:nvSpPr>
            <p:cNvPr name="Freeform 7" id="7"/>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8" id="8"/>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9" id="9"/>
          <p:cNvSpPr/>
          <p:nvPr/>
        </p:nvSpPr>
        <p:spPr>
          <a:xfrm flipH="false" flipV="false" rot="0">
            <a:off x="1378262" y="1028700"/>
            <a:ext cx="456656" cy="413481"/>
          </a:xfrm>
          <a:custGeom>
            <a:avLst/>
            <a:gdLst/>
            <a:ahLst/>
            <a:cxnLst/>
            <a:rect r="r" b="b" t="t" l="l"/>
            <a:pathLst>
              <a:path h="413481" w="456656">
                <a:moveTo>
                  <a:pt x="0" y="0"/>
                </a:moveTo>
                <a:lnTo>
                  <a:pt x="456656" y="0"/>
                </a:lnTo>
                <a:lnTo>
                  <a:pt x="456656" y="413481"/>
                </a:lnTo>
                <a:lnTo>
                  <a:pt x="0" y="413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687562" y="1235441"/>
            <a:ext cx="571738" cy="327450"/>
          </a:xfrm>
          <a:custGeom>
            <a:avLst/>
            <a:gdLst/>
            <a:ahLst/>
            <a:cxnLst/>
            <a:rect r="r" b="b" t="t" l="l"/>
            <a:pathLst>
              <a:path h="327450" w="571738">
                <a:moveTo>
                  <a:pt x="0" y="0"/>
                </a:moveTo>
                <a:lnTo>
                  <a:pt x="571738" y="0"/>
                </a:lnTo>
                <a:lnTo>
                  <a:pt x="571738" y="327449"/>
                </a:lnTo>
                <a:lnTo>
                  <a:pt x="0" y="327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753253" y="2821252"/>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8">
              <a:alphaModFix amt="47000"/>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2657882" y="5924550"/>
            <a:ext cx="3686582" cy="1293033"/>
          </a:xfrm>
          <a:custGeom>
            <a:avLst/>
            <a:gdLst/>
            <a:ahLst/>
            <a:cxnLst/>
            <a:rect r="r" b="b" t="t" l="l"/>
            <a:pathLst>
              <a:path h="1293033" w="3686582">
                <a:moveTo>
                  <a:pt x="0" y="0"/>
                </a:moveTo>
                <a:lnTo>
                  <a:pt x="3686582" y="0"/>
                </a:lnTo>
                <a:lnTo>
                  <a:pt x="3686582" y="1293033"/>
                </a:lnTo>
                <a:lnTo>
                  <a:pt x="0" y="1293033"/>
                </a:lnTo>
                <a:lnTo>
                  <a:pt x="0" y="0"/>
                </a:lnTo>
                <a:close/>
              </a:path>
            </a:pathLst>
          </a:custGeom>
          <a:blipFill>
            <a:blip r:embed="rId8">
              <a:alphaModFix amt="47000"/>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5206161" y="1862213"/>
            <a:ext cx="10905874" cy="8424787"/>
          </a:xfrm>
          <a:custGeom>
            <a:avLst/>
            <a:gdLst/>
            <a:ahLst/>
            <a:cxnLst/>
            <a:rect r="r" b="b" t="t" l="l"/>
            <a:pathLst>
              <a:path h="8424787" w="10905874">
                <a:moveTo>
                  <a:pt x="0" y="0"/>
                </a:moveTo>
                <a:lnTo>
                  <a:pt x="10905873" y="0"/>
                </a:lnTo>
                <a:lnTo>
                  <a:pt x="10905873" y="8424787"/>
                </a:lnTo>
                <a:lnTo>
                  <a:pt x="0" y="8424787"/>
                </a:lnTo>
                <a:lnTo>
                  <a:pt x="0" y="0"/>
                </a:lnTo>
                <a:close/>
              </a:path>
            </a:pathLst>
          </a:custGeom>
          <a:blipFill>
            <a:blip r:embed="rId10"/>
            <a:stretch>
              <a:fillRect l="0" t="0" r="0" b="0"/>
            </a:stretch>
          </a:blipFill>
        </p:spPr>
      </p:sp>
      <p:grpSp>
        <p:nvGrpSpPr>
          <p:cNvPr name="Group 14" id="14"/>
          <p:cNvGrpSpPr/>
          <p:nvPr/>
        </p:nvGrpSpPr>
        <p:grpSpPr>
          <a:xfrm rot="0">
            <a:off x="5206161" y="2821252"/>
            <a:ext cx="1607673" cy="568674"/>
            <a:chOff x="0" y="0"/>
            <a:chExt cx="423420" cy="149774"/>
          </a:xfrm>
        </p:grpSpPr>
        <p:sp>
          <p:nvSpPr>
            <p:cNvPr name="Freeform 15" id="15"/>
            <p:cNvSpPr/>
            <p:nvPr/>
          </p:nvSpPr>
          <p:spPr>
            <a:xfrm flipH="false" flipV="false" rot="0">
              <a:off x="0" y="0"/>
              <a:ext cx="423420" cy="149774"/>
            </a:xfrm>
            <a:custGeom>
              <a:avLst/>
              <a:gdLst/>
              <a:ahLst/>
              <a:cxnLst/>
              <a:rect r="r" b="b" t="t" l="l"/>
              <a:pathLst>
                <a:path h="149774" w="423420">
                  <a:moveTo>
                    <a:pt x="0" y="0"/>
                  </a:moveTo>
                  <a:lnTo>
                    <a:pt x="423420" y="0"/>
                  </a:lnTo>
                  <a:lnTo>
                    <a:pt x="423420" y="149774"/>
                  </a:lnTo>
                  <a:lnTo>
                    <a:pt x="0" y="149774"/>
                  </a:lnTo>
                  <a:close/>
                </a:path>
              </a:pathLst>
            </a:custGeom>
            <a:solidFill>
              <a:srgbClr val="000000">
                <a:alpha val="0"/>
              </a:srgbClr>
            </a:solidFill>
            <a:ln w="95250" cap="sq">
              <a:solidFill>
                <a:srgbClr val="FF0000"/>
              </a:solidFill>
              <a:prstDash val="solid"/>
              <a:miter/>
            </a:ln>
          </p:spPr>
        </p:sp>
        <p:sp>
          <p:nvSpPr>
            <p:cNvPr name="TextBox 16" id="16"/>
            <p:cNvSpPr txBox="true"/>
            <p:nvPr/>
          </p:nvSpPr>
          <p:spPr>
            <a:xfrm>
              <a:off x="0" y="38100"/>
              <a:ext cx="423420" cy="111674"/>
            </a:xfrm>
            <a:prstGeom prst="rect">
              <a:avLst/>
            </a:prstGeom>
          </p:spPr>
          <p:txBody>
            <a:bodyPr anchor="ctr" rtlCol="false" tIns="50800" lIns="50800" bIns="50800" rIns="50800"/>
            <a:lstStyle/>
            <a:p>
              <a:pPr algn="ctr">
                <a:lnSpc>
                  <a:spcPts val="2163"/>
                </a:lnSpc>
              </a:pPr>
            </a:p>
          </p:txBody>
        </p:sp>
      </p:grpSp>
      <p:sp>
        <p:nvSpPr>
          <p:cNvPr name="TextBox 17" id="17"/>
          <p:cNvSpPr txBox="true"/>
          <p:nvPr/>
        </p:nvSpPr>
        <p:spPr>
          <a:xfrm rot="0">
            <a:off x="366675" y="633132"/>
            <a:ext cx="10665892" cy="922306"/>
          </a:xfrm>
          <a:prstGeom prst="rect">
            <a:avLst/>
          </a:prstGeom>
        </p:spPr>
        <p:txBody>
          <a:bodyPr anchor="t" rtlCol="false" tIns="0" lIns="0" bIns="0" rIns="0">
            <a:spAutoFit/>
          </a:bodyPr>
          <a:lstStyle/>
          <a:p>
            <a:pPr algn="l">
              <a:lnSpc>
                <a:spcPts val="6943"/>
              </a:lnSpc>
            </a:pPr>
            <a:r>
              <a:rPr lang="en-US" sz="6943">
                <a:solidFill>
                  <a:srgbClr val="FFFFFF"/>
                </a:solidFill>
                <a:latin typeface="Anton"/>
                <a:ea typeface="Anton"/>
                <a:cs typeface="Anton"/>
                <a:sym typeface="Anton"/>
              </a:rPr>
              <a:t>IMPORTANT PYTORCH FUNCTIONS</a:t>
            </a:r>
          </a:p>
        </p:txBody>
      </p:sp>
      <p:grpSp>
        <p:nvGrpSpPr>
          <p:cNvPr name="Group 18" id="18"/>
          <p:cNvGrpSpPr/>
          <p:nvPr/>
        </p:nvGrpSpPr>
        <p:grpSpPr>
          <a:xfrm rot="0">
            <a:off x="5335352" y="3907769"/>
            <a:ext cx="2171220" cy="893020"/>
            <a:chOff x="0" y="0"/>
            <a:chExt cx="571844" cy="235199"/>
          </a:xfrm>
        </p:grpSpPr>
        <p:sp>
          <p:nvSpPr>
            <p:cNvPr name="Freeform 19" id="19"/>
            <p:cNvSpPr/>
            <p:nvPr/>
          </p:nvSpPr>
          <p:spPr>
            <a:xfrm flipH="false" flipV="false" rot="0">
              <a:off x="0" y="0"/>
              <a:ext cx="571844" cy="235199"/>
            </a:xfrm>
            <a:custGeom>
              <a:avLst/>
              <a:gdLst/>
              <a:ahLst/>
              <a:cxnLst/>
              <a:rect r="r" b="b" t="t" l="l"/>
              <a:pathLst>
                <a:path h="235199" w="571844">
                  <a:moveTo>
                    <a:pt x="0" y="0"/>
                  </a:moveTo>
                  <a:lnTo>
                    <a:pt x="571844" y="0"/>
                  </a:lnTo>
                  <a:lnTo>
                    <a:pt x="571844" y="235199"/>
                  </a:lnTo>
                  <a:lnTo>
                    <a:pt x="0" y="235199"/>
                  </a:lnTo>
                  <a:close/>
                </a:path>
              </a:pathLst>
            </a:custGeom>
            <a:solidFill>
              <a:srgbClr val="000000">
                <a:alpha val="0"/>
              </a:srgbClr>
            </a:solidFill>
            <a:ln w="95250" cap="sq">
              <a:solidFill>
                <a:srgbClr val="FF0000"/>
              </a:solidFill>
              <a:prstDash val="solid"/>
              <a:miter/>
            </a:ln>
          </p:spPr>
        </p:sp>
        <p:sp>
          <p:nvSpPr>
            <p:cNvPr name="TextBox 20" id="20"/>
            <p:cNvSpPr txBox="true"/>
            <p:nvPr/>
          </p:nvSpPr>
          <p:spPr>
            <a:xfrm>
              <a:off x="0" y="38100"/>
              <a:ext cx="571844" cy="197099"/>
            </a:xfrm>
            <a:prstGeom prst="rect">
              <a:avLst/>
            </a:prstGeom>
          </p:spPr>
          <p:txBody>
            <a:bodyPr anchor="ctr" rtlCol="false" tIns="50800" lIns="50800" bIns="50800" rIns="50800"/>
            <a:lstStyle/>
            <a:p>
              <a:pPr algn="ctr">
                <a:lnSpc>
                  <a:spcPts val="2163"/>
                </a:lnSpc>
              </a:pPr>
            </a:p>
          </p:txBody>
        </p:sp>
      </p:grpSp>
      <p:grpSp>
        <p:nvGrpSpPr>
          <p:cNvPr name="Group 21" id="21"/>
          <p:cNvGrpSpPr/>
          <p:nvPr/>
        </p:nvGrpSpPr>
        <p:grpSpPr>
          <a:xfrm rot="0">
            <a:off x="5335352" y="5505933"/>
            <a:ext cx="2171220" cy="568674"/>
            <a:chOff x="0" y="0"/>
            <a:chExt cx="571844" cy="149774"/>
          </a:xfrm>
        </p:grpSpPr>
        <p:sp>
          <p:nvSpPr>
            <p:cNvPr name="Freeform 22" id="22"/>
            <p:cNvSpPr/>
            <p:nvPr/>
          </p:nvSpPr>
          <p:spPr>
            <a:xfrm flipH="false" flipV="false" rot="0">
              <a:off x="0" y="0"/>
              <a:ext cx="571844" cy="149774"/>
            </a:xfrm>
            <a:custGeom>
              <a:avLst/>
              <a:gdLst/>
              <a:ahLst/>
              <a:cxnLst/>
              <a:rect r="r" b="b" t="t" l="l"/>
              <a:pathLst>
                <a:path h="149774" w="571844">
                  <a:moveTo>
                    <a:pt x="0" y="0"/>
                  </a:moveTo>
                  <a:lnTo>
                    <a:pt x="571844" y="0"/>
                  </a:lnTo>
                  <a:lnTo>
                    <a:pt x="571844" y="149774"/>
                  </a:lnTo>
                  <a:lnTo>
                    <a:pt x="0" y="149774"/>
                  </a:lnTo>
                  <a:close/>
                </a:path>
              </a:pathLst>
            </a:custGeom>
            <a:solidFill>
              <a:srgbClr val="000000">
                <a:alpha val="0"/>
              </a:srgbClr>
            </a:solidFill>
            <a:ln w="95250" cap="sq">
              <a:solidFill>
                <a:srgbClr val="FF0000"/>
              </a:solidFill>
              <a:prstDash val="solid"/>
              <a:miter/>
            </a:ln>
          </p:spPr>
        </p:sp>
        <p:sp>
          <p:nvSpPr>
            <p:cNvPr name="TextBox 23" id="23"/>
            <p:cNvSpPr txBox="true"/>
            <p:nvPr/>
          </p:nvSpPr>
          <p:spPr>
            <a:xfrm>
              <a:off x="0" y="38100"/>
              <a:ext cx="571844" cy="111674"/>
            </a:xfrm>
            <a:prstGeom prst="rect">
              <a:avLst/>
            </a:prstGeom>
          </p:spPr>
          <p:txBody>
            <a:bodyPr anchor="ctr" rtlCol="false" tIns="50800" lIns="50800" bIns="50800" rIns="50800"/>
            <a:lstStyle/>
            <a:p>
              <a:pPr algn="ctr">
                <a:lnSpc>
                  <a:spcPts val="2163"/>
                </a:lnSpc>
              </a:pPr>
            </a:p>
          </p:txBody>
        </p:sp>
      </p:grpSp>
      <p:grpSp>
        <p:nvGrpSpPr>
          <p:cNvPr name="Group 24" id="24"/>
          <p:cNvGrpSpPr/>
          <p:nvPr/>
        </p:nvGrpSpPr>
        <p:grpSpPr>
          <a:xfrm rot="0">
            <a:off x="5436404" y="7341431"/>
            <a:ext cx="1607673" cy="568674"/>
            <a:chOff x="0" y="0"/>
            <a:chExt cx="423420" cy="149774"/>
          </a:xfrm>
        </p:grpSpPr>
        <p:sp>
          <p:nvSpPr>
            <p:cNvPr name="Freeform 25" id="25"/>
            <p:cNvSpPr/>
            <p:nvPr/>
          </p:nvSpPr>
          <p:spPr>
            <a:xfrm flipH="false" flipV="false" rot="0">
              <a:off x="0" y="0"/>
              <a:ext cx="423420" cy="149774"/>
            </a:xfrm>
            <a:custGeom>
              <a:avLst/>
              <a:gdLst/>
              <a:ahLst/>
              <a:cxnLst/>
              <a:rect r="r" b="b" t="t" l="l"/>
              <a:pathLst>
                <a:path h="149774" w="423420">
                  <a:moveTo>
                    <a:pt x="0" y="0"/>
                  </a:moveTo>
                  <a:lnTo>
                    <a:pt x="423420" y="0"/>
                  </a:lnTo>
                  <a:lnTo>
                    <a:pt x="423420" y="149774"/>
                  </a:lnTo>
                  <a:lnTo>
                    <a:pt x="0" y="149774"/>
                  </a:lnTo>
                  <a:close/>
                </a:path>
              </a:pathLst>
            </a:custGeom>
            <a:solidFill>
              <a:srgbClr val="000000">
                <a:alpha val="0"/>
              </a:srgbClr>
            </a:solidFill>
            <a:ln w="95250" cap="sq">
              <a:solidFill>
                <a:srgbClr val="FF0000"/>
              </a:solidFill>
              <a:prstDash val="solid"/>
              <a:miter/>
            </a:ln>
          </p:spPr>
        </p:sp>
        <p:sp>
          <p:nvSpPr>
            <p:cNvPr name="TextBox 26" id="26"/>
            <p:cNvSpPr txBox="true"/>
            <p:nvPr/>
          </p:nvSpPr>
          <p:spPr>
            <a:xfrm>
              <a:off x="0" y="38100"/>
              <a:ext cx="423420" cy="111674"/>
            </a:xfrm>
            <a:prstGeom prst="rect">
              <a:avLst/>
            </a:prstGeom>
          </p:spPr>
          <p:txBody>
            <a:bodyPr anchor="ctr" rtlCol="false" tIns="50800" lIns="50800" bIns="50800" rIns="50800"/>
            <a:lstStyle/>
            <a:p>
              <a:pPr algn="ctr">
                <a:lnSpc>
                  <a:spcPts val="2163"/>
                </a:lnSpc>
              </a:pPr>
            </a:p>
          </p:txBody>
        </p:sp>
      </p:grpSp>
      <p:grpSp>
        <p:nvGrpSpPr>
          <p:cNvPr name="Group 27" id="27"/>
          <p:cNvGrpSpPr/>
          <p:nvPr/>
        </p:nvGrpSpPr>
        <p:grpSpPr>
          <a:xfrm rot="0">
            <a:off x="5335352" y="8905275"/>
            <a:ext cx="1981176" cy="568674"/>
            <a:chOff x="0" y="0"/>
            <a:chExt cx="521791" cy="149774"/>
          </a:xfrm>
        </p:grpSpPr>
        <p:sp>
          <p:nvSpPr>
            <p:cNvPr name="Freeform 28" id="28"/>
            <p:cNvSpPr/>
            <p:nvPr/>
          </p:nvSpPr>
          <p:spPr>
            <a:xfrm flipH="false" flipV="false" rot="0">
              <a:off x="0" y="0"/>
              <a:ext cx="521791" cy="149774"/>
            </a:xfrm>
            <a:custGeom>
              <a:avLst/>
              <a:gdLst/>
              <a:ahLst/>
              <a:cxnLst/>
              <a:rect r="r" b="b" t="t" l="l"/>
              <a:pathLst>
                <a:path h="149774" w="521791">
                  <a:moveTo>
                    <a:pt x="0" y="0"/>
                  </a:moveTo>
                  <a:lnTo>
                    <a:pt x="521791" y="0"/>
                  </a:lnTo>
                  <a:lnTo>
                    <a:pt x="521791" y="149774"/>
                  </a:lnTo>
                  <a:lnTo>
                    <a:pt x="0" y="149774"/>
                  </a:lnTo>
                  <a:close/>
                </a:path>
              </a:pathLst>
            </a:custGeom>
            <a:solidFill>
              <a:srgbClr val="000000">
                <a:alpha val="0"/>
              </a:srgbClr>
            </a:solidFill>
            <a:ln w="95250" cap="sq">
              <a:solidFill>
                <a:srgbClr val="FF0000"/>
              </a:solidFill>
              <a:prstDash val="solid"/>
              <a:miter/>
            </a:ln>
          </p:spPr>
        </p:sp>
        <p:sp>
          <p:nvSpPr>
            <p:cNvPr name="TextBox 29" id="29"/>
            <p:cNvSpPr txBox="true"/>
            <p:nvPr/>
          </p:nvSpPr>
          <p:spPr>
            <a:xfrm>
              <a:off x="0" y="38100"/>
              <a:ext cx="521791" cy="111674"/>
            </a:xfrm>
            <a:prstGeom prst="rect">
              <a:avLst/>
            </a:prstGeom>
          </p:spPr>
          <p:txBody>
            <a:bodyPr anchor="ctr" rtlCol="false" tIns="50800" lIns="50800" bIns="50800" rIns="50800"/>
            <a:lstStyle/>
            <a:p>
              <a:pPr algn="ctr">
                <a:lnSpc>
                  <a:spcPts val="2163"/>
                </a:lnSpc>
              </a:pPr>
            </a:p>
          </p:txBody>
        </p:sp>
      </p:grpSp>
      <p:sp>
        <p:nvSpPr>
          <p:cNvPr name="TextBox 30" id="30"/>
          <p:cNvSpPr txBox="true"/>
          <p:nvPr/>
        </p:nvSpPr>
        <p:spPr>
          <a:xfrm rot="0">
            <a:off x="1073303" y="2712451"/>
            <a:ext cx="2692896" cy="580390"/>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Main</a:t>
            </a:r>
            <a:r>
              <a:rPr lang="en-US" sz="3399">
                <a:solidFill>
                  <a:srgbClr val="FFFFFF"/>
                </a:solidFill>
                <a:latin typeface="Canva Sans"/>
                <a:ea typeface="Canva Sans"/>
                <a:cs typeface="Canva Sans"/>
                <a:sym typeface="Canva Sans"/>
              </a:rPr>
              <a:t> Module</a:t>
            </a:r>
          </a:p>
        </p:txBody>
      </p:sp>
      <p:sp>
        <p:nvSpPr>
          <p:cNvPr name="TextBox 31" id="31"/>
          <p:cNvSpPr txBox="true"/>
          <p:nvPr/>
        </p:nvSpPr>
        <p:spPr>
          <a:xfrm rot="0">
            <a:off x="94510" y="4047610"/>
            <a:ext cx="4650482" cy="580390"/>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Framework for models</a:t>
            </a:r>
          </a:p>
        </p:txBody>
      </p:sp>
      <p:sp>
        <p:nvSpPr>
          <p:cNvPr name="TextBox 32" id="32"/>
          <p:cNvSpPr txBox="true"/>
          <p:nvPr/>
        </p:nvSpPr>
        <p:spPr>
          <a:xfrm rot="0">
            <a:off x="183329" y="5723595"/>
            <a:ext cx="4839502" cy="1180465"/>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Calculates weights and biases</a:t>
            </a:r>
          </a:p>
        </p:txBody>
      </p:sp>
      <p:sp>
        <p:nvSpPr>
          <p:cNvPr name="TextBox 33" id="33"/>
          <p:cNvSpPr txBox="true"/>
          <p:nvPr/>
        </p:nvSpPr>
        <p:spPr>
          <a:xfrm rot="0">
            <a:off x="824859" y="8934767"/>
            <a:ext cx="3189784" cy="580390"/>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How data flows</a:t>
            </a:r>
          </a:p>
        </p:txBody>
      </p:sp>
      <p:sp>
        <p:nvSpPr>
          <p:cNvPr name="TextBox 34" id="34"/>
          <p:cNvSpPr txBox="true"/>
          <p:nvPr/>
        </p:nvSpPr>
        <p:spPr>
          <a:xfrm rot="0">
            <a:off x="0" y="7339373"/>
            <a:ext cx="5206161" cy="1180465"/>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Improves model through gradient decent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00202"/>
        </a:solidFill>
      </p:bgPr>
    </p:bg>
    <p:spTree>
      <p:nvGrpSpPr>
        <p:cNvPr id="1" name=""/>
        <p:cNvGrpSpPr/>
        <p:nvPr/>
      </p:nvGrpSpPr>
      <p:grpSpPr>
        <a:xfrm>
          <a:off x="0" y="0"/>
          <a:ext cx="0" cy="0"/>
          <a:chOff x="0" y="0"/>
          <a:chExt cx="0" cy="0"/>
        </a:xfrm>
      </p:grpSpPr>
      <p:sp>
        <p:nvSpPr>
          <p:cNvPr name="Freeform 2" id="2"/>
          <p:cNvSpPr/>
          <p:nvPr/>
        </p:nvSpPr>
        <p:spPr>
          <a:xfrm flipH="false" flipV="false" rot="0">
            <a:off x="4553857" y="2842944"/>
            <a:ext cx="9550544" cy="5927924"/>
          </a:xfrm>
          <a:custGeom>
            <a:avLst/>
            <a:gdLst/>
            <a:ahLst/>
            <a:cxnLst/>
            <a:rect r="r" b="b" t="t" l="l"/>
            <a:pathLst>
              <a:path h="5927924" w="9550544">
                <a:moveTo>
                  <a:pt x="0" y="0"/>
                </a:moveTo>
                <a:lnTo>
                  <a:pt x="9550544" y="0"/>
                </a:lnTo>
                <a:lnTo>
                  <a:pt x="9550544" y="5927924"/>
                </a:lnTo>
                <a:lnTo>
                  <a:pt x="0" y="5927924"/>
                </a:lnTo>
                <a:lnTo>
                  <a:pt x="0" y="0"/>
                </a:lnTo>
                <a:close/>
              </a:path>
            </a:pathLst>
          </a:custGeom>
          <a:blipFill>
            <a:blip r:embed="rId2"/>
            <a:stretch>
              <a:fillRect l="0" t="0" r="0" b="0"/>
            </a:stretch>
          </a:blipFill>
        </p:spPr>
      </p:sp>
      <p:sp>
        <p:nvSpPr>
          <p:cNvPr name="TextBox 3" id="3"/>
          <p:cNvSpPr txBox="true"/>
          <p:nvPr/>
        </p:nvSpPr>
        <p:spPr>
          <a:xfrm rot="0">
            <a:off x="4165730" y="159703"/>
            <a:ext cx="9419134"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Gradient Decent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00202"/>
        </a:solidFill>
      </p:bgPr>
    </p:bg>
    <p:spTree>
      <p:nvGrpSpPr>
        <p:cNvPr id="1" name=""/>
        <p:cNvGrpSpPr/>
        <p:nvPr/>
      </p:nvGrpSpPr>
      <p:grpSpPr>
        <a:xfrm>
          <a:off x="0" y="0"/>
          <a:ext cx="0" cy="0"/>
          <a:chOff x="0" y="0"/>
          <a:chExt cx="0" cy="0"/>
        </a:xfrm>
      </p:grpSpPr>
      <p:sp>
        <p:nvSpPr>
          <p:cNvPr name="Freeform 2" id="2"/>
          <p:cNvSpPr/>
          <p:nvPr/>
        </p:nvSpPr>
        <p:spPr>
          <a:xfrm flipH="false" flipV="false" rot="0">
            <a:off x="8737456" y="2925240"/>
            <a:ext cx="9550544" cy="5927924"/>
          </a:xfrm>
          <a:custGeom>
            <a:avLst/>
            <a:gdLst/>
            <a:ahLst/>
            <a:cxnLst/>
            <a:rect r="r" b="b" t="t" l="l"/>
            <a:pathLst>
              <a:path h="5927924" w="9550544">
                <a:moveTo>
                  <a:pt x="0" y="0"/>
                </a:moveTo>
                <a:lnTo>
                  <a:pt x="9550544" y="0"/>
                </a:lnTo>
                <a:lnTo>
                  <a:pt x="9550544" y="5927924"/>
                </a:lnTo>
                <a:lnTo>
                  <a:pt x="0" y="5927924"/>
                </a:lnTo>
                <a:lnTo>
                  <a:pt x="0" y="0"/>
                </a:lnTo>
                <a:close/>
              </a:path>
            </a:pathLst>
          </a:custGeom>
          <a:blipFill>
            <a:blip r:embed="rId3"/>
            <a:stretch>
              <a:fillRect l="0" t="0" r="0" b="0"/>
            </a:stretch>
          </a:blipFill>
        </p:spPr>
      </p:sp>
      <p:sp>
        <p:nvSpPr>
          <p:cNvPr name="TextBox 3" id="3"/>
          <p:cNvSpPr txBox="true"/>
          <p:nvPr/>
        </p:nvSpPr>
        <p:spPr>
          <a:xfrm rot="0">
            <a:off x="3875614" y="159703"/>
            <a:ext cx="9999365"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Gradient Descent</a:t>
            </a:r>
          </a:p>
        </p:txBody>
      </p:sp>
      <p:sp>
        <p:nvSpPr>
          <p:cNvPr name="TextBox 4" id="4"/>
          <p:cNvSpPr txBox="true"/>
          <p:nvPr/>
        </p:nvSpPr>
        <p:spPr>
          <a:xfrm rot="0">
            <a:off x="0" y="3940520"/>
            <a:ext cx="8737456" cy="6424930"/>
          </a:xfrm>
          <a:prstGeom prst="rect">
            <a:avLst/>
          </a:prstGeom>
        </p:spPr>
        <p:txBody>
          <a:bodyPr anchor="t" rtlCol="false" tIns="0" lIns="0" bIns="0" rIns="0">
            <a:spAutoFit/>
          </a:bodyPr>
          <a:lstStyle/>
          <a:p>
            <a:pPr algn="ctr">
              <a:lnSpc>
                <a:spcPts val="3919"/>
              </a:lnSpc>
            </a:pPr>
            <a:r>
              <a:rPr lang="en-US" sz="2799" b="true">
                <a:solidFill>
                  <a:srgbClr val="FFFFFF"/>
                </a:solidFill>
                <a:latin typeface="Canva Sans Bold"/>
                <a:ea typeface="Canva Sans Bold"/>
                <a:cs typeface="Canva Sans Bold"/>
                <a:sym typeface="Canva Sans Bold"/>
              </a:rPr>
              <a:t>Loss</a:t>
            </a:r>
            <a:r>
              <a:rPr lang="en-US" sz="2799">
                <a:solidFill>
                  <a:srgbClr val="FFFFFF"/>
                </a:solidFill>
                <a:latin typeface="Canva Sans"/>
                <a:ea typeface="Canva Sans"/>
                <a:cs typeface="Canva Sans"/>
                <a:sym typeface="Canva Sans"/>
              </a:rPr>
              <a:t>: measurement of how wrong the prediction is </a:t>
            </a:r>
          </a:p>
          <a:p>
            <a:pPr algn="ctr">
              <a:lnSpc>
                <a:spcPts val="3919"/>
              </a:lnSpc>
            </a:pPr>
          </a:p>
          <a:p>
            <a:pPr algn="ctr">
              <a:lnSpc>
                <a:spcPts val="3919"/>
              </a:lnSpc>
            </a:pPr>
            <a:r>
              <a:rPr lang="en-US" sz="2799" b="true">
                <a:solidFill>
                  <a:srgbClr val="FFFFFF"/>
                </a:solidFill>
                <a:latin typeface="Canva Sans Bold"/>
                <a:ea typeface="Canva Sans Bold"/>
                <a:cs typeface="Canva Sans Bold"/>
                <a:sym typeface="Canva Sans Bold"/>
              </a:rPr>
              <a:t>Epochs</a:t>
            </a:r>
            <a:r>
              <a:rPr lang="en-US" sz="2799">
                <a:solidFill>
                  <a:srgbClr val="FFFFFF"/>
                </a:solidFill>
                <a:latin typeface="Canva Sans"/>
                <a:ea typeface="Canva Sans"/>
                <a:cs typeface="Canva Sans"/>
                <a:sym typeface="Canva Sans"/>
              </a:rPr>
              <a:t>: One pass through the training data</a:t>
            </a:r>
          </a:p>
          <a:p>
            <a:pPr algn="ctr">
              <a:lnSpc>
                <a:spcPts val="3919"/>
              </a:lnSpc>
            </a:pPr>
          </a:p>
          <a:p>
            <a:pPr algn="ctr">
              <a:lnSpc>
                <a:spcPts val="3919"/>
              </a:lnSpc>
            </a:pPr>
            <a:r>
              <a:rPr lang="en-US" sz="2799" b="true">
                <a:solidFill>
                  <a:srgbClr val="FFFFFF"/>
                </a:solidFill>
                <a:latin typeface="Canva Sans Bold"/>
                <a:ea typeface="Canva Sans Bold"/>
                <a:cs typeface="Canva Sans Bold"/>
                <a:sym typeface="Canva Sans Bold"/>
              </a:rPr>
              <a:t>Minimum cost</a:t>
            </a:r>
            <a:r>
              <a:rPr lang="en-US" sz="2799">
                <a:solidFill>
                  <a:srgbClr val="FFFFFF"/>
                </a:solidFill>
                <a:latin typeface="Canva Sans"/>
                <a:ea typeface="Canva Sans"/>
                <a:cs typeface="Canva Sans"/>
                <a:sym typeface="Canva Sans"/>
              </a:rPr>
              <a:t>: Lowest amount of error the model can have</a:t>
            </a:r>
          </a:p>
          <a:p>
            <a:pPr algn="ctr">
              <a:lnSpc>
                <a:spcPts val="3919"/>
              </a:lnSpc>
            </a:pPr>
          </a:p>
          <a:p>
            <a:pPr algn="ctr">
              <a:lnSpc>
                <a:spcPts val="3919"/>
              </a:lnSpc>
            </a:pPr>
            <a:r>
              <a:rPr lang="en-US" sz="2799" b="true">
                <a:solidFill>
                  <a:srgbClr val="FFFFFF"/>
                </a:solidFill>
                <a:latin typeface="Canva Sans Bold"/>
                <a:ea typeface="Canva Sans Bold"/>
                <a:cs typeface="Canva Sans Bold"/>
                <a:sym typeface="Canva Sans Bold"/>
              </a:rPr>
              <a:t>Backpropagation</a:t>
            </a:r>
            <a:r>
              <a:rPr lang="en-US" sz="2799">
                <a:solidFill>
                  <a:srgbClr val="FFFFFF"/>
                </a:solidFill>
                <a:latin typeface="Canva Sans"/>
                <a:ea typeface="Canva Sans"/>
                <a:cs typeface="Canva Sans"/>
                <a:sym typeface="Canva Sans"/>
              </a:rPr>
              <a:t>: how the model figures out which weights to change, and by how much</a:t>
            </a:r>
          </a:p>
          <a:p>
            <a:pPr algn="ctr">
              <a:lnSpc>
                <a:spcPts val="3919"/>
              </a:lnSpc>
            </a:pPr>
          </a:p>
          <a:p>
            <a:pPr algn="ctr">
              <a:lnSpc>
                <a:spcPts val="3919"/>
              </a:lnSpc>
            </a:pPr>
            <a:r>
              <a:rPr lang="en-US" sz="2799">
                <a:solidFill>
                  <a:srgbClr val="FFFFFF"/>
                </a:solidFill>
                <a:latin typeface="Canva Sans"/>
                <a:ea typeface="Canva Sans"/>
                <a:cs typeface="Canva Sans"/>
                <a:sym typeface="Canva Sans"/>
              </a:rPr>
              <a:t>Ultimately gradient descent is the learning process of the module</a:t>
            </a:r>
          </a:p>
          <a:p>
            <a:pPr algn="ctr">
              <a:lnSpc>
                <a:spcPts val="3919"/>
              </a:lnSpc>
            </a:pPr>
          </a:p>
        </p:txBody>
      </p:sp>
      <p:sp>
        <p:nvSpPr>
          <p:cNvPr name="TextBox 5" id="5"/>
          <p:cNvSpPr txBox="true"/>
          <p:nvPr/>
        </p:nvSpPr>
        <p:spPr>
          <a:xfrm rot="0">
            <a:off x="137841" y="2648038"/>
            <a:ext cx="873745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Key terminology</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00202"/>
        </a:solidFill>
      </p:bgPr>
    </p:bg>
    <p:spTree>
      <p:nvGrpSpPr>
        <p:cNvPr id="1" name=""/>
        <p:cNvGrpSpPr/>
        <p:nvPr/>
      </p:nvGrpSpPr>
      <p:grpSpPr>
        <a:xfrm>
          <a:off x="0" y="0"/>
          <a:ext cx="0" cy="0"/>
          <a:chOff x="0" y="0"/>
          <a:chExt cx="0" cy="0"/>
        </a:xfrm>
      </p:grpSpPr>
      <p:sp>
        <p:nvSpPr>
          <p:cNvPr name="TextBox 2" id="2"/>
          <p:cNvSpPr txBox="true"/>
          <p:nvPr/>
        </p:nvSpPr>
        <p:spPr>
          <a:xfrm rot="0">
            <a:off x="4251089" y="4274503"/>
            <a:ext cx="9785821" cy="1566544"/>
          </a:xfrm>
          <a:prstGeom prst="rect">
            <a:avLst/>
          </a:prstGeom>
        </p:spPr>
        <p:txBody>
          <a:bodyPr anchor="t" rtlCol="false" tIns="0" lIns="0" bIns="0" rIns="0">
            <a:spAutoFit/>
          </a:bodyPr>
          <a:lstStyle/>
          <a:p>
            <a:pPr algn="ctr">
              <a:lnSpc>
                <a:spcPts val="12880"/>
              </a:lnSpc>
            </a:pPr>
            <a:r>
              <a:rPr lang="en-US" b="true" sz="9200" u="sng">
                <a:solidFill>
                  <a:srgbClr val="FFFFFF"/>
                </a:solidFill>
                <a:latin typeface="Canva Sans Bold"/>
                <a:ea typeface="Canva Sans Bold"/>
                <a:cs typeface="Canva Sans Bold"/>
                <a:sym typeface="Canva Sans Bold"/>
                <a:hlinkClick r:id="rId2" tooltip="https://colab.research.google.com/drive/17iUwJ_itqoWpGtnVj0XB8IdtyKwYlOeJ#scrollTo=WxJfF6C3X1Lv"/>
              </a:rPr>
              <a:t>PyTorch Example</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514350" y="-831533"/>
            <a:ext cx="14105066" cy="11970396"/>
            <a:chOff x="0" y="0"/>
            <a:chExt cx="3714915" cy="3152697"/>
          </a:xfrm>
        </p:grpSpPr>
        <p:sp>
          <p:nvSpPr>
            <p:cNvPr name="Freeform 4" id="4"/>
            <p:cNvSpPr/>
            <p:nvPr/>
          </p:nvSpPr>
          <p:spPr>
            <a:xfrm flipH="false" flipV="false" rot="0">
              <a:off x="0" y="0"/>
              <a:ext cx="3714915" cy="3152697"/>
            </a:xfrm>
            <a:custGeom>
              <a:avLst/>
              <a:gdLst/>
              <a:ahLst/>
              <a:cxnLst/>
              <a:rect r="r" b="b" t="t" l="l"/>
              <a:pathLst>
                <a:path h="3152697" w="3714915">
                  <a:moveTo>
                    <a:pt x="0" y="0"/>
                  </a:moveTo>
                  <a:lnTo>
                    <a:pt x="3714915" y="0"/>
                  </a:lnTo>
                  <a:lnTo>
                    <a:pt x="3714915" y="3152697"/>
                  </a:lnTo>
                  <a:lnTo>
                    <a:pt x="0" y="3152697"/>
                  </a:lnTo>
                  <a:close/>
                </a:path>
              </a:pathLst>
            </a:custGeom>
            <a:gradFill rotWithShape="true">
              <a:gsLst>
                <a:gs pos="0">
                  <a:srgbClr val="291C5D">
                    <a:alpha val="100000"/>
                  </a:srgbClr>
                </a:gs>
                <a:gs pos="100000">
                  <a:srgbClr val="886EBA">
                    <a:alpha val="0"/>
                  </a:srgbClr>
                </a:gs>
              </a:gsLst>
              <a:lin ang="0"/>
            </a:gradFill>
            <a:ln cap="sq">
              <a:noFill/>
              <a:prstDash val="solid"/>
              <a:miter/>
            </a:ln>
          </p:spPr>
        </p:sp>
        <p:sp>
          <p:nvSpPr>
            <p:cNvPr name="TextBox 5" id="5"/>
            <p:cNvSpPr txBox="true"/>
            <p:nvPr/>
          </p:nvSpPr>
          <p:spPr>
            <a:xfrm>
              <a:off x="0" y="-38100"/>
              <a:ext cx="3714915" cy="319079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633920" y="2164550"/>
            <a:ext cx="12980922" cy="8661815"/>
          </a:xfrm>
          <a:custGeom>
            <a:avLst/>
            <a:gdLst/>
            <a:ahLst/>
            <a:cxnLst/>
            <a:rect r="r" b="b" t="t" l="l"/>
            <a:pathLst>
              <a:path h="8661815" w="12980922">
                <a:moveTo>
                  <a:pt x="0" y="0"/>
                </a:moveTo>
                <a:lnTo>
                  <a:pt x="12980922" y="0"/>
                </a:lnTo>
                <a:lnTo>
                  <a:pt x="12980922" y="8661816"/>
                </a:lnTo>
                <a:lnTo>
                  <a:pt x="0" y="8661816"/>
                </a:lnTo>
                <a:lnTo>
                  <a:pt x="0" y="0"/>
                </a:lnTo>
                <a:close/>
              </a:path>
            </a:pathLst>
          </a:custGeom>
          <a:blipFill>
            <a:blip r:embed="rId3">
              <a:alphaModFix amt="31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199410" y="4688841"/>
            <a:ext cx="12454670" cy="2566015"/>
          </a:xfrm>
          <a:prstGeom prst="rect">
            <a:avLst/>
          </a:prstGeom>
        </p:spPr>
        <p:txBody>
          <a:bodyPr anchor="t" rtlCol="false" tIns="0" lIns="0" bIns="0" rIns="0">
            <a:spAutoFit/>
          </a:bodyPr>
          <a:lstStyle/>
          <a:p>
            <a:pPr algn="ctr">
              <a:lnSpc>
                <a:spcPts val="19275"/>
              </a:lnSpc>
            </a:pPr>
            <a:r>
              <a:rPr lang="en-US" sz="19275">
                <a:solidFill>
                  <a:srgbClr val="FFFFFF"/>
                </a:solidFill>
                <a:latin typeface="Anton"/>
                <a:ea typeface="Anton"/>
                <a:cs typeface="Anton"/>
                <a:sym typeface="Anton"/>
              </a:rPr>
              <a:t>THANK YOU.</a:t>
            </a:r>
          </a:p>
        </p:txBody>
      </p:sp>
      <p:sp>
        <p:nvSpPr>
          <p:cNvPr name="Freeform 8" id="8"/>
          <p:cNvSpPr/>
          <p:nvPr/>
        </p:nvSpPr>
        <p:spPr>
          <a:xfrm flipH="false" flipV="false" rot="0">
            <a:off x="15124262" y="-831533"/>
            <a:ext cx="4270075" cy="4114800"/>
          </a:xfrm>
          <a:custGeom>
            <a:avLst/>
            <a:gdLst/>
            <a:ahLst/>
            <a:cxnLst/>
            <a:rect r="r" b="b" t="t" l="l"/>
            <a:pathLst>
              <a:path h="4114800" w="4270075">
                <a:moveTo>
                  <a:pt x="0" y="0"/>
                </a:moveTo>
                <a:lnTo>
                  <a:pt x="4270076" y="0"/>
                </a:lnTo>
                <a:lnTo>
                  <a:pt x="4270076" y="4114800"/>
                </a:lnTo>
                <a:lnTo>
                  <a:pt x="0" y="4114800"/>
                </a:lnTo>
                <a:lnTo>
                  <a:pt x="0" y="0"/>
                </a:lnTo>
                <a:close/>
              </a:path>
            </a:pathLst>
          </a:custGeom>
          <a:blipFill>
            <a:blip r:embed="rId5">
              <a:alphaModFix amt="51000"/>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7596544" y="8492610"/>
            <a:ext cx="646477" cy="646477"/>
            <a:chOff x="0" y="0"/>
            <a:chExt cx="170265" cy="170265"/>
          </a:xfrm>
        </p:grpSpPr>
        <p:sp>
          <p:nvSpPr>
            <p:cNvPr name="Freeform 10" id="10"/>
            <p:cNvSpPr/>
            <p:nvPr/>
          </p:nvSpPr>
          <p:spPr>
            <a:xfrm flipH="false" flipV="false" rot="0">
              <a:off x="0" y="0"/>
              <a:ext cx="170265" cy="170265"/>
            </a:xfrm>
            <a:custGeom>
              <a:avLst/>
              <a:gdLst/>
              <a:ahLst/>
              <a:cxnLst/>
              <a:rect r="r" b="b" t="t" l="l"/>
              <a:pathLst>
                <a:path h="170265" w="170265">
                  <a:moveTo>
                    <a:pt x="0" y="0"/>
                  </a:moveTo>
                  <a:lnTo>
                    <a:pt x="170265" y="0"/>
                  </a:lnTo>
                  <a:lnTo>
                    <a:pt x="170265" y="170265"/>
                  </a:lnTo>
                  <a:lnTo>
                    <a:pt x="0" y="170265"/>
                  </a:lnTo>
                  <a:close/>
                </a:path>
              </a:pathLst>
            </a:custGeom>
            <a:solidFill>
              <a:srgbClr val="FFFFFF">
                <a:alpha val="35686"/>
              </a:srgbClr>
            </a:solidFill>
          </p:spPr>
        </p:sp>
        <p:sp>
          <p:nvSpPr>
            <p:cNvPr name="TextBox 11" id="11"/>
            <p:cNvSpPr txBox="true"/>
            <p:nvPr/>
          </p:nvSpPr>
          <p:spPr>
            <a:xfrm>
              <a:off x="0" y="38100"/>
              <a:ext cx="170265" cy="132165"/>
            </a:xfrm>
            <a:prstGeom prst="rect">
              <a:avLst/>
            </a:prstGeom>
          </p:spPr>
          <p:txBody>
            <a:bodyPr anchor="ctr" rtlCol="false" tIns="50800" lIns="50800" bIns="50800" rIns="50800"/>
            <a:lstStyle/>
            <a:p>
              <a:pPr algn="ctr">
                <a:lnSpc>
                  <a:spcPts val="2163"/>
                </a:lnSpc>
              </a:pPr>
            </a:p>
          </p:txBody>
        </p:sp>
      </p:grpSp>
      <p:sp>
        <p:nvSpPr>
          <p:cNvPr name="Freeform 12" id="12"/>
          <p:cNvSpPr/>
          <p:nvPr/>
        </p:nvSpPr>
        <p:spPr>
          <a:xfrm flipH="false" flipV="false" rot="0">
            <a:off x="11281562" y="7943186"/>
            <a:ext cx="218863" cy="240269"/>
          </a:xfrm>
          <a:custGeom>
            <a:avLst/>
            <a:gdLst/>
            <a:ahLst/>
            <a:cxnLst/>
            <a:rect r="r" b="b" t="t" l="l"/>
            <a:pathLst>
              <a:path h="240269" w="218863">
                <a:moveTo>
                  <a:pt x="0" y="0"/>
                </a:moveTo>
                <a:lnTo>
                  <a:pt x="218863" y="0"/>
                </a:lnTo>
                <a:lnTo>
                  <a:pt x="218863" y="240269"/>
                </a:lnTo>
                <a:lnTo>
                  <a:pt x="0" y="2402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2238668" y="7081686"/>
            <a:ext cx="4270075" cy="4114800"/>
          </a:xfrm>
          <a:custGeom>
            <a:avLst/>
            <a:gdLst/>
            <a:ahLst/>
            <a:cxnLst/>
            <a:rect r="r" b="b" t="t" l="l"/>
            <a:pathLst>
              <a:path h="4114800" w="4270075">
                <a:moveTo>
                  <a:pt x="0" y="0"/>
                </a:moveTo>
                <a:lnTo>
                  <a:pt x="4270075" y="0"/>
                </a:lnTo>
                <a:lnTo>
                  <a:pt x="4270075" y="4114800"/>
                </a:lnTo>
                <a:lnTo>
                  <a:pt x="0" y="4114800"/>
                </a:lnTo>
                <a:lnTo>
                  <a:pt x="0" y="0"/>
                </a:lnTo>
                <a:close/>
              </a:path>
            </a:pathLst>
          </a:custGeom>
          <a:blipFill>
            <a:blip r:embed="rId5">
              <a:alphaModFix amt="51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DAGjrjQnXkw</dc:identifier>
  <dcterms:modified xsi:type="dcterms:W3CDTF">2011-08-01T06:04:30Z</dcterms:modified>
  <cp:revision>1</cp:revision>
  <dc:title>Neural Network Presentation</dc:title>
</cp:coreProperties>
</file>